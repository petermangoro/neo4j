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4.png" ContentType="image/png"/>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10.jpeg" ContentType="image/jpeg"/>
  <Override PartName="/ppt/media/image7.jpeg" ContentType="image/jpeg"/>
  <Override PartName="/ppt/media/image9.jpeg" ContentType="image/jpeg"/>
  <Override PartName="/ppt/media/image12.jpeg" ContentType="image/jpeg"/>
  <Override PartName="/ppt/media/image11.jpeg" ContentType="image/jpeg"/>
  <Override PartName="/ppt/media/image8.jpeg" ContentType="image/jpeg"/>
  <Override PartName="/ppt/media/image13.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5.xml.rels" ContentType="application/vnd.openxmlformats-package.relationships+xml"/>
  <Override PartName="/ppt/notesSlides/_rels/notesSlide2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4000164-4273-4A7F-A444-E14F2EE3364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0" y="0"/>
            <a:ext cx="0" cy="0"/>
          </a:xfrm>
          <a:prstGeom prst="rect">
            <a:avLst/>
          </a:prstGeom>
          <a:ln w="0">
            <a:noFill/>
          </a:ln>
        </p:spPr>
      </p:sp>
      <p:sp>
        <p:nvSpPr>
          <p:cNvPr id="51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20"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58E5D37B-04A0-494A-BA75-78616DF21329}"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0" y="0"/>
            <a:ext cx="0" cy="0"/>
          </a:xfrm>
          <a:prstGeom prst="rect">
            <a:avLst/>
          </a:prstGeom>
          <a:ln w="0">
            <a:noFill/>
          </a:ln>
        </p:spPr>
      </p:sp>
      <p:sp>
        <p:nvSpPr>
          <p:cNvPr id="52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23"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5FF2BA5-D902-4EDB-9411-0CB2CE3D7A6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0" y="0"/>
            <a:ext cx="0" cy="0"/>
          </a:xfrm>
          <a:prstGeom prst="rect">
            <a:avLst/>
          </a:prstGeom>
          <a:ln w="0">
            <a:noFill/>
          </a:ln>
        </p:spPr>
      </p:sp>
      <p:sp>
        <p:nvSpPr>
          <p:cNvPr id="52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26"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770C636-323C-4B1B-A657-106D1B3C61C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0" y="0"/>
            <a:ext cx="0" cy="0"/>
          </a:xfrm>
          <a:prstGeom prst="rect">
            <a:avLst/>
          </a:prstGeom>
          <a:ln w="0">
            <a:noFill/>
          </a:ln>
        </p:spPr>
      </p:sp>
      <p:sp>
        <p:nvSpPr>
          <p:cNvPr id="52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29"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E1311356-3200-40F5-9DD8-83A3C015CD56}"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0" y="0"/>
            <a:ext cx="0" cy="0"/>
          </a:xfrm>
          <a:prstGeom prst="rect">
            <a:avLst/>
          </a:prstGeom>
          <a:ln w="0">
            <a:noFill/>
          </a:ln>
        </p:spPr>
      </p:sp>
      <p:sp>
        <p:nvSpPr>
          <p:cNvPr id="53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32"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1D6FBF9-1301-4075-A133-B6779D1D0A2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0" y="0"/>
            <a:ext cx="0" cy="0"/>
          </a:xfrm>
          <a:prstGeom prst="rect">
            <a:avLst/>
          </a:prstGeom>
          <a:ln w="0">
            <a:noFill/>
          </a:ln>
        </p:spPr>
      </p:sp>
      <p:sp>
        <p:nvSpPr>
          <p:cNvPr id="53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35"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CA6344D-3F5F-4ED3-9CAD-4F076308A7B9}"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0" y="0"/>
            <a:ext cx="0" cy="0"/>
          </a:xfrm>
          <a:prstGeom prst="rect">
            <a:avLst/>
          </a:prstGeom>
          <a:ln w="0">
            <a:noFill/>
          </a:ln>
        </p:spPr>
      </p:sp>
      <p:sp>
        <p:nvSpPr>
          <p:cNvPr id="53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38"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18113F88-80EC-4748-B3D3-94E9D52819B6}"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0" y="0"/>
            <a:ext cx="0" cy="0"/>
          </a:xfrm>
          <a:prstGeom prst="rect">
            <a:avLst/>
          </a:prstGeom>
          <a:ln w="0">
            <a:noFill/>
          </a:ln>
        </p:spPr>
      </p:sp>
      <p:sp>
        <p:nvSpPr>
          <p:cNvPr id="54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41"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7A1CA323-1F45-46F5-B791-396FD036E248}"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0" y="0"/>
            <a:ext cx="0" cy="0"/>
          </a:xfrm>
          <a:prstGeom prst="rect">
            <a:avLst/>
          </a:prstGeom>
          <a:ln w="0">
            <a:noFill/>
          </a:ln>
        </p:spPr>
      </p:sp>
      <p:sp>
        <p:nvSpPr>
          <p:cNvPr id="54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44"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78E7DD9-6E59-4E99-8D74-BC7C7CCB8E08}"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0" y="0"/>
            <a:ext cx="0" cy="0"/>
          </a:xfrm>
          <a:prstGeom prst="rect">
            <a:avLst/>
          </a:prstGeom>
          <a:ln w="0">
            <a:noFill/>
          </a:ln>
        </p:spPr>
      </p:sp>
      <p:sp>
        <p:nvSpPr>
          <p:cNvPr id="54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47"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4C0D67B-F17C-4844-A03F-2F187014CF9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0" y="0"/>
            <a:ext cx="0" cy="0"/>
          </a:xfrm>
          <a:prstGeom prst="rect">
            <a:avLst/>
          </a:prstGeom>
          <a:ln w="0">
            <a:noFill/>
          </a:ln>
        </p:spPr>
      </p:sp>
      <p:sp>
        <p:nvSpPr>
          <p:cNvPr id="54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50"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75387330-B47A-492A-B495-CC3BDC4042F0}"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0" y="0"/>
            <a:ext cx="0" cy="0"/>
          </a:xfrm>
          <a:prstGeom prst="rect">
            <a:avLst/>
          </a:prstGeom>
          <a:ln w="0">
            <a:noFill/>
          </a:ln>
        </p:spPr>
      </p:sp>
      <p:sp>
        <p:nvSpPr>
          <p:cNvPr id="55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53"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63CD8C29-FC66-44F4-9198-CAB446E86B00}"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0" y="0"/>
            <a:ext cx="0" cy="0"/>
          </a:xfrm>
          <a:prstGeom prst="rect">
            <a:avLst/>
          </a:prstGeom>
          <a:ln w="0">
            <a:noFill/>
          </a:ln>
        </p:spPr>
      </p:sp>
      <p:sp>
        <p:nvSpPr>
          <p:cNvPr id="55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56"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D64A2BD3-C0D0-4D6B-BEC2-5CCEBAFDC8CE}"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0" y="0"/>
            <a:ext cx="0" cy="0"/>
          </a:xfrm>
          <a:prstGeom prst="rect">
            <a:avLst/>
          </a:prstGeom>
          <a:ln w="0">
            <a:noFill/>
          </a:ln>
        </p:spPr>
      </p:sp>
      <p:sp>
        <p:nvSpPr>
          <p:cNvPr id="55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59"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8CC9E79B-A22D-4C7A-A99F-39271F72B692}"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0" y="0"/>
            <a:ext cx="0" cy="0"/>
          </a:xfrm>
          <a:prstGeom prst="rect">
            <a:avLst/>
          </a:prstGeom>
          <a:ln w="0">
            <a:noFill/>
          </a:ln>
        </p:spPr>
      </p:sp>
      <p:sp>
        <p:nvSpPr>
          <p:cNvPr id="56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62"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66A11DB4-1257-4CE7-A6FC-1AF41DFA0C2B}"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0" y="0"/>
            <a:ext cx="0" cy="0"/>
          </a:xfrm>
          <a:prstGeom prst="rect">
            <a:avLst/>
          </a:prstGeom>
          <a:ln w="0">
            <a:noFill/>
          </a:ln>
        </p:spPr>
      </p:sp>
      <p:sp>
        <p:nvSpPr>
          <p:cNvPr id="56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65"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6F6C9F4-5342-44F5-8B7D-B0F9DD876C9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0" y="0"/>
            <a:ext cx="0" cy="0"/>
          </a:xfrm>
          <a:prstGeom prst="rect">
            <a:avLst/>
          </a:prstGeom>
          <a:ln w="0">
            <a:noFill/>
          </a:ln>
        </p:spPr>
      </p:sp>
      <p:sp>
        <p:nvSpPr>
          <p:cNvPr id="56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68"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2973F22A-61C2-4116-B3C3-7FCBF8FDD7C4}"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0" y="0"/>
            <a:ext cx="0" cy="0"/>
          </a:xfrm>
          <a:prstGeom prst="rect">
            <a:avLst/>
          </a:prstGeom>
          <a:ln w="0">
            <a:noFill/>
          </a:ln>
        </p:spPr>
      </p:sp>
      <p:sp>
        <p:nvSpPr>
          <p:cNvPr id="57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71" name="PlaceHolder 3"/>
          <p:cNvSpPr>
            <a:spLocks noGrp="1"/>
          </p:cNvSpPr>
          <p:nvPr>
            <p:ph type="sldNum" idx="2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1FF5902-08F3-4DF5-9DA3-EFE6753867D4}"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0" y="0"/>
            <a:ext cx="0" cy="0"/>
          </a:xfrm>
          <a:prstGeom prst="rect">
            <a:avLst/>
          </a:prstGeom>
          <a:ln w="0">
            <a:noFill/>
          </a:ln>
        </p:spPr>
      </p:sp>
      <p:sp>
        <p:nvSpPr>
          <p:cNvPr id="57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74" name="PlaceHolder 3"/>
          <p:cNvSpPr>
            <a:spLocks noGrp="1"/>
          </p:cNvSpPr>
          <p:nvPr>
            <p:ph type="sldNum" idx="2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11A66040-0750-41E5-AB6A-649CEA58930F}"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Img"/>
          </p:nvPr>
        </p:nvSpPr>
        <p:spPr>
          <a:xfrm>
            <a:off x="0" y="0"/>
            <a:ext cx="0" cy="0"/>
          </a:xfrm>
          <a:prstGeom prst="rect">
            <a:avLst/>
          </a:prstGeom>
          <a:ln w="0">
            <a:noFill/>
          </a:ln>
        </p:spPr>
      </p:sp>
      <p:sp>
        <p:nvSpPr>
          <p:cNvPr id="57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77" name="PlaceHolder 3"/>
          <p:cNvSpPr>
            <a:spLocks noGrp="1"/>
          </p:cNvSpPr>
          <p:nvPr>
            <p:ph type="sldNum" idx="2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533F3D5C-F055-4F70-A7F0-78454D5BDC21}"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Img"/>
          </p:nvPr>
        </p:nvSpPr>
        <p:spPr>
          <a:xfrm>
            <a:off x="0" y="0"/>
            <a:ext cx="0" cy="0"/>
          </a:xfrm>
          <a:prstGeom prst="rect">
            <a:avLst/>
          </a:prstGeom>
          <a:ln w="0">
            <a:noFill/>
          </a:ln>
        </p:spPr>
      </p:sp>
      <p:sp>
        <p:nvSpPr>
          <p:cNvPr id="57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80" name="PlaceHolder 3"/>
          <p:cNvSpPr>
            <a:spLocks noGrp="1"/>
          </p:cNvSpPr>
          <p:nvPr>
            <p:ph type="sldNum" idx="2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59F9DBE0-A75B-4519-AB82-EC5C12F8CBA0}"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0" y="0"/>
            <a:ext cx="0" cy="0"/>
          </a:xfrm>
          <a:prstGeom prst="rect">
            <a:avLst/>
          </a:prstGeom>
          <a:ln w="0">
            <a:noFill/>
          </a:ln>
        </p:spPr>
      </p:sp>
      <p:sp>
        <p:nvSpPr>
          <p:cNvPr id="58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83" name="PlaceHolder 3"/>
          <p:cNvSpPr>
            <a:spLocks noGrp="1"/>
          </p:cNvSpPr>
          <p:nvPr>
            <p:ph type="sldNum" idx="2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D92AE01E-2F4C-4F39-AF81-2D0CD63116C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8" name="Shape 0"/>
          <p:cNvSpPr/>
          <p:nvPr/>
        </p:nvSpPr>
        <p:spPr>
          <a:xfrm>
            <a:off x="0" y="0"/>
            <a:ext cx="145800" cy="5143320"/>
          </a:xfrm>
          <a:prstGeom prst="rect">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 name="Shape 1"/>
          <p:cNvSpPr/>
          <p:nvPr/>
        </p:nvSpPr>
        <p:spPr>
          <a:xfrm>
            <a:off x="557784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0" name="Shape 2"/>
          <p:cNvSpPr/>
          <p:nvPr/>
        </p:nvSpPr>
        <p:spPr>
          <a:xfrm>
            <a:off x="596196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1" name="Shape 3"/>
          <p:cNvSpPr/>
          <p:nvPr/>
        </p:nvSpPr>
        <p:spPr>
          <a:xfrm>
            <a:off x="634608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2" name="Shape 4"/>
          <p:cNvSpPr/>
          <p:nvPr/>
        </p:nvSpPr>
        <p:spPr>
          <a:xfrm>
            <a:off x="672984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3" name="Shape 5"/>
          <p:cNvSpPr/>
          <p:nvPr/>
        </p:nvSpPr>
        <p:spPr>
          <a:xfrm>
            <a:off x="711396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4" name="Shape 6"/>
          <p:cNvSpPr/>
          <p:nvPr/>
        </p:nvSpPr>
        <p:spPr>
          <a:xfrm>
            <a:off x="749808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5" name="Shape 7"/>
          <p:cNvSpPr/>
          <p:nvPr/>
        </p:nvSpPr>
        <p:spPr>
          <a:xfrm>
            <a:off x="788220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6" name="Shape 8"/>
          <p:cNvSpPr/>
          <p:nvPr/>
        </p:nvSpPr>
        <p:spPr>
          <a:xfrm>
            <a:off x="8266320" y="32004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7" name="Shape 9"/>
          <p:cNvSpPr/>
          <p:nvPr/>
        </p:nvSpPr>
        <p:spPr>
          <a:xfrm>
            <a:off x="557784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8" name="Shape 10"/>
          <p:cNvSpPr/>
          <p:nvPr/>
        </p:nvSpPr>
        <p:spPr>
          <a:xfrm>
            <a:off x="596196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19" name="Shape 11"/>
          <p:cNvSpPr/>
          <p:nvPr/>
        </p:nvSpPr>
        <p:spPr>
          <a:xfrm>
            <a:off x="634608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0" name="Shape 12"/>
          <p:cNvSpPr/>
          <p:nvPr/>
        </p:nvSpPr>
        <p:spPr>
          <a:xfrm>
            <a:off x="672984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1" name="Shape 13"/>
          <p:cNvSpPr/>
          <p:nvPr/>
        </p:nvSpPr>
        <p:spPr>
          <a:xfrm>
            <a:off x="711396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2" name="Shape 14"/>
          <p:cNvSpPr/>
          <p:nvPr/>
        </p:nvSpPr>
        <p:spPr>
          <a:xfrm>
            <a:off x="749808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3" name="Shape 15"/>
          <p:cNvSpPr/>
          <p:nvPr/>
        </p:nvSpPr>
        <p:spPr>
          <a:xfrm>
            <a:off x="788220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4" name="Shape 16"/>
          <p:cNvSpPr/>
          <p:nvPr/>
        </p:nvSpPr>
        <p:spPr>
          <a:xfrm>
            <a:off x="8266320" y="35478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5" name="Shape 17"/>
          <p:cNvSpPr/>
          <p:nvPr/>
        </p:nvSpPr>
        <p:spPr>
          <a:xfrm>
            <a:off x="557784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6" name="Shape 18"/>
          <p:cNvSpPr/>
          <p:nvPr/>
        </p:nvSpPr>
        <p:spPr>
          <a:xfrm>
            <a:off x="596196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7" name="Shape 19"/>
          <p:cNvSpPr/>
          <p:nvPr/>
        </p:nvSpPr>
        <p:spPr>
          <a:xfrm>
            <a:off x="634608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8" name="Shape 20"/>
          <p:cNvSpPr/>
          <p:nvPr/>
        </p:nvSpPr>
        <p:spPr>
          <a:xfrm>
            <a:off x="672984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29" name="Shape 21"/>
          <p:cNvSpPr/>
          <p:nvPr/>
        </p:nvSpPr>
        <p:spPr>
          <a:xfrm>
            <a:off x="711396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0" name="Shape 22"/>
          <p:cNvSpPr/>
          <p:nvPr/>
        </p:nvSpPr>
        <p:spPr>
          <a:xfrm>
            <a:off x="749808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1" name="Shape 23"/>
          <p:cNvSpPr/>
          <p:nvPr/>
        </p:nvSpPr>
        <p:spPr>
          <a:xfrm>
            <a:off x="788220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2" name="Shape 24"/>
          <p:cNvSpPr/>
          <p:nvPr/>
        </p:nvSpPr>
        <p:spPr>
          <a:xfrm>
            <a:off x="8266320" y="389520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3" name="Shape 25"/>
          <p:cNvSpPr/>
          <p:nvPr/>
        </p:nvSpPr>
        <p:spPr>
          <a:xfrm>
            <a:off x="557784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4" name="Shape 26"/>
          <p:cNvSpPr/>
          <p:nvPr/>
        </p:nvSpPr>
        <p:spPr>
          <a:xfrm>
            <a:off x="596196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5" name="Shape 27"/>
          <p:cNvSpPr/>
          <p:nvPr/>
        </p:nvSpPr>
        <p:spPr>
          <a:xfrm>
            <a:off x="634608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6" name="Shape 28"/>
          <p:cNvSpPr/>
          <p:nvPr/>
        </p:nvSpPr>
        <p:spPr>
          <a:xfrm>
            <a:off x="672984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7" name="Shape 29"/>
          <p:cNvSpPr/>
          <p:nvPr/>
        </p:nvSpPr>
        <p:spPr>
          <a:xfrm>
            <a:off x="711396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8" name="Shape 30"/>
          <p:cNvSpPr/>
          <p:nvPr/>
        </p:nvSpPr>
        <p:spPr>
          <a:xfrm>
            <a:off x="749808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39" name="Shape 31"/>
          <p:cNvSpPr/>
          <p:nvPr/>
        </p:nvSpPr>
        <p:spPr>
          <a:xfrm>
            <a:off x="788220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40" name="Shape 32"/>
          <p:cNvSpPr/>
          <p:nvPr/>
        </p:nvSpPr>
        <p:spPr>
          <a:xfrm>
            <a:off x="8266320" y="4242960"/>
            <a:ext cx="54360" cy="54360"/>
          </a:xfrm>
          <a:prstGeom prst="ellipse">
            <a:avLst/>
          </a:prstGeom>
          <a:solidFill>
            <a:srgbClr val="bee3f8">
              <a:alpha val="28000"/>
            </a:srgbClr>
          </a:solidFill>
          <a:ln w="12700">
            <a:solidFill>
              <a:srgbClr val="bee3f8">
                <a:alpha val="28000"/>
              </a:srgbClr>
            </a:solidFill>
            <a:round/>
          </a:ln>
        </p:spPr>
        <p:style>
          <a:lnRef idx="0"/>
          <a:fillRef idx="0"/>
          <a:effectRef idx="0"/>
          <a:fontRef idx="minor"/>
        </p:style>
        <p:txBody>
          <a:bodyPr lIns="90000" rIns="90000" tIns="-6480" bIns="-6480" anchor="t">
            <a:noAutofit/>
          </a:bodyPr>
          <a:p>
            <a:pPr defTabSz="914400">
              <a:lnSpc>
                <a:spcPct val="100000"/>
              </a:lnSpc>
            </a:pPr>
            <a:endParaRPr b="0" lang="en-US" sz="1800" spc="-1" strike="noStrike">
              <a:solidFill>
                <a:schemeClr val="dk1"/>
              </a:solidFill>
              <a:latin typeface="Calibri"/>
            </a:endParaRPr>
          </a:p>
        </p:txBody>
      </p:sp>
      <p:sp>
        <p:nvSpPr>
          <p:cNvPr id="41" name="Text 33"/>
          <p:cNvSpPr/>
          <p:nvPr/>
        </p:nvSpPr>
        <p:spPr>
          <a:xfrm>
            <a:off x="365760" y="502920"/>
            <a:ext cx="8412120" cy="712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ffffff"/>
                </a:solidFill>
                <a:latin typeface="Calibri"/>
                <a:ea typeface="Calibri"/>
              </a:rPr>
              <a:t>How Do We Know</a:t>
            </a:r>
            <a:endParaRPr b="0" lang="en-US" sz="4400" spc="-1" strike="noStrike">
              <a:solidFill>
                <a:srgbClr val="ffffff"/>
              </a:solidFill>
              <a:latin typeface="Arial"/>
            </a:endParaRPr>
          </a:p>
        </p:txBody>
      </p:sp>
      <p:sp>
        <p:nvSpPr>
          <p:cNvPr id="42" name="Text 34"/>
          <p:cNvSpPr/>
          <p:nvPr/>
        </p:nvSpPr>
        <p:spPr>
          <a:xfrm>
            <a:off x="365760" y="1170360"/>
            <a:ext cx="8412120" cy="712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6ad55"/>
                </a:solidFill>
                <a:latin typeface="Calibri"/>
                <a:ea typeface="Calibri"/>
              </a:rPr>
              <a:t>Where Our Supply Chain Will Break?</a:t>
            </a:r>
            <a:endParaRPr b="0" lang="en-US" sz="3400" spc="-1" strike="noStrike">
              <a:solidFill>
                <a:srgbClr val="ffffff"/>
              </a:solidFill>
              <a:latin typeface="Arial"/>
            </a:endParaRPr>
          </a:p>
        </p:txBody>
      </p:sp>
      <p:sp>
        <p:nvSpPr>
          <p:cNvPr id="43" name="Text 35"/>
          <p:cNvSpPr/>
          <p:nvPr/>
        </p:nvSpPr>
        <p:spPr>
          <a:xfrm>
            <a:off x="365760" y="1920240"/>
            <a:ext cx="7772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bee3f8"/>
                </a:solidFill>
                <a:latin typeface="Calibri"/>
                <a:ea typeface="Calibri"/>
              </a:rPr>
              <a:t>A graph-based exploratory data analysis of a real automotive production network</a:t>
            </a:r>
            <a:endParaRPr b="0" lang="en-US" sz="1400" spc="-1" strike="noStrike">
              <a:solidFill>
                <a:srgbClr val="ffffff"/>
              </a:solidFill>
              <a:latin typeface="Arial"/>
            </a:endParaRPr>
          </a:p>
        </p:txBody>
      </p:sp>
      <p:sp>
        <p:nvSpPr>
          <p:cNvPr id="44" name="Shape 36"/>
          <p:cNvSpPr/>
          <p:nvPr/>
        </p:nvSpPr>
        <p:spPr>
          <a:xfrm>
            <a:off x="365760" y="2377440"/>
            <a:ext cx="5120280" cy="1389600"/>
          </a:xfrm>
          <a:prstGeom prst="rect">
            <a:avLst/>
          </a:prstGeom>
          <a:solidFill>
            <a:srgbClr val="1e3a5f"/>
          </a:solidFill>
          <a:ln w="12700">
            <a:solidFill>
              <a:srgbClr val="f6ad55"/>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5" name="Text 37"/>
          <p:cNvSpPr/>
          <p:nvPr/>
        </p:nvSpPr>
        <p:spPr>
          <a:xfrm>
            <a:off x="548640" y="2468880"/>
            <a:ext cx="47545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The situation:</a:t>
            </a:r>
            <a:endParaRPr b="0" lang="en-US" sz="1000" spc="-1" strike="noStrike">
              <a:solidFill>
                <a:srgbClr val="ffffff"/>
              </a:solidFill>
              <a:latin typeface="Arial"/>
            </a:endParaRPr>
          </a:p>
        </p:txBody>
      </p:sp>
      <p:sp>
        <p:nvSpPr>
          <p:cNvPr id="46" name="Text 38"/>
          <p:cNvSpPr/>
          <p:nvPr/>
        </p:nvSpPr>
        <p:spPr>
          <a:xfrm>
            <a:off x="548640" y="2724840"/>
            <a:ext cx="4754520" cy="950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bee3f8"/>
                </a:solidFill>
                <a:latin typeface="Calibri"/>
                <a:ea typeface="Calibri"/>
              </a:rPr>
              <a:t>An automotive OEM manages 12 facilities, 28,049 product SKUs and 87,059 bill-of-materials dependencies — all recorded in spreadsheets. A near-miss disruption last quarter exposed a critical blind spot: they could not trace which cars would stop and why, fast enough to act. This analysis uses a Neo4j knowledge graph to answer that question — before the next disruption.</a:t>
            </a:r>
            <a:endParaRPr b="0" lang="en-US" sz="1000" spc="-1" strike="noStrike">
              <a:solidFill>
                <a:srgbClr val="ffffff"/>
              </a:solidFill>
              <a:latin typeface="Arial"/>
            </a:endParaRPr>
          </a:p>
        </p:txBody>
      </p:sp>
      <p:sp>
        <p:nvSpPr>
          <p:cNvPr id="47" name="Shape 39"/>
          <p:cNvSpPr/>
          <p:nvPr/>
        </p:nvSpPr>
        <p:spPr>
          <a:xfrm>
            <a:off x="5669280" y="2377440"/>
            <a:ext cx="776880" cy="1389600"/>
          </a:xfrm>
          <a:prstGeom prst="rect">
            <a:avLst/>
          </a:prstGeom>
          <a:solidFill>
            <a:srgbClr val="1e3a5f"/>
          </a:solidFill>
          <a:ln w="12700">
            <a:solidFill>
              <a:srgbClr val="38a169"/>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8" name="Text 40"/>
          <p:cNvSpPr/>
          <p:nvPr/>
        </p:nvSpPr>
        <p:spPr>
          <a:xfrm>
            <a:off x="5669280" y="2487240"/>
            <a:ext cx="776880" cy="511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38a169"/>
                </a:solidFill>
                <a:latin typeface="Calibri"/>
                <a:ea typeface="Calibri"/>
              </a:rPr>
              <a:t>12</a:t>
            </a:r>
            <a:endParaRPr b="0" lang="en-US" sz="1500" spc="-1" strike="noStrike">
              <a:solidFill>
                <a:srgbClr val="ffffff"/>
              </a:solidFill>
              <a:latin typeface="Arial"/>
            </a:endParaRPr>
          </a:p>
        </p:txBody>
      </p:sp>
      <p:sp>
        <p:nvSpPr>
          <p:cNvPr id="49" name="Text 41"/>
          <p:cNvSpPr/>
          <p:nvPr/>
        </p:nvSpPr>
        <p:spPr>
          <a:xfrm>
            <a:off x="5669280" y="2980800"/>
            <a:ext cx="7768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bee3f8"/>
                </a:solidFill>
                <a:latin typeface="Calibri"/>
                <a:ea typeface="Calibri"/>
              </a:rPr>
              <a:t>Facilities</a:t>
            </a:r>
            <a:endParaRPr b="0" lang="en-US" sz="800" spc="-1" strike="noStrike">
              <a:solidFill>
                <a:srgbClr val="ffffff"/>
              </a:solidFill>
              <a:latin typeface="Arial"/>
            </a:endParaRPr>
          </a:p>
        </p:txBody>
      </p:sp>
      <p:sp>
        <p:nvSpPr>
          <p:cNvPr id="50" name="Shape 42"/>
          <p:cNvSpPr/>
          <p:nvPr/>
        </p:nvSpPr>
        <p:spPr>
          <a:xfrm>
            <a:off x="6537960" y="2377440"/>
            <a:ext cx="776880" cy="1389600"/>
          </a:xfrm>
          <a:prstGeom prst="rect">
            <a:avLst/>
          </a:prstGeom>
          <a:solidFill>
            <a:srgbClr val="1e3a5f"/>
          </a:solidFill>
          <a:ln w="12700">
            <a:solidFill>
              <a:srgbClr val="2c5282"/>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1" name="Text 43"/>
          <p:cNvSpPr/>
          <p:nvPr/>
        </p:nvSpPr>
        <p:spPr>
          <a:xfrm>
            <a:off x="6537960" y="2487240"/>
            <a:ext cx="776880" cy="511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2c5282"/>
                </a:solidFill>
                <a:latin typeface="Calibri"/>
                <a:ea typeface="Calibri"/>
              </a:rPr>
              <a:t>28,049</a:t>
            </a:r>
            <a:endParaRPr b="0" lang="en-US" sz="1500" spc="-1" strike="noStrike">
              <a:solidFill>
                <a:srgbClr val="ffffff"/>
              </a:solidFill>
              <a:latin typeface="Arial"/>
            </a:endParaRPr>
          </a:p>
        </p:txBody>
      </p:sp>
      <p:sp>
        <p:nvSpPr>
          <p:cNvPr id="52" name="Text 44"/>
          <p:cNvSpPr/>
          <p:nvPr/>
        </p:nvSpPr>
        <p:spPr>
          <a:xfrm>
            <a:off x="6537960" y="2980800"/>
            <a:ext cx="7768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bee3f8"/>
                </a:solidFill>
                <a:latin typeface="Calibri"/>
                <a:ea typeface="Calibri"/>
              </a:rPr>
              <a:t>Products</a:t>
            </a:r>
            <a:endParaRPr b="0" lang="en-US" sz="800" spc="-1" strike="noStrike">
              <a:solidFill>
                <a:srgbClr val="ffffff"/>
              </a:solidFill>
              <a:latin typeface="Arial"/>
            </a:endParaRPr>
          </a:p>
        </p:txBody>
      </p:sp>
      <p:sp>
        <p:nvSpPr>
          <p:cNvPr id="53" name="Shape 45"/>
          <p:cNvSpPr/>
          <p:nvPr/>
        </p:nvSpPr>
        <p:spPr>
          <a:xfrm>
            <a:off x="7406640" y="2377440"/>
            <a:ext cx="776880" cy="1389600"/>
          </a:xfrm>
          <a:prstGeom prst="rect">
            <a:avLst/>
          </a:prstGeom>
          <a:solidFill>
            <a:srgbClr val="1e3a5f"/>
          </a:solidFill>
          <a:ln w="12700">
            <a:solidFill>
              <a:srgbClr val="e53e3e"/>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4" name="Text 46"/>
          <p:cNvSpPr/>
          <p:nvPr/>
        </p:nvSpPr>
        <p:spPr>
          <a:xfrm>
            <a:off x="7406640" y="2487240"/>
            <a:ext cx="776880" cy="511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e53e3e"/>
                </a:solidFill>
                <a:latin typeface="Calibri"/>
                <a:ea typeface="Calibri"/>
              </a:rPr>
              <a:t>87,059</a:t>
            </a:r>
            <a:endParaRPr b="0" lang="en-US" sz="1500" spc="-1" strike="noStrike">
              <a:solidFill>
                <a:srgbClr val="ffffff"/>
              </a:solidFill>
              <a:latin typeface="Arial"/>
            </a:endParaRPr>
          </a:p>
        </p:txBody>
      </p:sp>
      <p:sp>
        <p:nvSpPr>
          <p:cNvPr id="55" name="Text 47"/>
          <p:cNvSpPr/>
          <p:nvPr/>
        </p:nvSpPr>
        <p:spPr>
          <a:xfrm>
            <a:off x="7406640" y="2980800"/>
            <a:ext cx="7768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bee3f8"/>
                </a:solidFill>
                <a:latin typeface="Calibri"/>
                <a:ea typeface="Calibri"/>
              </a:rPr>
              <a:t>BOM Links</a:t>
            </a:r>
            <a:endParaRPr b="0" lang="en-US" sz="800" spc="-1" strike="noStrike">
              <a:solidFill>
                <a:srgbClr val="ffffff"/>
              </a:solidFill>
              <a:latin typeface="Arial"/>
            </a:endParaRPr>
          </a:p>
        </p:txBody>
      </p:sp>
      <p:sp>
        <p:nvSpPr>
          <p:cNvPr id="56" name="Shape 48"/>
          <p:cNvSpPr/>
          <p:nvPr/>
        </p:nvSpPr>
        <p:spPr>
          <a:xfrm>
            <a:off x="8275320" y="2377440"/>
            <a:ext cx="776880" cy="1389600"/>
          </a:xfrm>
          <a:prstGeom prst="rect">
            <a:avLst/>
          </a:prstGeom>
          <a:solidFill>
            <a:srgbClr val="1e3a5f"/>
          </a:solidFill>
          <a:ln w="12700">
            <a:solidFill>
              <a:srgbClr val="f6ad55"/>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7" name="Text 49"/>
          <p:cNvSpPr/>
          <p:nvPr/>
        </p:nvSpPr>
        <p:spPr>
          <a:xfrm>
            <a:off x="8275320" y="2487240"/>
            <a:ext cx="776880" cy="511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6ad55"/>
                </a:solidFill>
                <a:latin typeface="Calibri"/>
                <a:ea typeface="Calibri"/>
              </a:rPr>
              <a:t>28,000</a:t>
            </a:r>
            <a:endParaRPr b="0" lang="en-US" sz="1500" spc="-1" strike="noStrike">
              <a:solidFill>
                <a:srgbClr val="ffffff"/>
              </a:solidFill>
              <a:latin typeface="Arial"/>
            </a:endParaRPr>
          </a:p>
        </p:txBody>
      </p:sp>
      <p:sp>
        <p:nvSpPr>
          <p:cNvPr id="58" name="Text 50"/>
          <p:cNvSpPr/>
          <p:nvPr/>
        </p:nvSpPr>
        <p:spPr>
          <a:xfrm>
            <a:off x="8275320" y="2980800"/>
            <a:ext cx="7768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bee3f8"/>
                </a:solidFill>
                <a:latin typeface="Calibri"/>
                <a:ea typeface="Calibri"/>
              </a:rPr>
              <a:t>Demand Records</a:t>
            </a:r>
            <a:endParaRPr b="0" lang="en-US" sz="800" spc="-1" strike="noStrike">
              <a:solidFill>
                <a:srgbClr val="ffffff"/>
              </a:solidFill>
              <a:latin typeface="Arial"/>
            </a:endParaRPr>
          </a:p>
        </p:txBody>
      </p:sp>
      <p:sp>
        <p:nvSpPr>
          <p:cNvPr id="59" name="Text 51"/>
          <p:cNvSpPr/>
          <p:nvPr/>
        </p:nvSpPr>
        <p:spPr>
          <a:xfrm>
            <a:off x="365760" y="3913560"/>
            <a:ext cx="8412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718096"/>
                </a:solidFill>
                <a:latin typeface="Calibri"/>
                <a:ea typeface="Calibri"/>
              </a:rPr>
              <a:t>6 chapters · 10 EDA questions · 1 complete picture</a:t>
            </a:r>
            <a:endParaRPr b="0" lang="en-US" sz="1100" spc="-1" strike="noStrike">
              <a:solidFill>
                <a:srgbClr val="ffffff"/>
              </a:solidFill>
              <a:latin typeface="Arial"/>
            </a:endParaRPr>
          </a:p>
        </p:txBody>
      </p:sp>
      <p:sp>
        <p:nvSpPr>
          <p:cNvPr id="60" name="Shape 52"/>
          <p:cNvSpPr/>
          <p:nvPr/>
        </p:nvSpPr>
        <p:spPr>
          <a:xfrm>
            <a:off x="365760" y="4206240"/>
            <a:ext cx="1316520" cy="566640"/>
          </a:xfrm>
          <a:prstGeom prst="roundRect">
            <a:avLst>
              <a:gd name="adj" fmla="val 11290"/>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1" name="Text 53"/>
          <p:cNvSpPr/>
          <p:nvPr/>
        </p:nvSpPr>
        <p:spPr>
          <a:xfrm>
            <a:off x="365760" y="42246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Ch.1</a:t>
            </a:r>
            <a:endParaRPr b="0" lang="en-US" sz="1000" spc="-1" strike="noStrike">
              <a:solidFill>
                <a:srgbClr val="ffffff"/>
              </a:solidFill>
              <a:latin typeface="Arial"/>
            </a:endParaRPr>
          </a:p>
        </p:txBody>
      </p:sp>
      <p:sp>
        <p:nvSpPr>
          <p:cNvPr id="62" name="Text 54"/>
          <p:cNvSpPr/>
          <p:nvPr/>
        </p:nvSpPr>
        <p:spPr>
          <a:xfrm>
            <a:off x="365760" y="44532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ffffff"/>
                </a:solidFill>
                <a:latin typeface="Calibri"/>
                <a:ea typeface="Calibri"/>
              </a:rPr>
              <a:t>Meet the Network</a:t>
            </a:r>
            <a:endParaRPr b="0" lang="en-US" sz="800" spc="-1" strike="noStrike">
              <a:solidFill>
                <a:srgbClr val="ffffff"/>
              </a:solidFill>
              <a:latin typeface="Arial"/>
            </a:endParaRPr>
          </a:p>
        </p:txBody>
      </p:sp>
      <p:sp>
        <p:nvSpPr>
          <p:cNvPr id="63" name="Shape 55"/>
          <p:cNvSpPr/>
          <p:nvPr/>
        </p:nvSpPr>
        <p:spPr>
          <a:xfrm>
            <a:off x="1810440" y="4206240"/>
            <a:ext cx="1316520" cy="566640"/>
          </a:xfrm>
          <a:prstGeom prst="roundRect">
            <a:avLst>
              <a:gd name="adj" fmla="val 11290"/>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4" name="Text 56"/>
          <p:cNvSpPr/>
          <p:nvPr/>
        </p:nvSpPr>
        <p:spPr>
          <a:xfrm>
            <a:off x="1810440" y="42246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Ch.2</a:t>
            </a:r>
            <a:endParaRPr b="0" lang="en-US" sz="1000" spc="-1" strike="noStrike">
              <a:solidFill>
                <a:srgbClr val="ffffff"/>
              </a:solidFill>
              <a:latin typeface="Arial"/>
            </a:endParaRPr>
          </a:p>
        </p:txBody>
      </p:sp>
      <p:sp>
        <p:nvSpPr>
          <p:cNvPr id="65" name="Text 57"/>
          <p:cNvSpPr/>
          <p:nvPr/>
        </p:nvSpPr>
        <p:spPr>
          <a:xfrm>
            <a:off x="1810440" y="44532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ffffff"/>
                </a:solidFill>
                <a:latin typeface="Calibri"/>
                <a:ea typeface="Calibri"/>
              </a:rPr>
              <a:t>Product Complexity</a:t>
            </a:r>
            <a:endParaRPr b="0" lang="en-US" sz="800" spc="-1" strike="noStrike">
              <a:solidFill>
                <a:srgbClr val="ffffff"/>
              </a:solidFill>
              <a:latin typeface="Arial"/>
            </a:endParaRPr>
          </a:p>
        </p:txBody>
      </p:sp>
      <p:sp>
        <p:nvSpPr>
          <p:cNvPr id="66" name="Shape 58"/>
          <p:cNvSpPr/>
          <p:nvPr/>
        </p:nvSpPr>
        <p:spPr>
          <a:xfrm>
            <a:off x="3255120" y="4206240"/>
            <a:ext cx="1316520" cy="566640"/>
          </a:xfrm>
          <a:prstGeom prst="roundRect">
            <a:avLst>
              <a:gd name="adj" fmla="val 11290"/>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7" name="Text 59"/>
          <p:cNvSpPr/>
          <p:nvPr/>
        </p:nvSpPr>
        <p:spPr>
          <a:xfrm>
            <a:off x="3255120" y="42246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Ch.3</a:t>
            </a:r>
            <a:endParaRPr b="0" lang="en-US" sz="1000" spc="-1" strike="noStrike">
              <a:solidFill>
                <a:srgbClr val="ffffff"/>
              </a:solidFill>
              <a:latin typeface="Arial"/>
            </a:endParaRPr>
          </a:p>
        </p:txBody>
      </p:sp>
      <p:sp>
        <p:nvSpPr>
          <p:cNvPr id="68" name="Text 60"/>
          <p:cNvSpPr/>
          <p:nvPr/>
        </p:nvSpPr>
        <p:spPr>
          <a:xfrm>
            <a:off x="3255120" y="44532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ffffff"/>
                </a:solidFill>
                <a:latin typeface="Calibri"/>
                <a:ea typeface="Calibri"/>
              </a:rPr>
              <a:t>Material Flow</a:t>
            </a:r>
            <a:endParaRPr b="0" lang="en-US" sz="800" spc="-1" strike="noStrike">
              <a:solidFill>
                <a:srgbClr val="ffffff"/>
              </a:solidFill>
              <a:latin typeface="Arial"/>
            </a:endParaRPr>
          </a:p>
        </p:txBody>
      </p:sp>
      <p:sp>
        <p:nvSpPr>
          <p:cNvPr id="69" name="Shape 61"/>
          <p:cNvSpPr/>
          <p:nvPr/>
        </p:nvSpPr>
        <p:spPr>
          <a:xfrm>
            <a:off x="4700160" y="4206240"/>
            <a:ext cx="1316520" cy="566640"/>
          </a:xfrm>
          <a:prstGeom prst="roundRect">
            <a:avLst>
              <a:gd name="adj" fmla="val 11290"/>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0" name="Text 62"/>
          <p:cNvSpPr/>
          <p:nvPr/>
        </p:nvSpPr>
        <p:spPr>
          <a:xfrm>
            <a:off x="4700160" y="42246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Ch.4</a:t>
            </a:r>
            <a:endParaRPr b="0" lang="en-US" sz="1000" spc="-1" strike="noStrike">
              <a:solidFill>
                <a:srgbClr val="ffffff"/>
              </a:solidFill>
              <a:latin typeface="Arial"/>
            </a:endParaRPr>
          </a:p>
        </p:txBody>
      </p:sp>
      <p:sp>
        <p:nvSpPr>
          <p:cNvPr id="71" name="Text 63"/>
          <p:cNvSpPr/>
          <p:nvPr/>
        </p:nvSpPr>
        <p:spPr>
          <a:xfrm>
            <a:off x="4700160" y="44532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ffffff"/>
                </a:solidFill>
                <a:latin typeface="Calibri"/>
                <a:ea typeface="Calibri"/>
              </a:rPr>
              <a:t>Hidden Timeline</a:t>
            </a:r>
            <a:endParaRPr b="0" lang="en-US" sz="800" spc="-1" strike="noStrike">
              <a:solidFill>
                <a:srgbClr val="ffffff"/>
              </a:solidFill>
              <a:latin typeface="Arial"/>
            </a:endParaRPr>
          </a:p>
        </p:txBody>
      </p:sp>
      <p:sp>
        <p:nvSpPr>
          <p:cNvPr id="72" name="Shape 64"/>
          <p:cNvSpPr/>
          <p:nvPr/>
        </p:nvSpPr>
        <p:spPr>
          <a:xfrm>
            <a:off x="6144840" y="4206240"/>
            <a:ext cx="1316520" cy="566640"/>
          </a:xfrm>
          <a:prstGeom prst="roundRect">
            <a:avLst>
              <a:gd name="adj" fmla="val 11290"/>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3" name="Text 65"/>
          <p:cNvSpPr/>
          <p:nvPr/>
        </p:nvSpPr>
        <p:spPr>
          <a:xfrm>
            <a:off x="6144840" y="42246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Ch.5</a:t>
            </a:r>
            <a:endParaRPr b="0" lang="en-US" sz="1000" spc="-1" strike="noStrike">
              <a:solidFill>
                <a:srgbClr val="ffffff"/>
              </a:solidFill>
              <a:latin typeface="Arial"/>
            </a:endParaRPr>
          </a:p>
        </p:txBody>
      </p:sp>
      <p:sp>
        <p:nvSpPr>
          <p:cNvPr id="74" name="Text 66"/>
          <p:cNvSpPr/>
          <p:nvPr/>
        </p:nvSpPr>
        <p:spPr>
          <a:xfrm>
            <a:off x="6144840" y="44532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ffffff"/>
                </a:solidFill>
                <a:latin typeface="Calibri"/>
                <a:ea typeface="Calibri"/>
              </a:rPr>
              <a:t>Buffer Zone</a:t>
            </a:r>
            <a:endParaRPr b="0" lang="en-US" sz="800" spc="-1" strike="noStrike">
              <a:solidFill>
                <a:srgbClr val="ffffff"/>
              </a:solidFill>
              <a:latin typeface="Arial"/>
            </a:endParaRPr>
          </a:p>
        </p:txBody>
      </p:sp>
      <p:sp>
        <p:nvSpPr>
          <p:cNvPr id="75" name="Shape 67"/>
          <p:cNvSpPr/>
          <p:nvPr/>
        </p:nvSpPr>
        <p:spPr>
          <a:xfrm>
            <a:off x="7589520" y="4206240"/>
            <a:ext cx="1316520" cy="566640"/>
          </a:xfrm>
          <a:prstGeom prst="roundRect">
            <a:avLst>
              <a:gd name="adj" fmla="val 11290"/>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6" name="Text 68"/>
          <p:cNvSpPr/>
          <p:nvPr/>
        </p:nvSpPr>
        <p:spPr>
          <a:xfrm>
            <a:off x="7589520" y="42246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Ch.6</a:t>
            </a:r>
            <a:endParaRPr b="0" lang="en-US" sz="1000" spc="-1" strike="noStrike">
              <a:solidFill>
                <a:srgbClr val="ffffff"/>
              </a:solidFill>
              <a:latin typeface="Arial"/>
            </a:endParaRPr>
          </a:p>
        </p:txBody>
      </p:sp>
      <p:sp>
        <p:nvSpPr>
          <p:cNvPr id="77" name="Text 69"/>
          <p:cNvSpPr/>
          <p:nvPr/>
        </p:nvSpPr>
        <p:spPr>
          <a:xfrm>
            <a:off x="7589520" y="4453200"/>
            <a:ext cx="13165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ffffff"/>
                </a:solidFill>
                <a:latin typeface="Calibri"/>
                <a:ea typeface="Calibri"/>
              </a:rPr>
              <a:t>Blast Radius</a:t>
            </a:r>
            <a:endParaRPr b="0" lang="en-US" sz="800" spc="-1" strike="noStrike">
              <a:solidFill>
                <a:srgbClr val="ffffff"/>
              </a:solidFill>
              <a:latin typeface="Arial"/>
            </a:endParaRPr>
          </a:p>
        </p:txBody>
      </p:sp>
      <p:sp>
        <p:nvSpPr>
          <p:cNvPr id="78" name="Text 70"/>
          <p:cNvSpPr/>
          <p:nvPr/>
        </p:nvSpPr>
        <p:spPr>
          <a:xfrm>
            <a:off x="365760" y="4892040"/>
            <a:ext cx="84121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718096"/>
                </a:solidFill>
                <a:latin typeface="Calibri"/>
                <a:ea typeface="Calibri"/>
              </a:rPr>
              <a:t>Team: Bekithemba Nkomo · Peter Mangoro · Masheia Dzimba</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79" name="Shape 0"/>
          <p:cNvSpPr/>
          <p:nvPr/>
        </p:nvSpPr>
        <p:spPr>
          <a:xfrm>
            <a:off x="0" y="0"/>
            <a:ext cx="145800" cy="5143320"/>
          </a:xfrm>
          <a:prstGeom prst="rect">
            <a:avLst/>
          </a:prstGeom>
          <a:solidFill>
            <a:srgbClr val="718096"/>
          </a:solidFill>
          <a:ln w="12700">
            <a:solidFill>
              <a:srgbClr val="71809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80" name="Text 1"/>
          <p:cNvSpPr/>
          <p:nvPr/>
        </p:nvSpPr>
        <p:spPr>
          <a:xfrm>
            <a:off x="365760" y="228600"/>
            <a:ext cx="3657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599" strike="noStrike">
                <a:solidFill>
                  <a:srgbClr val="718096"/>
                </a:solidFill>
                <a:latin typeface="Calibri"/>
                <a:ea typeface="Calibri"/>
              </a:rPr>
              <a:t>PROLOGUE</a:t>
            </a:r>
            <a:endParaRPr b="0" lang="en-US" sz="1200" spc="-1" strike="noStrike">
              <a:solidFill>
                <a:srgbClr val="ffffff"/>
              </a:solidFill>
              <a:latin typeface="Arial"/>
            </a:endParaRPr>
          </a:p>
        </p:txBody>
      </p:sp>
      <p:sp>
        <p:nvSpPr>
          <p:cNvPr id="81" name="Text 2"/>
          <p:cNvSpPr/>
          <p:nvPr/>
        </p:nvSpPr>
        <p:spPr>
          <a:xfrm>
            <a:off x="365760" y="594360"/>
            <a:ext cx="841212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600" spc="-1" strike="noStrike">
                <a:solidFill>
                  <a:srgbClr val="ffffff"/>
                </a:solidFill>
                <a:latin typeface="Calibri"/>
                <a:ea typeface="Calibri"/>
              </a:rPr>
              <a:t>The Problem We Cannot See</a:t>
            </a:r>
            <a:endParaRPr b="0" lang="en-US" sz="3600" spc="-1" strike="noStrike">
              <a:solidFill>
                <a:srgbClr val="ffffff"/>
              </a:solidFill>
              <a:latin typeface="Arial"/>
            </a:endParaRPr>
          </a:p>
        </p:txBody>
      </p:sp>
      <p:sp>
        <p:nvSpPr>
          <p:cNvPr id="82" name="Shape 3"/>
          <p:cNvSpPr/>
          <p:nvPr/>
        </p:nvSpPr>
        <p:spPr>
          <a:xfrm>
            <a:off x="365760" y="1417320"/>
            <a:ext cx="2697120" cy="2486880"/>
          </a:xfrm>
          <a:prstGeom prst="rect">
            <a:avLst/>
          </a:prstGeom>
          <a:solidFill>
            <a:srgbClr val="1e3a5f"/>
          </a:solidFill>
          <a:ln w="12700">
            <a:solidFill>
              <a:srgbClr val="e53e3e"/>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83" name="Shape 4"/>
          <p:cNvSpPr/>
          <p:nvPr/>
        </p:nvSpPr>
        <p:spPr>
          <a:xfrm>
            <a:off x="365760" y="1417320"/>
            <a:ext cx="2697120" cy="347040"/>
          </a:xfrm>
          <a:prstGeom prst="rect">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84" name="Text 5"/>
          <p:cNvSpPr/>
          <p:nvPr/>
        </p:nvSpPr>
        <p:spPr>
          <a:xfrm>
            <a:off x="475560" y="1417320"/>
            <a:ext cx="248688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We cannot trace disruptions fast enough</a:t>
            </a:r>
            <a:endParaRPr b="0" lang="en-US" sz="1000" spc="-1" strike="noStrike">
              <a:solidFill>
                <a:srgbClr val="ffffff"/>
              </a:solidFill>
              <a:latin typeface="Arial"/>
            </a:endParaRPr>
          </a:p>
        </p:txBody>
      </p:sp>
      <p:sp>
        <p:nvSpPr>
          <p:cNvPr id="85" name="Text 6"/>
          <p:cNvSpPr/>
          <p:nvPr/>
        </p:nvSpPr>
        <p:spPr>
          <a:xfrm>
            <a:off x="475560" y="1847160"/>
            <a:ext cx="2486880" cy="1956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bee3f8"/>
                </a:solidFill>
                <a:latin typeface="Calibri"/>
                <a:ea typeface="Calibri"/>
              </a:rPr>
              <a:t>When a supplier fails, operations teams spend 4–8 hours manually tracing which car models are affected through spreadsheet lookups and phone calls. By then, the assembly line has already stopped.</a:t>
            </a:r>
            <a:endParaRPr b="0" lang="en-US" sz="1050" spc="-1" strike="noStrike">
              <a:solidFill>
                <a:srgbClr val="ffffff"/>
              </a:solidFill>
              <a:latin typeface="Arial"/>
            </a:endParaRPr>
          </a:p>
        </p:txBody>
      </p:sp>
      <p:sp>
        <p:nvSpPr>
          <p:cNvPr id="86" name="Shape 7"/>
          <p:cNvSpPr/>
          <p:nvPr/>
        </p:nvSpPr>
        <p:spPr>
          <a:xfrm>
            <a:off x="3246120" y="1417320"/>
            <a:ext cx="2697120" cy="2486880"/>
          </a:xfrm>
          <a:prstGeom prst="rect">
            <a:avLst/>
          </a:prstGeom>
          <a:solidFill>
            <a:srgbClr val="1e3a5f"/>
          </a:solidFill>
          <a:ln w="12700">
            <a:solidFill>
              <a:srgbClr val="dd6b20"/>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87" name="Shape 8"/>
          <p:cNvSpPr/>
          <p:nvPr/>
        </p:nvSpPr>
        <p:spPr>
          <a:xfrm>
            <a:off x="3246120" y="1417320"/>
            <a:ext cx="2697120" cy="347040"/>
          </a:xfrm>
          <a:prstGeom prst="rect">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88" name="Text 9"/>
          <p:cNvSpPr/>
          <p:nvPr/>
        </p:nvSpPr>
        <p:spPr>
          <a:xfrm>
            <a:off x="3355920" y="1417320"/>
            <a:ext cx="248688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Spreadsheets cannot answer relational questions</a:t>
            </a:r>
            <a:endParaRPr b="0" lang="en-US" sz="1000" spc="-1" strike="noStrike">
              <a:solidFill>
                <a:srgbClr val="ffffff"/>
              </a:solidFill>
              <a:latin typeface="Arial"/>
            </a:endParaRPr>
          </a:p>
        </p:txBody>
      </p:sp>
      <p:sp>
        <p:nvSpPr>
          <p:cNvPr id="89" name="Text 10"/>
          <p:cNvSpPr/>
          <p:nvPr/>
        </p:nvSpPr>
        <p:spPr>
          <a:xfrm>
            <a:off x="3355920" y="1847160"/>
            <a:ext cx="2486880" cy="1956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bee3f8"/>
                </a:solidFill>
                <a:latin typeface="Calibri"/>
                <a:ea typeface="Calibri"/>
              </a:rPr>
              <a:t>'Which cars break if battery transit fails?' requires 5+ manual JOIN operations across separate sheets. The answer takes hours. The graph answers it in seconds.</a:t>
            </a:r>
            <a:endParaRPr b="0" lang="en-US" sz="1050" spc="-1" strike="noStrike">
              <a:solidFill>
                <a:srgbClr val="ffffff"/>
              </a:solidFill>
              <a:latin typeface="Arial"/>
            </a:endParaRPr>
          </a:p>
        </p:txBody>
      </p:sp>
      <p:sp>
        <p:nvSpPr>
          <p:cNvPr id="90" name="Shape 11"/>
          <p:cNvSpPr/>
          <p:nvPr/>
        </p:nvSpPr>
        <p:spPr>
          <a:xfrm>
            <a:off x="6126480" y="1417320"/>
            <a:ext cx="2697120" cy="2486880"/>
          </a:xfrm>
          <a:prstGeom prst="rect">
            <a:avLst/>
          </a:prstGeom>
          <a:solidFill>
            <a:srgbClr val="1e3a5f"/>
          </a:solidFill>
          <a:ln w="12700">
            <a:solidFill>
              <a:srgbClr val="f6ad55"/>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1" name="Shape 12"/>
          <p:cNvSpPr/>
          <p:nvPr/>
        </p:nvSpPr>
        <p:spPr>
          <a:xfrm>
            <a:off x="6126480" y="1417320"/>
            <a:ext cx="2697120" cy="347040"/>
          </a:xfrm>
          <a:prstGeom prst="rect">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2" name="Text 13"/>
          <p:cNvSpPr/>
          <p:nvPr/>
        </p:nvSpPr>
        <p:spPr>
          <a:xfrm>
            <a:off x="6236280" y="1417320"/>
            <a:ext cx="248688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ea typeface="Calibri"/>
              </a:rPr>
              <a:t>🔗  </a:t>
            </a:r>
            <a:r>
              <a:rPr b="1" lang="en-US" sz="1000" spc="-1" strike="noStrike">
                <a:solidFill>
                  <a:srgbClr val="ffffff"/>
                </a:solidFill>
                <a:latin typeface="Calibri"/>
                <a:ea typeface="Calibri"/>
              </a:rPr>
              <a:t>The dependencies are invisible</a:t>
            </a:r>
            <a:endParaRPr b="0" lang="en-US" sz="1000" spc="-1" strike="noStrike">
              <a:solidFill>
                <a:srgbClr val="ffffff"/>
              </a:solidFill>
              <a:latin typeface="Arial"/>
            </a:endParaRPr>
          </a:p>
        </p:txBody>
      </p:sp>
      <p:sp>
        <p:nvSpPr>
          <p:cNvPr id="93" name="Text 14"/>
          <p:cNvSpPr/>
          <p:nvPr/>
        </p:nvSpPr>
        <p:spPr>
          <a:xfrm>
            <a:off x="6236280" y="1847160"/>
            <a:ext cx="2486880" cy="1956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bee3f8"/>
                </a:solidFill>
                <a:latin typeface="Calibri"/>
                <a:ea typeface="Calibri"/>
              </a:rPr>
              <a:t>87,059 BOM relationships and 11 logistics arcs create a web of hidden dependencies. You cannot see them in rows and columns. You need a graph to make them queryable.</a:t>
            </a:r>
            <a:endParaRPr b="0" lang="en-US" sz="1050" spc="-1" strike="noStrike">
              <a:solidFill>
                <a:srgbClr val="ffffff"/>
              </a:solidFill>
              <a:latin typeface="Arial"/>
            </a:endParaRPr>
          </a:p>
        </p:txBody>
      </p:sp>
      <p:sp>
        <p:nvSpPr>
          <p:cNvPr id="94" name="Shape 15"/>
          <p:cNvSpPr/>
          <p:nvPr/>
        </p:nvSpPr>
        <p:spPr>
          <a:xfrm>
            <a:off x="365760" y="4060080"/>
            <a:ext cx="8412120" cy="694440"/>
          </a:xfrm>
          <a:prstGeom prst="rect">
            <a:avLst/>
          </a:prstGeom>
          <a:solidFill>
            <a:srgbClr val="0f2d4a"/>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5" name="Text 16"/>
          <p:cNvSpPr/>
          <p:nvPr/>
        </p:nvSpPr>
        <p:spPr>
          <a:xfrm>
            <a:off x="548640" y="4060080"/>
            <a:ext cx="1279800" cy="694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6ad55"/>
                </a:solidFill>
                <a:latin typeface="Calibri"/>
                <a:ea typeface="Calibri"/>
              </a:rPr>
              <a:t>Our answer: </a:t>
            </a:r>
            <a:endParaRPr b="0" lang="en-US" sz="1200" spc="-1" strike="noStrike">
              <a:solidFill>
                <a:srgbClr val="ffffff"/>
              </a:solidFill>
              <a:latin typeface="Arial"/>
            </a:endParaRPr>
          </a:p>
        </p:txBody>
      </p:sp>
      <p:sp>
        <p:nvSpPr>
          <p:cNvPr id="96" name="Text 17"/>
          <p:cNvSpPr/>
          <p:nvPr/>
        </p:nvSpPr>
        <p:spPr>
          <a:xfrm>
            <a:off x="1792080" y="4114800"/>
            <a:ext cx="6802920" cy="585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ffffff"/>
                </a:solidFill>
                <a:latin typeface="Calibri"/>
                <a:ea typeface="Calibri"/>
              </a:rPr>
              <a:t>Build a Neo4j property graph from the Moetz et al. (2020) automotive production network dataset and use exploratory graph queries to surface the risks before they become disruptions.</a:t>
            </a:r>
            <a:endParaRPr b="0" lang="en-US" sz="1100" spc="-1" strike="noStrike">
              <a:solidFill>
                <a:srgbClr val="ffffff"/>
              </a:solidFill>
              <a:latin typeface="Arial"/>
            </a:endParaRPr>
          </a:p>
        </p:txBody>
      </p:sp>
      <p:sp>
        <p:nvSpPr>
          <p:cNvPr id="97" name="Text 18"/>
          <p:cNvSpPr/>
          <p:nvPr/>
        </p:nvSpPr>
        <p:spPr>
          <a:xfrm>
            <a:off x="274320" y="4919400"/>
            <a:ext cx="85950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98" name="Text 0"/>
          <p:cNvSpPr/>
          <p:nvPr/>
        </p:nvSpPr>
        <p:spPr>
          <a:xfrm>
            <a:off x="5943600" y="182880"/>
            <a:ext cx="3200040" cy="4114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0" spc="-1" strike="noStrike">
                <a:solidFill>
                  <a:srgbClr val="38a169">
                    <a:alpha val="12000"/>
                  </a:srgbClr>
                </a:solidFill>
                <a:latin typeface="Calibri"/>
                <a:ea typeface="Calibri"/>
              </a:rPr>
              <a:t>01</a:t>
            </a:r>
            <a:endParaRPr b="0" lang="en-US" sz="22000" spc="-1" strike="noStrike">
              <a:solidFill>
                <a:srgbClr val="ffffff"/>
              </a:solidFill>
              <a:latin typeface="Arial"/>
            </a:endParaRPr>
          </a:p>
        </p:txBody>
      </p:sp>
      <p:sp>
        <p:nvSpPr>
          <p:cNvPr id="99" name="Shape 1"/>
          <p:cNvSpPr/>
          <p:nvPr/>
        </p:nvSpPr>
        <p:spPr>
          <a:xfrm>
            <a:off x="0" y="0"/>
            <a:ext cx="145800" cy="5143320"/>
          </a:xfrm>
          <a:prstGeom prst="rect">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0" name="Shape 2"/>
          <p:cNvSpPr/>
          <p:nvPr/>
        </p:nvSpPr>
        <p:spPr>
          <a:xfrm>
            <a:off x="365760" y="365760"/>
            <a:ext cx="1645560" cy="328680"/>
          </a:xfrm>
          <a:prstGeom prst="roundRect">
            <a:avLst>
              <a:gd name="adj" fmla="val 22222"/>
            </a:avLst>
          </a:prstGeom>
          <a:solidFill>
            <a:srgbClr val="38a169">
              <a:alpha val="80000"/>
            </a:srgbClr>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1" name="Text 3"/>
          <p:cNvSpPr/>
          <p:nvPr/>
        </p:nvSpPr>
        <p:spPr>
          <a:xfrm>
            <a:off x="365760" y="365760"/>
            <a:ext cx="16455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CHAPTER 1</a:t>
            </a:r>
            <a:endParaRPr b="0" lang="en-US" sz="1100" spc="-1" strike="noStrike">
              <a:solidFill>
                <a:srgbClr val="ffffff"/>
              </a:solidFill>
              <a:latin typeface="Arial"/>
            </a:endParaRPr>
          </a:p>
        </p:txBody>
      </p:sp>
      <p:sp>
        <p:nvSpPr>
          <p:cNvPr id="102" name="Text 4"/>
          <p:cNvSpPr/>
          <p:nvPr/>
        </p:nvSpPr>
        <p:spPr>
          <a:xfrm>
            <a:off x="365760" y="914400"/>
            <a:ext cx="68576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ffffff"/>
                </a:solidFill>
                <a:latin typeface="Calibri"/>
                <a:ea typeface="Calibri"/>
              </a:rPr>
              <a:t>Meet the Network</a:t>
            </a:r>
            <a:endParaRPr b="0" lang="en-US" sz="4000" spc="-1" strike="noStrike">
              <a:solidFill>
                <a:srgbClr val="ffffff"/>
              </a:solidFill>
              <a:latin typeface="Arial"/>
            </a:endParaRPr>
          </a:p>
        </p:txBody>
      </p:sp>
      <p:sp>
        <p:nvSpPr>
          <p:cNvPr id="103" name="Text 5"/>
          <p:cNvSpPr/>
          <p:nvPr/>
        </p:nvSpPr>
        <p:spPr>
          <a:xfrm>
            <a:off x="365760" y="1901880"/>
            <a:ext cx="6857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38a169"/>
                </a:solidFill>
                <a:latin typeface="Calibri"/>
                <a:ea typeface="Calibri"/>
              </a:rPr>
              <a:t>Before we can find risks, we need to know what we are working with</a:t>
            </a:r>
            <a:endParaRPr b="0" lang="en-US" sz="1800" spc="-1" strike="noStrike">
              <a:solidFill>
                <a:srgbClr val="ffffff"/>
              </a:solidFill>
              <a:latin typeface="Arial"/>
            </a:endParaRPr>
          </a:p>
        </p:txBody>
      </p:sp>
      <p:sp>
        <p:nvSpPr>
          <p:cNvPr id="104" name="Shape 6"/>
          <p:cNvSpPr/>
          <p:nvPr/>
        </p:nvSpPr>
        <p:spPr>
          <a:xfrm>
            <a:off x="365760" y="2578680"/>
            <a:ext cx="6857640" cy="2029680"/>
          </a:xfrm>
          <a:prstGeom prst="rect">
            <a:avLst/>
          </a:prstGeom>
          <a:solidFill>
            <a:srgbClr val="1e3a5f"/>
          </a:solidFill>
          <a:ln w="12700">
            <a:solidFill>
              <a:srgbClr val="38a169"/>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5" name="Text 7"/>
          <p:cNvSpPr/>
          <p:nvPr/>
        </p:nvSpPr>
        <p:spPr>
          <a:xfrm>
            <a:off x="548640" y="2688480"/>
            <a:ext cx="6491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38a169"/>
                </a:solidFill>
                <a:latin typeface="Calibri"/>
                <a:ea typeface="Calibri"/>
              </a:rPr>
              <a:t>What the operations team is asking:</a:t>
            </a:r>
            <a:endParaRPr b="0" lang="en-US" sz="1000" spc="-1" strike="noStrike">
              <a:solidFill>
                <a:srgbClr val="ffffff"/>
              </a:solidFill>
              <a:latin typeface="Arial"/>
            </a:endParaRPr>
          </a:p>
        </p:txBody>
      </p:sp>
      <p:sp>
        <p:nvSpPr>
          <p:cNvPr id="106" name="Text 8"/>
          <p:cNvSpPr/>
          <p:nvPr/>
        </p:nvSpPr>
        <p:spPr>
          <a:xfrm>
            <a:off x="548640" y="2999160"/>
            <a:ext cx="64918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bee3f8"/>
                </a:solidFill>
                <a:latin typeface="Calibri"/>
                <a:ea typeface="Calibri"/>
              </a:rPr>
              <a:t>"How many nodes, relationships and properties did we actually load into the graph? Are the counts what we expect? Before we trust any query result we need to confirm the graph is structurally sound."</a:t>
            </a:r>
            <a:endParaRPr b="0" lang="en-US" sz="1300" spc="-1" strike="noStrike">
              <a:solidFill>
                <a:srgbClr val="ffffff"/>
              </a:solidFill>
              <a:latin typeface="Arial"/>
            </a:endParaRPr>
          </a:p>
        </p:txBody>
      </p:sp>
      <p:sp>
        <p:nvSpPr>
          <p:cNvPr id="107" name="Text 9"/>
          <p:cNvSpPr/>
          <p:nvPr/>
        </p:nvSpPr>
        <p:spPr>
          <a:xfrm>
            <a:off x="274320" y="4919400"/>
            <a:ext cx="85950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108"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9" name="Shape 1"/>
          <p:cNvSpPr/>
          <p:nvPr/>
        </p:nvSpPr>
        <p:spPr>
          <a:xfrm>
            <a:off x="274320" y="137160"/>
            <a:ext cx="959760" cy="328680"/>
          </a:xfrm>
          <a:prstGeom prst="roundRect">
            <a:avLst>
              <a:gd name="adj" fmla="val 19444"/>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10"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1a</a:t>
            </a:r>
            <a:endParaRPr b="0" lang="en-US" sz="1000" spc="-1" strike="noStrike">
              <a:solidFill>
                <a:srgbClr val="000000"/>
              </a:solidFill>
              <a:latin typeface="Arial"/>
            </a:endParaRPr>
          </a:p>
        </p:txBody>
      </p:sp>
      <p:sp>
        <p:nvSpPr>
          <p:cNvPr id="111"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Node Label Counts — What entities exist in the graph?</a:t>
            </a:r>
            <a:endParaRPr b="0" lang="en-US" sz="1500" spc="-1" strike="noStrike">
              <a:solidFill>
                <a:srgbClr val="000000"/>
              </a:solidFill>
              <a:latin typeface="Arial"/>
            </a:endParaRPr>
          </a:p>
        </p:txBody>
      </p:sp>
      <p:sp>
        <p:nvSpPr>
          <p:cNvPr id="112"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13"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114"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How many facilities, products and demand records are we working with?</a:t>
            </a:r>
            <a:endParaRPr b="0" lang="en-US" sz="1000" spc="-1" strike="noStrike">
              <a:solidFill>
                <a:srgbClr val="000000"/>
              </a:solidFill>
              <a:latin typeface="Arial"/>
            </a:endParaRPr>
          </a:p>
        </p:txBody>
      </p:sp>
      <p:sp>
        <p:nvSpPr>
          <p:cNvPr id="115"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16"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17" name="Image 0" descr="/home/claude/eda1a.png"/>
          <p:cNvPicPr/>
          <p:nvPr/>
        </p:nvPicPr>
        <p:blipFill>
          <a:blip r:embed="rId1"/>
          <a:stretch/>
        </p:blipFill>
        <p:spPr>
          <a:xfrm>
            <a:off x="292680" y="1572840"/>
            <a:ext cx="5047200" cy="2815920"/>
          </a:xfrm>
          <a:prstGeom prst="rect">
            <a:avLst/>
          </a:prstGeom>
          <a:ln w="0">
            <a:noFill/>
          </a:ln>
        </p:spPr>
      </p:pic>
      <p:sp>
        <p:nvSpPr>
          <p:cNvPr id="118" name="Shape 11"/>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19" name="Shape 12"/>
          <p:cNvSpPr/>
          <p:nvPr/>
        </p:nvSpPr>
        <p:spPr>
          <a:xfrm>
            <a:off x="5559480" y="1536120"/>
            <a:ext cx="3328200" cy="310680"/>
          </a:xfrm>
          <a:prstGeom prst="rect">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20"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121" name="Shape 14"/>
          <p:cNvSpPr/>
          <p:nvPr/>
        </p:nvSpPr>
        <p:spPr>
          <a:xfrm>
            <a:off x="5669280" y="197496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22"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9 distinct node label combinations — multi-label schema loaded correctly</a:t>
            </a:r>
            <a:endParaRPr b="0" lang="en-US" sz="950" spc="-1" strike="noStrike">
              <a:solidFill>
                <a:srgbClr val="000000"/>
              </a:solidFill>
              <a:latin typeface="Arial"/>
            </a:endParaRPr>
          </a:p>
        </p:txBody>
      </p:sp>
      <p:sp>
        <p:nvSpPr>
          <p:cNvPr id="123" name="Shape 16"/>
          <p:cNvSpPr/>
          <p:nvPr/>
        </p:nvSpPr>
        <p:spPr>
          <a:xfrm>
            <a:off x="5669280" y="241416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24"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Product (28,049) and DemandFact (28,000) dominate — BOM-heavy as expected</a:t>
            </a:r>
            <a:endParaRPr b="0" lang="en-US" sz="950" spc="-1" strike="noStrike">
              <a:solidFill>
                <a:srgbClr val="000000"/>
              </a:solidFill>
              <a:latin typeface="Arial"/>
            </a:endParaRPr>
          </a:p>
        </p:txBody>
      </p:sp>
      <p:sp>
        <p:nvSpPr>
          <p:cNvPr id="125" name="Shape 18"/>
          <p:cNvSpPr/>
          <p:nvPr/>
        </p:nvSpPr>
        <p:spPr>
          <a:xfrm>
            <a:off x="5669280" y="285300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26"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12 Facility nodes confirmed across OEM, SupplierSite, Production and Inventory roles</a:t>
            </a:r>
            <a:endParaRPr b="0" lang="en-US" sz="950" spc="-1" strike="noStrike">
              <a:solidFill>
                <a:srgbClr val="000000"/>
              </a:solidFill>
              <a:latin typeface="Arial"/>
            </a:endParaRPr>
          </a:p>
        </p:txBody>
      </p:sp>
      <p:sp>
        <p:nvSpPr>
          <p:cNvPr id="127" name="Shape 20"/>
          <p:cNvSpPr/>
          <p:nvPr/>
        </p:nvSpPr>
        <p:spPr>
          <a:xfrm>
            <a:off x="5669280" y="329184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28"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Customer singleton (1) wires all 28,000 demand records into a single market node</a:t>
            </a:r>
            <a:endParaRPr b="0" lang="en-US" sz="950" spc="-1" strike="noStrike">
              <a:solidFill>
                <a:srgbClr val="000000"/>
              </a:solidFill>
              <a:latin typeface="Arial"/>
            </a:endParaRPr>
          </a:p>
        </p:txBody>
      </p:sp>
      <p:sp>
        <p:nvSpPr>
          <p:cNvPr id="129" name="Shape 22"/>
          <p:cNvSpPr/>
          <p:nvPr/>
        </p:nvSpPr>
        <p:spPr>
          <a:xfrm>
            <a:off x="5559480" y="3675960"/>
            <a:ext cx="3328200" cy="694440"/>
          </a:xfrm>
          <a:prstGeom prst="rect">
            <a:avLst/>
          </a:prstGeom>
          <a:solidFill>
            <a:srgbClr val="ebf4ff"/>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0"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38a169"/>
                </a:solidFill>
                <a:latin typeface="Calibri"/>
                <a:ea typeface="Calibri"/>
              </a:rPr>
              <a:t>Story insight</a:t>
            </a:r>
            <a:endParaRPr b="0" lang="en-US" sz="900" spc="-1" strike="noStrike">
              <a:solidFill>
                <a:srgbClr val="000000"/>
              </a:solidFill>
              <a:latin typeface="Arial"/>
            </a:endParaRPr>
          </a:p>
        </p:txBody>
      </p:sp>
      <p:sp>
        <p:nvSpPr>
          <p:cNvPr id="131"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The network is real and complete. We have 56,135 total nodes to analyse — now we need to understand how they connect.</a:t>
            </a:r>
            <a:endParaRPr b="0" lang="en-US" sz="950" spc="-1" strike="noStrike">
              <a:solidFill>
                <a:srgbClr val="000000"/>
              </a:solidFill>
              <a:latin typeface="Arial"/>
            </a:endParaRPr>
          </a:p>
        </p:txBody>
      </p:sp>
      <p:sp>
        <p:nvSpPr>
          <p:cNvPr id="132"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133"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4" name="Shape 1"/>
          <p:cNvSpPr/>
          <p:nvPr/>
        </p:nvSpPr>
        <p:spPr>
          <a:xfrm>
            <a:off x="274320" y="137160"/>
            <a:ext cx="959760" cy="328680"/>
          </a:xfrm>
          <a:prstGeom prst="roundRect">
            <a:avLst>
              <a:gd name="adj" fmla="val 19444"/>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5"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1b</a:t>
            </a:r>
            <a:endParaRPr b="0" lang="en-US" sz="1000" spc="-1" strike="noStrike">
              <a:solidFill>
                <a:srgbClr val="000000"/>
              </a:solidFill>
              <a:latin typeface="Arial"/>
            </a:endParaRPr>
          </a:p>
        </p:txBody>
      </p:sp>
      <p:sp>
        <p:nvSpPr>
          <p:cNvPr id="136"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Relationship Type Counts — How does the graph connect?</a:t>
            </a:r>
            <a:endParaRPr b="0" lang="en-US" sz="1500" spc="-1" strike="noStrike">
              <a:solidFill>
                <a:srgbClr val="000000"/>
              </a:solidFill>
              <a:latin typeface="Arial"/>
            </a:endParaRPr>
          </a:p>
        </p:txBody>
      </p:sp>
      <p:sp>
        <p:nvSpPr>
          <p:cNvPr id="137"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8"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139"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What types of connections exist between our facilities, products and demand records?</a:t>
            </a:r>
            <a:endParaRPr b="0" lang="en-US" sz="1000" spc="-1" strike="noStrike">
              <a:solidFill>
                <a:srgbClr val="000000"/>
              </a:solidFill>
              <a:latin typeface="Arial"/>
            </a:endParaRPr>
          </a:p>
        </p:txBody>
      </p:sp>
      <p:sp>
        <p:nvSpPr>
          <p:cNvPr id="140"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1"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42" name="Image 0" descr="/home/claude/eda1b_new.png"/>
          <p:cNvPicPr/>
          <p:nvPr/>
        </p:nvPicPr>
        <p:blipFill>
          <a:blip r:embed="rId1"/>
          <a:stretch/>
        </p:blipFill>
        <p:spPr>
          <a:xfrm>
            <a:off x="292680" y="1572840"/>
            <a:ext cx="5047200" cy="2815920"/>
          </a:xfrm>
          <a:prstGeom prst="rect">
            <a:avLst/>
          </a:prstGeom>
          <a:ln w="0">
            <a:noFill/>
          </a:ln>
        </p:spPr>
      </p:pic>
      <p:sp>
        <p:nvSpPr>
          <p:cNvPr id="143" name="Shape 11"/>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4" name="Shape 12"/>
          <p:cNvSpPr/>
          <p:nvPr/>
        </p:nvSpPr>
        <p:spPr>
          <a:xfrm>
            <a:off x="5559480" y="1536120"/>
            <a:ext cx="3328200" cy="310680"/>
          </a:xfrm>
          <a:prstGeom prst="rect">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5"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146" name="Shape 14"/>
          <p:cNvSpPr/>
          <p:nvPr/>
        </p:nvSpPr>
        <p:spPr>
          <a:xfrm>
            <a:off x="5669280" y="197496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7"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16 distinct relationship types — BOM, logistics, demand, inventory and capacity all present</a:t>
            </a:r>
            <a:endParaRPr b="0" lang="en-US" sz="950" spc="-1" strike="noStrike">
              <a:solidFill>
                <a:srgbClr val="000000"/>
              </a:solidFill>
              <a:latin typeface="Arial"/>
            </a:endParaRPr>
          </a:p>
        </p:txBody>
      </p:sp>
      <p:sp>
        <p:nvSpPr>
          <p:cNvPr id="148" name="Shape 16"/>
          <p:cNvSpPr/>
          <p:nvPr/>
        </p:nvSpPr>
        <p:spPr>
          <a:xfrm>
            <a:off x="5669280" y="241416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9"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REQUIRES (87,059) dominates — the BOM is the largest and most complex structural layer</a:t>
            </a:r>
            <a:endParaRPr b="0" lang="en-US" sz="950" spc="-1" strike="noStrike">
              <a:solidFill>
                <a:srgbClr val="000000"/>
              </a:solidFill>
              <a:latin typeface="Arial"/>
            </a:endParaRPr>
          </a:p>
        </p:txBody>
      </p:sp>
      <p:sp>
        <p:nvSpPr>
          <p:cNvPr id="150" name="Shape 18"/>
          <p:cNvSpPr/>
          <p:nvPr/>
        </p:nvSpPr>
        <p:spPr>
          <a:xfrm>
            <a:off x="5669280" y="285300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51"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Demand hub is fully consistent: HAS_DEMAND, ORDERS, FOR_PRODUCT, IN_PERIOD, AT_NODE each = 28,000</a:t>
            </a:r>
            <a:endParaRPr b="0" lang="en-US" sz="950" spc="-1" strike="noStrike">
              <a:solidFill>
                <a:srgbClr val="000000"/>
              </a:solidFill>
              <a:latin typeface="Arial"/>
            </a:endParaRPr>
          </a:p>
        </p:txBody>
      </p:sp>
      <p:sp>
        <p:nvSpPr>
          <p:cNvPr id="152" name="Shape 20"/>
          <p:cNvSpPr/>
          <p:nvPr/>
        </p:nvSpPr>
        <p:spPr>
          <a:xfrm>
            <a:off x="5669280" y="329184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53"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SHIPS_TO (11) matches exactly the 11 physical logistics arcs — no routes are missing</a:t>
            </a:r>
            <a:endParaRPr b="0" lang="en-US" sz="950" spc="-1" strike="noStrike">
              <a:solidFill>
                <a:srgbClr val="000000"/>
              </a:solidFill>
              <a:latin typeface="Arial"/>
            </a:endParaRPr>
          </a:p>
        </p:txBody>
      </p:sp>
      <p:sp>
        <p:nvSpPr>
          <p:cNvPr id="154" name="Shape 22"/>
          <p:cNvSpPr/>
          <p:nvPr/>
        </p:nvSpPr>
        <p:spPr>
          <a:xfrm>
            <a:off x="5559480" y="3675960"/>
            <a:ext cx="3328200" cy="694440"/>
          </a:xfrm>
          <a:prstGeom prst="rect">
            <a:avLst/>
          </a:prstGeom>
          <a:solidFill>
            <a:srgbClr val="ebf4ff"/>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55"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38a169"/>
                </a:solidFill>
                <a:latin typeface="Calibri"/>
                <a:ea typeface="Calibri"/>
              </a:rPr>
              <a:t>Story insight</a:t>
            </a:r>
            <a:endParaRPr b="0" lang="en-US" sz="900" spc="-1" strike="noStrike">
              <a:solidFill>
                <a:srgbClr val="000000"/>
              </a:solidFill>
              <a:latin typeface="Arial"/>
            </a:endParaRPr>
          </a:p>
        </p:txBody>
      </p:sp>
      <p:sp>
        <p:nvSpPr>
          <p:cNvPr id="156"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The graph is not just nodes — it is relationships. 16 types of connection means 16 different questions we can now answer in a single traversal.</a:t>
            </a:r>
            <a:endParaRPr b="0" lang="en-US" sz="950" spc="-1" strike="noStrike">
              <a:solidFill>
                <a:srgbClr val="000000"/>
              </a:solidFill>
              <a:latin typeface="Arial"/>
            </a:endParaRPr>
          </a:p>
        </p:txBody>
      </p:sp>
      <p:sp>
        <p:nvSpPr>
          <p:cNvPr id="157"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158"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59" name="Shape 1"/>
          <p:cNvSpPr/>
          <p:nvPr/>
        </p:nvSpPr>
        <p:spPr>
          <a:xfrm>
            <a:off x="274320" y="137160"/>
            <a:ext cx="959760" cy="328680"/>
          </a:xfrm>
          <a:prstGeom prst="roundRect">
            <a:avLst>
              <a:gd name="adj" fmla="val 19444"/>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0"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1c</a:t>
            </a:r>
            <a:endParaRPr b="0" lang="en-US" sz="1000" spc="-1" strike="noStrike">
              <a:solidFill>
                <a:srgbClr val="000000"/>
              </a:solidFill>
              <a:latin typeface="Arial"/>
            </a:endParaRPr>
          </a:p>
        </p:txBody>
      </p:sp>
      <p:sp>
        <p:nvSpPr>
          <p:cNvPr id="161"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Node Properties — What data lives on each node type?</a:t>
            </a:r>
            <a:endParaRPr b="0" lang="en-US" sz="1500" spc="-1" strike="noStrike">
              <a:solidFill>
                <a:srgbClr val="000000"/>
              </a:solidFill>
              <a:latin typeface="Arial"/>
            </a:endParaRPr>
          </a:p>
        </p:txBody>
      </p:sp>
      <p:sp>
        <p:nvSpPr>
          <p:cNvPr id="162"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3"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164"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What information is attached to each facility, product and demand record in the graph?</a:t>
            </a:r>
            <a:endParaRPr b="0" lang="en-US" sz="1000" spc="-1" strike="noStrike">
              <a:solidFill>
                <a:srgbClr val="000000"/>
              </a:solidFill>
              <a:latin typeface="Arial"/>
            </a:endParaRPr>
          </a:p>
        </p:txBody>
      </p:sp>
      <p:sp>
        <p:nvSpPr>
          <p:cNvPr id="165"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6"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67" name="Image 0" descr="/home/claude/eda1c_new.png"/>
          <p:cNvPicPr/>
          <p:nvPr/>
        </p:nvPicPr>
        <p:blipFill>
          <a:blip r:embed="rId1"/>
          <a:stretch/>
        </p:blipFill>
        <p:spPr>
          <a:xfrm>
            <a:off x="292680" y="1572840"/>
            <a:ext cx="5047200" cy="2815920"/>
          </a:xfrm>
          <a:prstGeom prst="rect">
            <a:avLst/>
          </a:prstGeom>
          <a:ln w="0">
            <a:noFill/>
          </a:ln>
        </p:spPr>
      </p:pic>
      <p:sp>
        <p:nvSpPr>
          <p:cNvPr id="168" name="Shape 11"/>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9" name="Shape 12"/>
          <p:cNvSpPr/>
          <p:nvPr/>
        </p:nvSpPr>
        <p:spPr>
          <a:xfrm>
            <a:off x="5559480" y="1536120"/>
            <a:ext cx="3328200" cy="310680"/>
          </a:xfrm>
          <a:prstGeom prst="rect">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0"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171" name="Shape 14"/>
          <p:cNvSpPr/>
          <p:nvPr/>
        </p:nvSpPr>
        <p:spPr>
          <a:xfrm>
            <a:off x="5669280" y="197496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2"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All Facility nodes carry nodeId, displayName, siteKind — structural identity confirmed</a:t>
            </a:r>
            <a:endParaRPr b="0" lang="en-US" sz="950" spc="-1" strike="noStrike">
              <a:solidFill>
                <a:srgbClr val="000000"/>
              </a:solidFill>
              <a:latin typeface="Arial"/>
            </a:endParaRPr>
          </a:p>
        </p:txBody>
      </p:sp>
      <p:sp>
        <p:nvSpPr>
          <p:cNvPr id="173" name="Shape 16"/>
          <p:cNvSpPr/>
          <p:nvPr/>
        </p:nvSpPr>
        <p:spPr>
          <a:xfrm>
            <a:off x="5669280" y="241416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4"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Product carries productId, transportationSize, catalogSource — BOM provenance tracked</a:t>
            </a:r>
            <a:endParaRPr b="0" lang="en-US" sz="950" spc="-1" strike="noStrike">
              <a:solidFill>
                <a:srgbClr val="000000"/>
              </a:solidFill>
              <a:latin typeface="Arial"/>
            </a:endParaRPr>
          </a:p>
        </p:txBody>
      </p:sp>
      <p:sp>
        <p:nvSpPr>
          <p:cNvPr id="175" name="Shape 18"/>
          <p:cNvSpPr/>
          <p:nvPr/>
        </p:nvSpPr>
        <p:spPr>
          <a:xfrm>
            <a:off x="5669280" y="285300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6"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DemandFact carries demandKey and quantity — volume aggregation is enabled</a:t>
            </a:r>
            <a:endParaRPr b="0" lang="en-US" sz="950" spc="-1" strike="noStrike">
              <a:solidFill>
                <a:srgbClr val="000000"/>
              </a:solidFill>
              <a:latin typeface="Arial"/>
            </a:endParaRPr>
          </a:p>
        </p:txBody>
      </p:sp>
      <p:sp>
        <p:nvSpPr>
          <p:cNvPr id="177" name="Shape 20"/>
          <p:cNvSpPr/>
          <p:nvPr/>
        </p:nvSpPr>
        <p:spPr>
          <a:xfrm>
            <a:off x="5669280" y="3291840"/>
            <a:ext cx="127800" cy="127800"/>
          </a:xfrm>
          <a:prstGeom prst="ellipse">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8"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Period carries periodId — time layer is correctly structured for period-based queries</a:t>
            </a:r>
            <a:endParaRPr b="0" lang="en-US" sz="950" spc="-1" strike="noStrike">
              <a:solidFill>
                <a:srgbClr val="000000"/>
              </a:solidFill>
              <a:latin typeface="Arial"/>
            </a:endParaRPr>
          </a:p>
        </p:txBody>
      </p:sp>
      <p:sp>
        <p:nvSpPr>
          <p:cNvPr id="179" name="Shape 22"/>
          <p:cNvSpPr/>
          <p:nvPr/>
        </p:nvSpPr>
        <p:spPr>
          <a:xfrm>
            <a:off x="5559480" y="3675960"/>
            <a:ext cx="3328200" cy="694440"/>
          </a:xfrm>
          <a:prstGeom prst="rect">
            <a:avLst/>
          </a:prstGeom>
          <a:solidFill>
            <a:srgbClr val="ebf4ff"/>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0"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38a169"/>
                </a:solidFill>
                <a:latin typeface="Calibri"/>
                <a:ea typeface="Calibri"/>
              </a:rPr>
              <a:t>Story insight</a:t>
            </a:r>
            <a:endParaRPr b="0" lang="en-US" sz="900" spc="-1" strike="noStrike">
              <a:solidFill>
                <a:srgbClr val="000000"/>
              </a:solidFill>
              <a:latin typeface="Arial"/>
            </a:endParaRPr>
          </a:p>
        </p:txBody>
      </p:sp>
      <p:sp>
        <p:nvSpPr>
          <p:cNvPr id="181"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Every node has the right data attached. No missing fields. The graph is ready for the real questions — starting with the products themselves.</a:t>
            </a:r>
            <a:endParaRPr b="0" lang="en-US" sz="950" spc="-1" strike="noStrike">
              <a:solidFill>
                <a:srgbClr val="000000"/>
              </a:solidFill>
              <a:latin typeface="Arial"/>
            </a:endParaRPr>
          </a:p>
        </p:txBody>
      </p:sp>
      <p:sp>
        <p:nvSpPr>
          <p:cNvPr id="182"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83" name="Text 0"/>
          <p:cNvSpPr/>
          <p:nvPr/>
        </p:nvSpPr>
        <p:spPr>
          <a:xfrm>
            <a:off x="5943600" y="182880"/>
            <a:ext cx="3200040" cy="4114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0" spc="-1" strike="noStrike">
                <a:solidFill>
                  <a:srgbClr val="2c5282">
                    <a:alpha val="12000"/>
                  </a:srgbClr>
                </a:solidFill>
                <a:latin typeface="Calibri"/>
                <a:ea typeface="Calibri"/>
              </a:rPr>
              <a:t>02</a:t>
            </a:r>
            <a:endParaRPr b="0" lang="en-US" sz="22000" spc="-1" strike="noStrike">
              <a:solidFill>
                <a:srgbClr val="ffffff"/>
              </a:solidFill>
              <a:latin typeface="Arial"/>
            </a:endParaRPr>
          </a:p>
        </p:txBody>
      </p:sp>
      <p:sp>
        <p:nvSpPr>
          <p:cNvPr id="184" name="Shape 1"/>
          <p:cNvSpPr/>
          <p:nvPr/>
        </p:nvSpPr>
        <p:spPr>
          <a:xfrm>
            <a:off x="0" y="0"/>
            <a:ext cx="145800" cy="5143320"/>
          </a:xfrm>
          <a:prstGeom prst="rect">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5" name="Shape 2"/>
          <p:cNvSpPr/>
          <p:nvPr/>
        </p:nvSpPr>
        <p:spPr>
          <a:xfrm>
            <a:off x="365760" y="365760"/>
            <a:ext cx="1645560" cy="328680"/>
          </a:xfrm>
          <a:prstGeom prst="roundRect">
            <a:avLst>
              <a:gd name="adj" fmla="val 22222"/>
            </a:avLst>
          </a:prstGeom>
          <a:solidFill>
            <a:srgbClr val="2c5282">
              <a:alpha val="80000"/>
            </a:srgbClr>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6" name="Text 3"/>
          <p:cNvSpPr/>
          <p:nvPr/>
        </p:nvSpPr>
        <p:spPr>
          <a:xfrm>
            <a:off x="365760" y="365760"/>
            <a:ext cx="16455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CHAPTER 2</a:t>
            </a:r>
            <a:endParaRPr b="0" lang="en-US" sz="1100" spc="-1" strike="noStrike">
              <a:solidFill>
                <a:srgbClr val="ffffff"/>
              </a:solidFill>
              <a:latin typeface="Arial"/>
            </a:endParaRPr>
          </a:p>
        </p:txBody>
      </p:sp>
      <p:sp>
        <p:nvSpPr>
          <p:cNvPr id="187" name="Text 4"/>
          <p:cNvSpPr/>
          <p:nvPr/>
        </p:nvSpPr>
        <p:spPr>
          <a:xfrm>
            <a:off x="365760" y="914400"/>
            <a:ext cx="68576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ffffff"/>
                </a:solidFill>
                <a:latin typeface="Calibri"/>
                <a:ea typeface="Calibri"/>
              </a:rPr>
              <a:t>The Product Maze</a:t>
            </a:r>
            <a:endParaRPr b="0" lang="en-US" sz="4000" spc="-1" strike="noStrike">
              <a:solidFill>
                <a:srgbClr val="ffffff"/>
              </a:solidFill>
              <a:latin typeface="Arial"/>
            </a:endParaRPr>
          </a:p>
        </p:txBody>
      </p:sp>
      <p:sp>
        <p:nvSpPr>
          <p:cNvPr id="188" name="Text 5"/>
          <p:cNvSpPr/>
          <p:nvPr/>
        </p:nvSpPr>
        <p:spPr>
          <a:xfrm>
            <a:off x="365760" y="1901880"/>
            <a:ext cx="6857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2c5282"/>
                </a:solidFill>
                <a:latin typeface="Calibri"/>
                <a:ea typeface="Calibri"/>
              </a:rPr>
              <a:t>Each finished car hides a chain of hidden dependencies</a:t>
            </a:r>
            <a:endParaRPr b="0" lang="en-US" sz="1800" spc="-1" strike="noStrike">
              <a:solidFill>
                <a:srgbClr val="ffffff"/>
              </a:solidFill>
              <a:latin typeface="Arial"/>
            </a:endParaRPr>
          </a:p>
        </p:txBody>
      </p:sp>
      <p:sp>
        <p:nvSpPr>
          <p:cNvPr id="189" name="Shape 6"/>
          <p:cNvSpPr/>
          <p:nvPr/>
        </p:nvSpPr>
        <p:spPr>
          <a:xfrm>
            <a:off x="365760" y="2578680"/>
            <a:ext cx="6857640" cy="2029680"/>
          </a:xfrm>
          <a:prstGeom prst="rect">
            <a:avLst/>
          </a:prstGeom>
          <a:solidFill>
            <a:srgbClr val="1e3a5f"/>
          </a:solidFill>
          <a:ln w="12700">
            <a:solidFill>
              <a:srgbClr val="2c5282"/>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0" name="Text 7"/>
          <p:cNvSpPr/>
          <p:nvPr/>
        </p:nvSpPr>
        <p:spPr>
          <a:xfrm>
            <a:off x="548640" y="2688480"/>
            <a:ext cx="6491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2c5282"/>
                </a:solidFill>
                <a:latin typeface="Calibri"/>
                <a:ea typeface="Calibri"/>
              </a:rPr>
              <a:t>What the operations team is asking:</a:t>
            </a:r>
            <a:endParaRPr b="0" lang="en-US" sz="1000" spc="-1" strike="noStrike">
              <a:solidFill>
                <a:srgbClr val="ffffff"/>
              </a:solidFill>
              <a:latin typeface="Arial"/>
            </a:endParaRPr>
          </a:p>
        </p:txBody>
      </p:sp>
      <p:sp>
        <p:nvSpPr>
          <p:cNvPr id="191" name="Text 8"/>
          <p:cNvSpPr/>
          <p:nvPr/>
        </p:nvSpPr>
        <p:spPr>
          <a:xfrm>
            <a:off x="548640" y="2999160"/>
            <a:ext cx="64918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bee3f8"/>
                </a:solidFill>
                <a:latin typeface="Calibri"/>
                <a:ea typeface="Calibri"/>
              </a:rPr>
              <a:t>"We have 28,049 product SKUs. But how complex are they really? How many components does each car depend on at tier 1? At tier 2? Which component families does every car in our portfolio share — and therefore which supplier failure would cascade across everything we build?"</a:t>
            </a:r>
            <a:endParaRPr b="0" lang="en-US" sz="1300" spc="-1" strike="noStrike">
              <a:solidFill>
                <a:srgbClr val="ffffff"/>
              </a:solidFill>
              <a:latin typeface="Arial"/>
            </a:endParaRPr>
          </a:p>
        </p:txBody>
      </p:sp>
      <p:sp>
        <p:nvSpPr>
          <p:cNvPr id="192" name="Text 9"/>
          <p:cNvSpPr/>
          <p:nvPr/>
        </p:nvSpPr>
        <p:spPr>
          <a:xfrm>
            <a:off x="274320" y="4919400"/>
            <a:ext cx="85950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93"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4" name="Shape 1"/>
          <p:cNvSpPr/>
          <p:nvPr/>
        </p:nvSpPr>
        <p:spPr>
          <a:xfrm>
            <a:off x="274320" y="137160"/>
            <a:ext cx="959760" cy="328680"/>
          </a:xfrm>
          <a:prstGeom prst="roundRect">
            <a:avLst>
              <a:gd name="adj" fmla="val 19444"/>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5"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2</a:t>
            </a:r>
            <a:endParaRPr b="0" lang="en-US" sz="1000" spc="-1" strike="noStrike">
              <a:solidFill>
                <a:srgbClr val="ffffff"/>
              </a:solidFill>
              <a:latin typeface="Arial"/>
            </a:endParaRPr>
          </a:p>
        </p:txBody>
      </p:sp>
      <p:sp>
        <p:nvSpPr>
          <p:cNvPr id="196"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BOM Width by Product Group — How complex are our dependencies?</a:t>
            </a:r>
            <a:endParaRPr b="0" lang="en-US" sz="1500" spc="-1" strike="noStrike">
              <a:solidFill>
                <a:srgbClr val="ffffff"/>
              </a:solidFill>
              <a:latin typeface="Arial"/>
            </a:endParaRPr>
          </a:p>
        </p:txBody>
      </p:sp>
      <p:sp>
        <p:nvSpPr>
          <p:cNvPr id="197" name="Shape 4"/>
          <p:cNvSpPr/>
          <p:nvPr/>
        </p:nvSpPr>
        <p:spPr>
          <a:xfrm>
            <a:off x="255960" y="749880"/>
            <a:ext cx="8631720" cy="347040"/>
          </a:xfrm>
          <a:prstGeom prst="rect">
            <a:avLst/>
          </a:prstGeom>
          <a:solidFill>
            <a:srgbClr val="162032"/>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8"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ffffff"/>
              </a:solidFill>
              <a:latin typeface="Arial"/>
            </a:endParaRPr>
          </a:p>
        </p:txBody>
      </p:sp>
      <p:sp>
        <p:nvSpPr>
          <p:cNvPr id="199"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f6ad55"/>
                </a:solidFill>
                <a:latin typeface="Calibri"/>
                <a:ea typeface="Calibri"/>
              </a:rPr>
              <a:t>Which product groups have the most components to source and coordinate?</a:t>
            </a:r>
            <a:endParaRPr b="0" lang="en-US" sz="1000" spc="-1" strike="noStrike">
              <a:solidFill>
                <a:srgbClr val="ffffff"/>
              </a:solidFill>
              <a:latin typeface="Arial"/>
            </a:endParaRPr>
          </a:p>
        </p:txBody>
      </p:sp>
      <p:sp>
        <p:nvSpPr>
          <p:cNvPr id="200" name="Shape 7"/>
          <p:cNvSpPr/>
          <p:nvPr/>
        </p:nvSpPr>
        <p:spPr>
          <a:xfrm>
            <a:off x="255960" y="1134000"/>
            <a:ext cx="8631720" cy="292320"/>
          </a:xfrm>
          <a:prstGeom prst="rect">
            <a:avLst/>
          </a:prstGeom>
          <a:solidFill>
            <a:srgbClr val="0f2440"/>
          </a:solidFill>
          <a:ln w="635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1"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02" name="Image 0" descr="/home/claude/eda2_chart.png"/>
          <p:cNvPicPr/>
          <p:nvPr/>
        </p:nvPicPr>
        <p:blipFill>
          <a:blip r:embed="rId1"/>
          <a:stretch/>
        </p:blipFill>
        <p:spPr>
          <a:xfrm>
            <a:off x="292680" y="1572840"/>
            <a:ext cx="5047200" cy="2815920"/>
          </a:xfrm>
          <a:prstGeom prst="rect">
            <a:avLst/>
          </a:prstGeom>
          <a:ln w="0">
            <a:noFill/>
          </a:ln>
        </p:spPr>
      </p:pic>
      <p:sp>
        <p:nvSpPr>
          <p:cNvPr id="203" name="Shape 11"/>
          <p:cNvSpPr/>
          <p:nvPr/>
        </p:nvSpPr>
        <p:spPr>
          <a:xfrm>
            <a:off x="5559480" y="1536120"/>
            <a:ext cx="3328200" cy="2889000"/>
          </a:xfrm>
          <a:prstGeom prst="rect">
            <a:avLst/>
          </a:prstGeom>
          <a:solidFill>
            <a:srgbClr val="1e3a5f"/>
          </a:solidFill>
          <a:ln w="6350">
            <a:solidFill>
              <a:srgbClr val="2c5282"/>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4" name="Shape 12"/>
          <p:cNvSpPr/>
          <p:nvPr/>
        </p:nvSpPr>
        <p:spPr>
          <a:xfrm>
            <a:off x="5559480" y="1536120"/>
            <a:ext cx="3328200" cy="310680"/>
          </a:xfrm>
          <a:prstGeom prst="rect">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5"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ffffff"/>
              </a:solidFill>
              <a:latin typeface="Arial"/>
            </a:endParaRPr>
          </a:p>
        </p:txBody>
      </p:sp>
      <p:sp>
        <p:nvSpPr>
          <p:cNvPr id="206" name="Shape 14"/>
          <p:cNvSpPr/>
          <p:nvPr/>
        </p:nvSpPr>
        <p:spPr>
          <a:xfrm>
            <a:off x="5669280" y="197496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7"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car: 28,000 products, avg 3.1 direct dependencies — every car needs engine + gear + seat + battery</a:t>
            </a:r>
            <a:endParaRPr b="0" lang="en-US" sz="950" spc="-1" strike="noStrike">
              <a:solidFill>
                <a:srgbClr val="ffffff"/>
              </a:solidFill>
              <a:latin typeface="Arial"/>
            </a:endParaRPr>
          </a:p>
        </p:txBody>
      </p:sp>
      <p:sp>
        <p:nvSpPr>
          <p:cNvPr id="208" name="Shape 16"/>
          <p:cNvSpPr/>
          <p:nvPr/>
        </p:nvSpPr>
        <p:spPr>
          <a:xfrm>
            <a:off x="5669280" y="241416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9"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battery: 1 SKU with avg 4.0 children — highest first-hop fan-out of any group</a:t>
            </a:r>
            <a:endParaRPr b="0" lang="en-US" sz="950" spc="-1" strike="noStrike">
              <a:solidFill>
                <a:srgbClr val="ffffff"/>
              </a:solidFill>
              <a:latin typeface="Arial"/>
            </a:endParaRPr>
          </a:p>
        </p:txBody>
      </p:sp>
      <p:sp>
        <p:nvSpPr>
          <p:cNvPr id="210" name="Shape 18"/>
          <p:cNvSpPr/>
          <p:nvPr/>
        </p:nvSpPr>
        <p:spPr>
          <a:xfrm>
            <a:off x="5669280" y="285300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11"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engine and gear: avg 1.0 children each — simplest upstream chains in the network</a:t>
            </a:r>
            <a:endParaRPr b="0" lang="en-US" sz="950" spc="-1" strike="noStrike">
              <a:solidFill>
                <a:srgbClr val="ffffff"/>
              </a:solidFill>
              <a:latin typeface="Arial"/>
            </a:endParaRPr>
          </a:p>
        </p:txBody>
      </p:sp>
      <p:sp>
        <p:nvSpPr>
          <p:cNvPr id="212" name="Shape 20"/>
          <p:cNvSpPr/>
          <p:nvPr/>
        </p:nvSpPr>
        <p:spPr>
          <a:xfrm>
            <a:off x="5669280" y="329184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13"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seat: avg 2.0 children — requires 2 sub-components per variant before reaching ZP7</a:t>
            </a:r>
            <a:endParaRPr b="0" lang="en-US" sz="950" spc="-1" strike="noStrike">
              <a:solidFill>
                <a:srgbClr val="ffffff"/>
              </a:solidFill>
              <a:latin typeface="Arial"/>
            </a:endParaRPr>
          </a:p>
        </p:txBody>
      </p:sp>
      <p:sp>
        <p:nvSpPr>
          <p:cNvPr id="214" name="Shape 22"/>
          <p:cNvSpPr/>
          <p:nvPr/>
        </p:nvSpPr>
        <p:spPr>
          <a:xfrm>
            <a:off x="5559480" y="3675960"/>
            <a:ext cx="3328200" cy="694440"/>
          </a:xfrm>
          <a:prstGeom prst="rect">
            <a:avLst/>
          </a:prstGeom>
          <a:solidFill>
            <a:srgbClr val="0d2540"/>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15"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c5282"/>
                </a:solidFill>
                <a:latin typeface="Calibri"/>
                <a:ea typeface="Calibri"/>
              </a:rPr>
              <a:t>Story insight</a:t>
            </a:r>
            <a:endParaRPr b="0" lang="en-US" sz="900" spc="-1" strike="noStrike">
              <a:solidFill>
                <a:srgbClr val="ffffff"/>
              </a:solidFill>
              <a:latin typeface="Arial"/>
            </a:endParaRPr>
          </a:p>
        </p:txBody>
      </p:sp>
      <p:sp>
        <p:nvSpPr>
          <p:cNvPr id="216"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bee3f8"/>
                </a:solidFill>
                <a:latin typeface="Calibri"/>
                <a:ea typeface="Calibri"/>
              </a:rPr>
              <a:t>Dependency complexity is not uniform. Finished cars and battery components are where coordination burden is highest — and where disruption blast radius is widest.</a:t>
            </a:r>
            <a:endParaRPr b="0" lang="en-US" sz="950" spc="-1" strike="noStrike">
              <a:solidFill>
                <a:srgbClr val="ffffff"/>
              </a:solidFill>
              <a:latin typeface="Arial"/>
            </a:endParaRPr>
          </a:p>
        </p:txBody>
      </p:sp>
      <p:sp>
        <p:nvSpPr>
          <p:cNvPr id="217"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218"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19" name="Shape 1"/>
          <p:cNvSpPr/>
          <p:nvPr/>
        </p:nvSpPr>
        <p:spPr>
          <a:xfrm>
            <a:off x="274320" y="137160"/>
            <a:ext cx="959760" cy="328680"/>
          </a:xfrm>
          <a:prstGeom prst="roundRect">
            <a:avLst>
              <a:gd name="adj" fmla="val 19444"/>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0"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3</a:t>
            </a:r>
            <a:endParaRPr b="0" lang="en-US" sz="1000" spc="-1" strike="noStrike">
              <a:solidFill>
                <a:srgbClr val="000000"/>
              </a:solidFill>
              <a:latin typeface="Arial"/>
            </a:endParaRPr>
          </a:p>
        </p:txBody>
      </p:sp>
      <p:sp>
        <p:nvSpPr>
          <p:cNvPr id="221"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Top Products by Tier-1 Fan-Out — Which SKUs are most procurement-intensive?</a:t>
            </a:r>
            <a:endParaRPr b="0" lang="en-US" sz="1500" spc="-1" strike="noStrike">
              <a:solidFill>
                <a:srgbClr val="000000"/>
              </a:solidFill>
              <a:latin typeface="Arial"/>
            </a:endParaRPr>
          </a:p>
        </p:txBody>
      </p:sp>
      <p:sp>
        <p:nvSpPr>
          <p:cNvPr id="222"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3"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224"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Which specific products require the most direct supplier relationships to build?</a:t>
            </a:r>
            <a:endParaRPr b="0" lang="en-US" sz="1000" spc="-1" strike="noStrike">
              <a:solidFill>
                <a:srgbClr val="000000"/>
              </a:solidFill>
              <a:latin typeface="Arial"/>
            </a:endParaRPr>
          </a:p>
        </p:txBody>
      </p:sp>
      <p:sp>
        <p:nvSpPr>
          <p:cNvPr id="225"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6"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27" name="Image 0" descr="/home/claude/eda3.png"/>
          <p:cNvPicPr/>
          <p:nvPr/>
        </p:nvPicPr>
        <p:blipFill>
          <a:blip r:embed="rId1"/>
          <a:stretch/>
        </p:blipFill>
        <p:spPr>
          <a:xfrm>
            <a:off x="292680" y="1572840"/>
            <a:ext cx="5047200" cy="2815920"/>
          </a:xfrm>
          <a:prstGeom prst="rect">
            <a:avLst/>
          </a:prstGeom>
          <a:ln w="0">
            <a:noFill/>
          </a:ln>
        </p:spPr>
      </p:pic>
      <p:sp>
        <p:nvSpPr>
          <p:cNvPr id="228" name="Shape 11"/>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9" name="Shape 12"/>
          <p:cNvSpPr/>
          <p:nvPr/>
        </p:nvSpPr>
        <p:spPr>
          <a:xfrm>
            <a:off x="5559480" y="1536120"/>
            <a:ext cx="3328200" cy="310680"/>
          </a:xfrm>
          <a:prstGeom prst="rect">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0"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231" name="Shape 14"/>
          <p:cNvSpPr/>
          <p:nvPr/>
        </p:nvSpPr>
        <p:spPr>
          <a:xfrm>
            <a:off x="5669280" y="197496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2"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Top 5 products will show max tier-1 fan-out — expected 4 direct dependencies per car SKU</a:t>
            </a:r>
            <a:endParaRPr b="0" lang="en-US" sz="950" spc="-1" strike="noStrike">
              <a:solidFill>
                <a:srgbClr val="000000"/>
              </a:solidFill>
              <a:latin typeface="Arial"/>
            </a:endParaRPr>
          </a:p>
        </p:txBody>
      </p:sp>
      <p:sp>
        <p:nvSpPr>
          <p:cNvPr id="233" name="Shape 16"/>
          <p:cNvSpPr/>
          <p:nvPr/>
        </p:nvSpPr>
        <p:spPr>
          <a:xfrm>
            <a:off x="5669280" y="241416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4"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Products at nDirect = 4 require engine, gear, battery and seat simultaneously to build</a:t>
            </a:r>
            <a:endParaRPr b="0" lang="en-US" sz="950" spc="-1" strike="noStrike">
              <a:solidFill>
                <a:srgbClr val="000000"/>
              </a:solidFill>
              <a:latin typeface="Arial"/>
            </a:endParaRPr>
          </a:p>
        </p:txBody>
      </p:sp>
      <p:sp>
        <p:nvSpPr>
          <p:cNvPr id="235" name="Shape 18"/>
          <p:cNvSpPr/>
          <p:nvPr/>
        </p:nvSpPr>
        <p:spPr>
          <a:xfrm>
            <a:off x="5669280" y="285300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6"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Any one of those 4 sources failing stops that specific car SKU immediately</a:t>
            </a:r>
            <a:endParaRPr b="0" lang="en-US" sz="950" spc="-1" strike="noStrike">
              <a:solidFill>
                <a:srgbClr val="000000"/>
              </a:solidFill>
              <a:latin typeface="Arial"/>
            </a:endParaRPr>
          </a:p>
        </p:txBody>
      </p:sp>
      <p:sp>
        <p:nvSpPr>
          <p:cNvPr id="237" name="Shape 20"/>
          <p:cNvSpPr/>
          <p:nvPr/>
        </p:nvSpPr>
        <p:spPr>
          <a:xfrm>
            <a:off x="5669280" y="329184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38"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Products with nDirect = 0 are leaf nodes — raw sub-components, nothing below them in BOM</a:t>
            </a:r>
            <a:endParaRPr b="0" lang="en-US" sz="950" spc="-1" strike="noStrike">
              <a:solidFill>
                <a:srgbClr val="000000"/>
              </a:solidFill>
              <a:latin typeface="Arial"/>
            </a:endParaRPr>
          </a:p>
        </p:txBody>
      </p:sp>
      <p:sp>
        <p:nvSpPr>
          <p:cNvPr id="239" name="Shape 22"/>
          <p:cNvSpPr/>
          <p:nvPr/>
        </p:nvSpPr>
        <p:spPr>
          <a:xfrm>
            <a:off x="5559480" y="3675960"/>
            <a:ext cx="3328200" cy="694440"/>
          </a:xfrm>
          <a:prstGeom prst="rect">
            <a:avLst/>
          </a:prstGeom>
          <a:solidFill>
            <a:srgbClr val="ebf4ff"/>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0"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c5282"/>
                </a:solidFill>
                <a:latin typeface="Calibri"/>
                <a:ea typeface="Calibri"/>
              </a:rPr>
              <a:t>Story insight</a:t>
            </a:r>
            <a:endParaRPr b="0" lang="en-US" sz="900" spc="-1" strike="noStrike">
              <a:solidFill>
                <a:srgbClr val="000000"/>
              </a:solidFill>
              <a:latin typeface="Arial"/>
            </a:endParaRPr>
          </a:p>
        </p:txBody>
      </p:sp>
      <p:sp>
        <p:nvSpPr>
          <p:cNvPr id="241"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Every finished car is one missed delivery away from stopping. There is no production redundancy built into the BOM — all 4 components must arrive together.</a:t>
            </a:r>
            <a:endParaRPr b="0" lang="en-US" sz="950" spc="-1" strike="noStrike">
              <a:solidFill>
                <a:srgbClr val="000000"/>
              </a:solidFill>
              <a:latin typeface="Arial"/>
            </a:endParaRPr>
          </a:p>
        </p:txBody>
      </p:sp>
      <p:sp>
        <p:nvSpPr>
          <p:cNvPr id="242"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243"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4" name="Shape 1"/>
          <p:cNvSpPr/>
          <p:nvPr/>
        </p:nvSpPr>
        <p:spPr>
          <a:xfrm>
            <a:off x="274320" y="137160"/>
            <a:ext cx="959760" cy="328680"/>
          </a:xfrm>
          <a:prstGeom prst="roundRect">
            <a:avLst>
              <a:gd name="adj" fmla="val 19444"/>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5"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4</a:t>
            </a:r>
            <a:endParaRPr b="0" lang="en-US" sz="1000" spc="-1" strike="noStrike">
              <a:solidFill>
                <a:srgbClr val="000000"/>
              </a:solidFill>
              <a:latin typeface="Arial"/>
            </a:endParaRPr>
          </a:p>
        </p:txBody>
      </p:sp>
      <p:sp>
        <p:nvSpPr>
          <p:cNvPr id="246"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Car BOM by Component Group — Which supplier families does the whole fleet depend on?</a:t>
            </a:r>
            <a:endParaRPr b="0" lang="en-US" sz="1500" spc="-1" strike="noStrike">
              <a:solidFill>
                <a:srgbClr val="000000"/>
              </a:solidFill>
              <a:latin typeface="Arial"/>
            </a:endParaRPr>
          </a:p>
        </p:txBody>
      </p:sp>
      <p:sp>
        <p:nvSpPr>
          <p:cNvPr id="247"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8"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249"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If we lose a component family entirely, how many car models are affected?</a:t>
            </a:r>
            <a:endParaRPr b="0" lang="en-US" sz="1000" spc="-1" strike="noStrike">
              <a:solidFill>
                <a:srgbClr val="000000"/>
              </a:solidFill>
              <a:latin typeface="Arial"/>
            </a:endParaRPr>
          </a:p>
        </p:txBody>
      </p:sp>
      <p:sp>
        <p:nvSpPr>
          <p:cNvPr id="250"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1"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52" name="Image 0" descr="/home/claude/eda4_chart.png"/>
          <p:cNvPicPr/>
          <p:nvPr/>
        </p:nvPicPr>
        <p:blipFill>
          <a:blip r:embed="rId1"/>
          <a:stretch/>
        </p:blipFill>
        <p:spPr>
          <a:xfrm>
            <a:off x="292680" y="1572840"/>
            <a:ext cx="5047200" cy="2815920"/>
          </a:xfrm>
          <a:prstGeom prst="rect">
            <a:avLst/>
          </a:prstGeom>
          <a:ln w="0">
            <a:noFill/>
          </a:ln>
        </p:spPr>
      </p:pic>
      <p:sp>
        <p:nvSpPr>
          <p:cNvPr id="253" name="Shape 11"/>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4" name="Shape 12"/>
          <p:cNvSpPr/>
          <p:nvPr/>
        </p:nvSpPr>
        <p:spPr>
          <a:xfrm>
            <a:off x="5559480" y="1536120"/>
            <a:ext cx="3328200" cy="310680"/>
          </a:xfrm>
          <a:prstGeom prst="rect">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5"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256" name="Shape 14"/>
          <p:cNvSpPr/>
          <p:nvPr/>
        </p:nvSpPr>
        <p:spPr>
          <a:xfrm>
            <a:off x="5669280" y="197496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7"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engine, gear and seat expected at 28,000 edges each — every single car depends on all three</a:t>
            </a:r>
            <a:endParaRPr b="0" lang="en-US" sz="950" spc="-1" strike="noStrike">
              <a:solidFill>
                <a:srgbClr val="000000"/>
              </a:solidFill>
              <a:latin typeface="Arial"/>
            </a:endParaRPr>
          </a:p>
        </p:txBody>
      </p:sp>
      <p:sp>
        <p:nvSpPr>
          <p:cNvPr id="258" name="Shape 16"/>
          <p:cNvSpPr/>
          <p:nvPr/>
        </p:nvSpPr>
        <p:spPr>
          <a:xfrm>
            <a:off x="5669280" y="241416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9"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battery expected at ~3,003 edges — only a subset of cars have direct battery dependency</a:t>
            </a:r>
            <a:endParaRPr b="0" lang="en-US" sz="950" spc="-1" strike="noStrike">
              <a:solidFill>
                <a:srgbClr val="000000"/>
              </a:solidFill>
              <a:latin typeface="Arial"/>
            </a:endParaRPr>
          </a:p>
        </p:txBody>
      </p:sp>
      <p:sp>
        <p:nvSpPr>
          <p:cNvPr id="260" name="Shape 18"/>
          <p:cNvSpPr/>
          <p:nvPr/>
        </p:nvSpPr>
        <p:spPr>
          <a:xfrm>
            <a:off x="5669280" y="285300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1"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Universal dependencies (engine/gear/seat) create fleet-wide exposure to any single failure</a:t>
            </a:r>
            <a:endParaRPr b="0" lang="en-US" sz="950" spc="-1" strike="noStrike">
              <a:solidFill>
                <a:srgbClr val="000000"/>
              </a:solidFill>
              <a:latin typeface="Arial"/>
            </a:endParaRPr>
          </a:p>
        </p:txBody>
      </p:sp>
      <p:sp>
        <p:nvSpPr>
          <p:cNvPr id="262" name="Shape 20"/>
          <p:cNvSpPr/>
          <p:nvPr/>
        </p:nvSpPr>
        <p:spPr>
          <a:xfrm>
            <a:off x="5669280" y="3291840"/>
            <a:ext cx="127800" cy="127800"/>
          </a:xfrm>
          <a:prstGeom prst="ellipse">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3"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Subset dependency (battery) creates targeted exposure for specific vehicle variants only</a:t>
            </a:r>
            <a:endParaRPr b="0" lang="en-US" sz="950" spc="-1" strike="noStrike">
              <a:solidFill>
                <a:srgbClr val="000000"/>
              </a:solidFill>
              <a:latin typeface="Arial"/>
            </a:endParaRPr>
          </a:p>
        </p:txBody>
      </p:sp>
      <p:sp>
        <p:nvSpPr>
          <p:cNvPr id="264" name="Shape 22"/>
          <p:cNvSpPr/>
          <p:nvPr/>
        </p:nvSpPr>
        <p:spPr>
          <a:xfrm>
            <a:off x="5559480" y="3675960"/>
            <a:ext cx="3328200" cy="694440"/>
          </a:xfrm>
          <a:prstGeom prst="rect">
            <a:avLst/>
          </a:prstGeom>
          <a:solidFill>
            <a:srgbClr val="ebf4ff"/>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5"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c5282"/>
                </a:solidFill>
                <a:latin typeface="Calibri"/>
                <a:ea typeface="Calibri"/>
              </a:rPr>
              <a:t>Story insight</a:t>
            </a:r>
            <a:endParaRPr b="0" lang="en-US" sz="900" spc="-1" strike="noStrike">
              <a:solidFill>
                <a:srgbClr val="000000"/>
              </a:solidFill>
              <a:latin typeface="Arial"/>
            </a:endParaRPr>
          </a:p>
        </p:txBody>
      </p:sp>
      <p:sp>
        <p:nvSpPr>
          <p:cNvPr id="266"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Engine, gear and seat are the three components that, if lost, stop every car we make. This is the core vulnerability we will carry forward into the GDS analysis.</a:t>
            </a:r>
            <a:endParaRPr b="0" lang="en-US" sz="950" spc="-1" strike="noStrike">
              <a:solidFill>
                <a:srgbClr val="000000"/>
              </a:solidFill>
              <a:latin typeface="Arial"/>
            </a:endParaRPr>
          </a:p>
        </p:txBody>
      </p:sp>
      <p:sp>
        <p:nvSpPr>
          <p:cNvPr id="267"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68" name="Text 0"/>
          <p:cNvSpPr/>
          <p:nvPr/>
        </p:nvSpPr>
        <p:spPr>
          <a:xfrm>
            <a:off x="5943600" y="182880"/>
            <a:ext cx="3200040" cy="4114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0" spc="-1" strike="noStrike">
                <a:solidFill>
                  <a:srgbClr val="e53e3e">
                    <a:alpha val="12000"/>
                  </a:srgbClr>
                </a:solidFill>
                <a:latin typeface="Calibri"/>
                <a:ea typeface="Calibri"/>
              </a:rPr>
              <a:t>03</a:t>
            </a:r>
            <a:endParaRPr b="0" lang="en-US" sz="22000" spc="-1" strike="noStrike">
              <a:solidFill>
                <a:srgbClr val="ffffff"/>
              </a:solidFill>
              <a:latin typeface="Arial"/>
            </a:endParaRPr>
          </a:p>
        </p:txBody>
      </p:sp>
      <p:sp>
        <p:nvSpPr>
          <p:cNvPr id="269" name="Shape 1"/>
          <p:cNvSpPr/>
          <p:nvPr/>
        </p:nvSpPr>
        <p:spPr>
          <a:xfrm>
            <a:off x="0" y="0"/>
            <a:ext cx="145800" cy="5143320"/>
          </a:xfrm>
          <a:prstGeom prst="rect">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70" name="Shape 2"/>
          <p:cNvSpPr/>
          <p:nvPr/>
        </p:nvSpPr>
        <p:spPr>
          <a:xfrm>
            <a:off x="365760" y="365760"/>
            <a:ext cx="1645560" cy="328680"/>
          </a:xfrm>
          <a:prstGeom prst="roundRect">
            <a:avLst>
              <a:gd name="adj" fmla="val 22222"/>
            </a:avLst>
          </a:prstGeom>
          <a:solidFill>
            <a:srgbClr val="e53e3e">
              <a:alpha val="80000"/>
            </a:srgbClr>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71" name="Text 3"/>
          <p:cNvSpPr/>
          <p:nvPr/>
        </p:nvSpPr>
        <p:spPr>
          <a:xfrm>
            <a:off x="365760" y="365760"/>
            <a:ext cx="16455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CHAPTER 3</a:t>
            </a:r>
            <a:endParaRPr b="0" lang="en-US" sz="1100" spc="-1" strike="noStrike">
              <a:solidFill>
                <a:srgbClr val="ffffff"/>
              </a:solidFill>
              <a:latin typeface="Arial"/>
            </a:endParaRPr>
          </a:p>
        </p:txBody>
      </p:sp>
      <p:sp>
        <p:nvSpPr>
          <p:cNvPr id="272" name="Text 4"/>
          <p:cNvSpPr/>
          <p:nvPr/>
        </p:nvSpPr>
        <p:spPr>
          <a:xfrm>
            <a:off x="365760" y="914400"/>
            <a:ext cx="68576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ffffff"/>
                </a:solidFill>
                <a:latin typeface="Calibri"/>
                <a:ea typeface="Calibri"/>
              </a:rPr>
              <a:t>The Routes Between Us</a:t>
            </a:r>
            <a:endParaRPr b="0" lang="en-US" sz="4000" spc="-1" strike="noStrike">
              <a:solidFill>
                <a:srgbClr val="ffffff"/>
              </a:solidFill>
              <a:latin typeface="Arial"/>
            </a:endParaRPr>
          </a:p>
        </p:txBody>
      </p:sp>
      <p:sp>
        <p:nvSpPr>
          <p:cNvPr id="273" name="Text 5"/>
          <p:cNvSpPr/>
          <p:nvPr/>
        </p:nvSpPr>
        <p:spPr>
          <a:xfrm>
            <a:off x="365760" y="1901880"/>
            <a:ext cx="6857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e53e3e"/>
                </a:solidFill>
                <a:latin typeface="Calibri"/>
                <a:ea typeface="Calibri"/>
              </a:rPr>
              <a:t>Materials travel 11 routes between 12 facilities — but not all routes are equal</a:t>
            </a:r>
            <a:endParaRPr b="0" lang="en-US" sz="1800" spc="-1" strike="noStrike">
              <a:solidFill>
                <a:srgbClr val="ffffff"/>
              </a:solidFill>
              <a:latin typeface="Arial"/>
            </a:endParaRPr>
          </a:p>
        </p:txBody>
      </p:sp>
      <p:sp>
        <p:nvSpPr>
          <p:cNvPr id="274" name="Shape 6"/>
          <p:cNvSpPr/>
          <p:nvPr/>
        </p:nvSpPr>
        <p:spPr>
          <a:xfrm>
            <a:off x="365760" y="2578680"/>
            <a:ext cx="6857640" cy="2029680"/>
          </a:xfrm>
          <a:prstGeom prst="rect">
            <a:avLst/>
          </a:prstGeom>
          <a:solidFill>
            <a:srgbClr val="1e3a5f"/>
          </a:solidFill>
          <a:ln w="12700">
            <a:solidFill>
              <a:srgbClr val="e53e3e"/>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75" name="Text 7"/>
          <p:cNvSpPr/>
          <p:nvPr/>
        </p:nvSpPr>
        <p:spPr>
          <a:xfrm>
            <a:off x="548640" y="2688480"/>
            <a:ext cx="6491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e53e3e"/>
                </a:solidFill>
                <a:latin typeface="Calibri"/>
                <a:ea typeface="Calibri"/>
              </a:rPr>
              <a:t>What the operations team is asking:</a:t>
            </a:r>
            <a:endParaRPr b="0" lang="en-US" sz="1000" spc="-1" strike="noStrike">
              <a:solidFill>
                <a:srgbClr val="ffffff"/>
              </a:solidFill>
              <a:latin typeface="Arial"/>
            </a:endParaRPr>
          </a:p>
        </p:txBody>
      </p:sp>
      <p:sp>
        <p:nvSpPr>
          <p:cNvPr id="276" name="Text 8"/>
          <p:cNvSpPr/>
          <p:nvPr/>
        </p:nvSpPr>
        <p:spPr>
          <a:xfrm>
            <a:off x="548640" y="2999160"/>
            <a:ext cx="64918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bee3f8"/>
                </a:solidFill>
                <a:latin typeface="Calibri"/>
                <a:ea typeface="Calibri"/>
              </a:rPr>
              <a:t>"Our 12 facilities are connected by 11 logistics arcs. Each arc has a lead time — the number of periods it takes for materials to travel between sites. Which routes are dangerously slow? Which are already near their throughput ceiling? Where is the logistics system most fragile right now?"</a:t>
            </a:r>
            <a:endParaRPr b="0" lang="en-US" sz="1300" spc="-1" strike="noStrike">
              <a:solidFill>
                <a:srgbClr val="ffffff"/>
              </a:solidFill>
              <a:latin typeface="Arial"/>
            </a:endParaRPr>
          </a:p>
        </p:txBody>
      </p:sp>
      <p:sp>
        <p:nvSpPr>
          <p:cNvPr id="277" name="Text 9"/>
          <p:cNvSpPr/>
          <p:nvPr/>
        </p:nvSpPr>
        <p:spPr>
          <a:xfrm>
            <a:off x="274320" y="4919400"/>
            <a:ext cx="85950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278"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79" name="Shape 1"/>
          <p:cNvSpPr/>
          <p:nvPr/>
        </p:nvSpPr>
        <p:spPr>
          <a:xfrm>
            <a:off x="274320" y="137160"/>
            <a:ext cx="959760" cy="328680"/>
          </a:xfrm>
          <a:prstGeom prst="roundRect">
            <a:avLst>
              <a:gd name="adj" fmla="val 19444"/>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0"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5a</a:t>
            </a:r>
            <a:endParaRPr b="0" lang="en-US" sz="1000" spc="-1" strike="noStrike">
              <a:solidFill>
                <a:srgbClr val="000000"/>
              </a:solidFill>
              <a:latin typeface="Arial"/>
            </a:endParaRPr>
          </a:p>
        </p:txBody>
      </p:sp>
      <p:sp>
        <p:nvSpPr>
          <p:cNvPr id="281"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Lane-Level Logistics Profile — Which routes carry the most time risk?</a:t>
            </a:r>
            <a:endParaRPr b="0" lang="en-US" sz="1500" spc="-1" strike="noStrike">
              <a:solidFill>
                <a:srgbClr val="000000"/>
              </a:solidFill>
              <a:latin typeface="Arial"/>
            </a:endParaRPr>
          </a:p>
        </p:txBody>
      </p:sp>
      <p:sp>
        <p:nvSpPr>
          <p:cNvPr id="282"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3"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284"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If a shipment is delayed on a specific route, how long until we run out of that component?</a:t>
            </a:r>
            <a:endParaRPr b="0" lang="en-US" sz="1000" spc="-1" strike="noStrike">
              <a:solidFill>
                <a:srgbClr val="000000"/>
              </a:solidFill>
              <a:latin typeface="Arial"/>
            </a:endParaRPr>
          </a:p>
        </p:txBody>
      </p:sp>
      <p:sp>
        <p:nvSpPr>
          <p:cNvPr id="285"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6"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87" name="Image 0" descr="/home/claude/eda5a.png"/>
          <p:cNvPicPr/>
          <p:nvPr/>
        </p:nvPicPr>
        <p:blipFill>
          <a:blip r:embed="rId1"/>
          <a:stretch/>
        </p:blipFill>
        <p:spPr>
          <a:xfrm>
            <a:off x="292680" y="1572840"/>
            <a:ext cx="5047200" cy="2815920"/>
          </a:xfrm>
          <a:prstGeom prst="rect">
            <a:avLst/>
          </a:prstGeom>
          <a:ln w="0">
            <a:noFill/>
          </a:ln>
        </p:spPr>
      </p:pic>
      <p:sp>
        <p:nvSpPr>
          <p:cNvPr id="288" name="Shape 11"/>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9" name="Shape 12"/>
          <p:cNvSpPr/>
          <p:nvPr/>
        </p:nvSpPr>
        <p:spPr>
          <a:xfrm>
            <a:off x="5559480" y="1536120"/>
            <a:ext cx="3328200" cy="310680"/>
          </a:xfrm>
          <a:prstGeom prst="rect">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0"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291" name="Shape 14"/>
          <p:cNvSpPr/>
          <p:nvPr/>
        </p:nvSpPr>
        <p:spPr>
          <a:xfrm>
            <a:off x="5669280" y="197496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2"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seat-supplier_trans → seat-supplier_prod: leadTime = 23 — longest arc in the entire network</a:t>
            </a:r>
            <a:endParaRPr b="0" lang="en-US" sz="950" spc="-1" strike="noStrike">
              <a:solidFill>
                <a:srgbClr val="000000"/>
              </a:solidFill>
              <a:latin typeface="Arial"/>
            </a:endParaRPr>
          </a:p>
        </p:txBody>
      </p:sp>
      <p:sp>
        <p:nvSpPr>
          <p:cNvPr id="293" name="Shape 16"/>
          <p:cNvSpPr/>
          <p:nvPr/>
        </p:nvSpPr>
        <p:spPr>
          <a:xfrm>
            <a:off x="5669280" y="241416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4"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battery-supplier_trans → battery-supplier_prod: leadTime = 20 — second most time-exposed</a:t>
            </a:r>
            <a:endParaRPr b="0" lang="en-US" sz="950" spc="-1" strike="noStrike">
              <a:solidFill>
                <a:srgbClr val="000000"/>
              </a:solidFill>
              <a:latin typeface="Arial"/>
            </a:endParaRPr>
          </a:p>
        </p:txBody>
      </p:sp>
      <p:sp>
        <p:nvSpPr>
          <p:cNvPr id="295" name="Shape 18"/>
          <p:cNvSpPr/>
          <p:nvPr/>
        </p:nvSpPr>
        <p:spPr>
          <a:xfrm>
            <a:off x="5669280" y="285300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6"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All other 9 arcs have leadTime ≤ 2 — extreme risk is concentrated at exactly 2 transit arcs</a:t>
            </a:r>
            <a:endParaRPr b="0" lang="en-US" sz="950" spc="-1" strike="noStrike">
              <a:solidFill>
                <a:srgbClr val="000000"/>
              </a:solidFill>
              <a:latin typeface="Arial"/>
            </a:endParaRPr>
          </a:p>
        </p:txBody>
      </p:sp>
      <p:sp>
        <p:nvSpPr>
          <p:cNvPr id="297" name="Shape 20"/>
          <p:cNvSpPr/>
          <p:nvPr/>
        </p:nvSpPr>
        <p:spPr>
          <a:xfrm>
            <a:off x="5669280" y="329184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8"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ZP7 → ZP8: leadTime = 0 — final assembly to distributor is instantaneous in this model</a:t>
            </a:r>
            <a:endParaRPr b="0" lang="en-US" sz="950" spc="-1" strike="noStrike">
              <a:solidFill>
                <a:srgbClr val="000000"/>
              </a:solidFill>
              <a:latin typeface="Arial"/>
            </a:endParaRPr>
          </a:p>
        </p:txBody>
      </p:sp>
      <p:sp>
        <p:nvSpPr>
          <p:cNvPr id="299" name="Shape 22"/>
          <p:cNvSpPr/>
          <p:nvPr/>
        </p:nvSpPr>
        <p:spPr>
          <a:xfrm>
            <a:off x="5559480" y="3675960"/>
            <a:ext cx="3328200" cy="694440"/>
          </a:xfrm>
          <a:prstGeom prst="rect">
            <a:avLst/>
          </a:prstGeom>
          <a:solidFill>
            <a:srgbClr val="ebf4ff"/>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0"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e53e3e"/>
                </a:solidFill>
                <a:latin typeface="Calibri"/>
                <a:ea typeface="Calibri"/>
              </a:rPr>
              <a:t>Story insight</a:t>
            </a:r>
            <a:endParaRPr b="0" lang="en-US" sz="900" spc="-1" strike="noStrike">
              <a:solidFill>
                <a:srgbClr val="000000"/>
              </a:solidFill>
              <a:latin typeface="Arial"/>
            </a:endParaRPr>
          </a:p>
        </p:txBody>
      </p:sp>
      <p:sp>
        <p:nvSpPr>
          <p:cNvPr id="301"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Two arcs carry the entire lead-time risk of the network. A disruption on either one cannot be corrected for 20–23 periods — nearly two full planning cycles.</a:t>
            </a:r>
            <a:endParaRPr b="0" lang="en-US" sz="950" spc="-1" strike="noStrike">
              <a:solidFill>
                <a:srgbClr val="000000"/>
              </a:solidFill>
              <a:latin typeface="Arial"/>
            </a:endParaRPr>
          </a:p>
        </p:txBody>
      </p:sp>
      <p:sp>
        <p:nvSpPr>
          <p:cNvPr id="302"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303"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4" name="Shape 1"/>
          <p:cNvSpPr/>
          <p:nvPr/>
        </p:nvSpPr>
        <p:spPr>
          <a:xfrm>
            <a:off x="274320" y="137160"/>
            <a:ext cx="959760" cy="328680"/>
          </a:xfrm>
          <a:prstGeom prst="roundRect">
            <a:avLst>
              <a:gd name="adj" fmla="val 19444"/>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5"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5b</a:t>
            </a:r>
            <a:endParaRPr b="0" lang="en-US" sz="1000" spc="-1" strike="noStrike">
              <a:solidFill>
                <a:srgbClr val="000000"/>
              </a:solidFill>
              <a:latin typeface="Arial"/>
            </a:endParaRPr>
          </a:p>
        </p:txBody>
      </p:sp>
      <p:sp>
        <p:nvSpPr>
          <p:cNvPr id="306"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Lane Pressure at Period 61 — Where is capacity already being pushed hardest?</a:t>
            </a:r>
            <a:endParaRPr b="0" lang="en-US" sz="1500" spc="-1" strike="noStrike">
              <a:solidFill>
                <a:srgbClr val="000000"/>
              </a:solidFill>
              <a:latin typeface="Arial"/>
            </a:endParaRPr>
          </a:p>
        </p:txBody>
      </p:sp>
      <p:sp>
        <p:nvSpPr>
          <p:cNvPr id="307"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8"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309"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At the start of our planning window, which routes are already close to their limit?</a:t>
            </a:r>
            <a:endParaRPr b="0" lang="en-US" sz="1000" spc="-1" strike="noStrike">
              <a:solidFill>
                <a:srgbClr val="000000"/>
              </a:solidFill>
              <a:latin typeface="Arial"/>
            </a:endParaRPr>
          </a:p>
        </p:txBody>
      </p:sp>
      <p:sp>
        <p:nvSpPr>
          <p:cNvPr id="310"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1"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12" name="Image 0" descr="/home/claude/eda5b.png"/>
          <p:cNvPicPr/>
          <p:nvPr/>
        </p:nvPicPr>
        <p:blipFill>
          <a:blip r:embed="rId1"/>
          <a:stretch/>
        </p:blipFill>
        <p:spPr>
          <a:xfrm>
            <a:off x="292680" y="1572840"/>
            <a:ext cx="5047200" cy="2815920"/>
          </a:xfrm>
          <a:prstGeom prst="rect">
            <a:avLst/>
          </a:prstGeom>
          <a:ln w="0">
            <a:noFill/>
          </a:ln>
        </p:spPr>
      </p:pic>
      <p:sp>
        <p:nvSpPr>
          <p:cNvPr id="313" name="Shape 11"/>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4" name="Shape 12"/>
          <p:cNvSpPr/>
          <p:nvPr/>
        </p:nvSpPr>
        <p:spPr>
          <a:xfrm>
            <a:off x="5559480" y="1536120"/>
            <a:ext cx="3328200" cy="310680"/>
          </a:xfrm>
          <a:prstGeom prst="rect">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5" name="Text 13"/>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316" name="Shape 14"/>
          <p:cNvSpPr/>
          <p:nvPr/>
        </p:nvSpPr>
        <p:spPr>
          <a:xfrm>
            <a:off x="5669280" y="197496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7" name="Text 15"/>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seat and battery transit: capacity = 0, plannedFlow = 0 — running purely on pre-committed pipeline</a:t>
            </a:r>
            <a:endParaRPr b="0" lang="en-US" sz="950" spc="-1" strike="noStrike">
              <a:solidFill>
                <a:srgbClr val="000000"/>
              </a:solidFill>
              <a:latin typeface="Arial"/>
            </a:endParaRPr>
          </a:p>
        </p:txBody>
      </p:sp>
      <p:sp>
        <p:nvSpPr>
          <p:cNvPr id="318" name="Shape 16"/>
          <p:cNvSpPr/>
          <p:nvPr/>
        </p:nvSpPr>
        <p:spPr>
          <a:xfrm>
            <a:off x="5669280" y="241416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9" name="Text 17"/>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gear-supplier_prod → gear-supplier_inv: utilisationRatio = 0.9524 — operating at 95% capacity</a:t>
            </a:r>
            <a:endParaRPr b="0" lang="en-US" sz="950" spc="-1" strike="noStrike">
              <a:solidFill>
                <a:srgbClr val="000000"/>
              </a:solidFill>
              <a:latin typeface="Arial"/>
            </a:endParaRPr>
          </a:p>
        </p:txBody>
      </p:sp>
      <p:sp>
        <p:nvSpPr>
          <p:cNvPr id="320" name="Shape 18"/>
          <p:cNvSpPr/>
          <p:nvPr/>
        </p:nvSpPr>
        <p:spPr>
          <a:xfrm>
            <a:off x="5669280" y="285300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21" name="Text 19"/>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engine-supplier_prod → engine-supplier_inv: utilisationRatio = 0.9524 — equally stressed</a:t>
            </a:r>
            <a:endParaRPr b="0" lang="en-US" sz="950" spc="-1" strike="noStrike">
              <a:solidFill>
                <a:srgbClr val="000000"/>
              </a:solidFill>
              <a:latin typeface="Arial"/>
            </a:endParaRPr>
          </a:p>
        </p:txBody>
      </p:sp>
      <p:sp>
        <p:nvSpPr>
          <p:cNvPr id="322" name="Shape 20"/>
          <p:cNvSpPr/>
          <p:nvPr/>
        </p:nvSpPr>
        <p:spPr>
          <a:xfrm>
            <a:off x="5669280" y="3291840"/>
            <a:ext cx="127800" cy="127800"/>
          </a:xfrm>
          <a:prstGeom prst="ellipse">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23" name="Text 21"/>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Two risk profiles: time-exposed arcs (seat, battery) and capacity-stressed arcs (gear, engine)</a:t>
            </a:r>
            <a:endParaRPr b="0" lang="en-US" sz="950" spc="-1" strike="noStrike">
              <a:solidFill>
                <a:srgbClr val="000000"/>
              </a:solidFill>
              <a:latin typeface="Arial"/>
            </a:endParaRPr>
          </a:p>
        </p:txBody>
      </p:sp>
      <p:sp>
        <p:nvSpPr>
          <p:cNvPr id="324" name="Shape 22"/>
          <p:cNvSpPr/>
          <p:nvPr/>
        </p:nvSpPr>
        <p:spPr>
          <a:xfrm>
            <a:off x="5559480" y="3675960"/>
            <a:ext cx="3328200" cy="694440"/>
          </a:xfrm>
          <a:prstGeom prst="rect">
            <a:avLst/>
          </a:prstGeom>
          <a:solidFill>
            <a:srgbClr val="ebf4ff"/>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25" name="Text 23"/>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e53e3e"/>
                </a:solidFill>
                <a:latin typeface="Calibri"/>
                <a:ea typeface="Calibri"/>
              </a:rPr>
              <a:t>Story insight</a:t>
            </a:r>
            <a:endParaRPr b="0" lang="en-US" sz="900" spc="-1" strike="noStrike">
              <a:solidFill>
                <a:srgbClr val="000000"/>
              </a:solidFill>
              <a:latin typeface="Arial"/>
            </a:endParaRPr>
          </a:p>
        </p:txBody>
      </p:sp>
      <p:sp>
        <p:nvSpPr>
          <p:cNvPr id="326" name="Text 24"/>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The network starts the planning window already under pressure. Two arcs at 95% utilisation means there is almost no room to absorb a demand spike — the buffer is already gone.</a:t>
            </a:r>
            <a:endParaRPr b="0" lang="en-US" sz="950" spc="-1" strike="noStrike">
              <a:solidFill>
                <a:srgbClr val="000000"/>
              </a:solidFill>
              <a:latin typeface="Arial"/>
            </a:endParaRPr>
          </a:p>
        </p:txBody>
      </p:sp>
      <p:sp>
        <p:nvSpPr>
          <p:cNvPr id="327" name="Text 25"/>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28" name="Text 0"/>
          <p:cNvSpPr/>
          <p:nvPr/>
        </p:nvSpPr>
        <p:spPr>
          <a:xfrm>
            <a:off x="5943600" y="182880"/>
            <a:ext cx="3200040" cy="4114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0" spc="-1" strike="noStrike">
                <a:solidFill>
                  <a:srgbClr val="f6ad55">
                    <a:alpha val="12000"/>
                  </a:srgbClr>
                </a:solidFill>
                <a:latin typeface="Calibri"/>
                <a:ea typeface="Calibri"/>
              </a:rPr>
              <a:t>04</a:t>
            </a:r>
            <a:endParaRPr b="0" lang="en-US" sz="22000" spc="-1" strike="noStrike">
              <a:solidFill>
                <a:srgbClr val="ffffff"/>
              </a:solidFill>
              <a:latin typeface="Arial"/>
            </a:endParaRPr>
          </a:p>
        </p:txBody>
      </p:sp>
      <p:sp>
        <p:nvSpPr>
          <p:cNvPr id="329" name="Shape 1"/>
          <p:cNvSpPr/>
          <p:nvPr/>
        </p:nvSpPr>
        <p:spPr>
          <a:xfrm>
            <a:off x="0" y="0"/>
            <a:ext cx="145800" cy="5143320"/>
          </a:xfrm>
          <a:prstGeom prst="rect">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30" name="Shape 2"/>
          <p:cNvSpPr/>
          <p:nvPr/>
        </p:nvSpPr>
        <p:spPr>
          <a:xfrm>
            <a:off x="365760" y="365760"/>
            <a:ext cx="1645560" cy="328680"/>
          </a:xfrm>
          <a:prstGeom prst="roundRect">
            <a:avLst>
              <a:gd name="adj" fmla="val 22222"/>
            </a:avLst>
          </a:prstGeom>
          <a:solidFill>
            <a:srgbClr val="f6ad55">
              <a:alpha val="80000"/>
            </a:srgbClr>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31" name="Text 3"/>
          <p:cNvSpPr/>
          <p:nvPr/>
        </p:nvSpPr>
        <p:spPr>
          <a:xfrm>
            <a:off x="365760" y="365760"/>
            <a:ext cx="16455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CHAPTER 4</a:t>
            </a:r>
            <a:endParaRPr b="0" lang="en-US" sz="1100" spc="-1" strike="noStrike">
              <a:solidFill>
                <a:srgbClr val="ffffff"/>
              </a:solidFill>
              <a:latin typeface="Arial"/>
            </a:endParaRPr>
          </a:p>
        </p:txBody>
      </p:sp>
      <p:sp>
        <p:nvSpPr>
          <p:cNvPr id="332" name="Text 4"/>
          <p:cNvSpPr/>
          <p:nvPr/>
        </p:nvSpPr>
        <p:spPr>
          <a:xfrm>
            <a:off x="365760" y="914400"/>
            <a:ext cx="68576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ffffff"/>
                </a:solidFill>
                <a:latin typeface="Calibri"/>
                <a:ea typeface="Calibri"/>
              </a:rPr>
              <a:t>The Hidden Timeline</a:t>
            </a:r>
            <a:endParaRPr b="0" lang="en-US" sz="4000" spc="-1" strike="noStrike">
              <a:solidFill>
                <a:srgbClr val="ffffff"/>
              </a:solidFill>
              <a:latin typeface="Arial"/>
            </a:endParaRPr>
          </a:p>
        </p:txBody>
      </p:sp>
      <p:sp>
        <p:nvSpPr>
          <p:cNvPr id="333" name="Text 5"/>
          <p:cNvSpPr/>
          <p:nvPr/>
        </p:nvSpPr>
        <p:spPr>
          <a:xfrm>
            <a:off x="365760" y="1901880"/>
            <a:ext cx="6857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f6ad55"/>
                </a:solidFill>
                <a:latin typeface="Calibri"/>
                <a:ea typeface="Calibri"/>
              </a:rPr>
              <a:t>Decisions made 23 periods ago are still arriving at our factories today</a:t>
            </a:r>
            <a:endParaRPr b="0" lang="en-US" sz="1800" spc="-1" strike="noStrike">
              <a:solidFill>
                <a:srgbClr val="ffffff"/>
              </a:solidFill>
              <a:latin typeface="Arial"/>
            </a:endParaRPr>
          </a:p>
        </p:txBody>
      </p:sp>
      <p:sp>
        <p:nvSpPr>
          <p:cNvPr id="334" name="Shape 6"/>
          <p:cNvSpPr/>
          <p:nvPr/>
        </p:nvSpPr>
        <p:spPr>
          <a:xfrm>
            <a:off x="365760" y="2578680"/>
            <a:ext cx="6857640" cy="2029680"/>
          </a:xfrm>
          <a:prstGeom prst="rect">
            <a:avLst/>
          </a:prstGeom>
          <a:solidFill>
            <a:srgbClr val="1e3a5f"/>
          </a:solidFill>
          <a:ln w="12700">
            <a:solidFill>
              <a:srgbClr val="f6ad55"/>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35" name="Text 7"/>
          <p:cNvSpPr/>
          <p:nvPr/>
        </p:nvSpPr>
        <p:spPr>
          <a:xfrm>
            <a:off x="548640" y="2688480"/>
            <a:ext cx="6491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What the operations team is asking:</a:t>
            </a:r>
            <a:endParaRPr b="0" lang="en-US" sz="1000" spc="-1" strike="noStrike">
              <a:solidFill>
                <a:srgbClr val="ffffff"/>
              </a:solidFill>
              <a:latin typeface="Arial"/>
            </a:endParaRPr>
          </a:p>
        </p:txBody>
      </p:sp>
      <p:sp>
        <p:nvSpPr>
          <p:cNvPr id="336" name="Text 8"/>
          <p:cNvSpPr/>
          <p:nvPr/>
        </p:nvSpPr>
        <p:spPr>
          <a:xfrm>
            <a:off x="548640" y="2999160"/>
            <a:ext cx="64918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bee3f8"/>
                </a:solidFill>
                <a:latin typeface="Calibri"/>
                <a:ea typeface="Calibri"/>
              </a:rPr>
              <a:t>"Supply chains are not just spatial — they are deeply temporal. The planning horizon runs from period 61 to 74. But pipeline stock was ordered as far back as period 39. What does this mean for our ability to react to disruptions that happen today?"</a:t>
            </a:r>
            <a:endParaRPr b="0" lang="en-US" sz="1300" spc="-1" strike="noStrike">
              <a:solidFill>
                <a:srgbClr val="ffffff"/>
              </a:solidFill>
              <a:latin typeface="Arial"/>
            </a:endParaRPr>
          </a:p>
        </p:txBody>
      </p:sp>
      <p:sp>
        <p:nvSpPr>
          <p:cNvPr id="337" name="Text 9"/>
          <p:cNvSpPr/>
          <p:nvPr/>
        </p:nvSpPr>
        <p:spPr>
          <a:xfrm>
            <a:off x="274320" y="4919400"/>
            <a:ext cx="85950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38"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39" name="Shape 1"/>
          <p:cNvSpPr/>
          <p:nvPr/>
        </p:nvSpPr>
        <p:spPr>
          <a:xfrm>
            <a:off x="274320" y="137160"/>
            <a:ext cx="959760" cy="328680"/>
          </a:xfrm>
          <a:prstGeom prst="roundRect">
            <a:avLst>
              <a:gd name="adj" fmla="val 19444"/>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0"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6</a:t>
            </a:r>
            <a:endParaRPr b="0" lang="en-US" sz="1000" spc="-1" strike="noStrike">
              <a:solidFill>
                <a:srgbClr val="ffffff"/>
              </a:solidFill>
              <a:latin typeface="Arial"/>
            </a:endParaRPr>
          </a:p>
        </p:txBody>
      </p:sp>
      <p:sp>
        <p:nvSpPr>
          <p:cNvPr id="341"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Period Semantics — How does time work in this supply chain model?</a:t>
            </a:r>
            <a:endParaRPr b="0" lang="en-US" sz="1500" spc="-1" strike="noStrike">
              <a:solidFill>
                <a:srgbClr val="ffffff"/>
              </a:solidFill>
              <a:latin typeface="Arial"/>
            </a:endParaRPr>
          </a:p>
        </p:txBody>
      </p:sp>
      <p:sp>
        <p:nvSpPr>
          <p:cNvPr id="342" name="Shape 4"/>
          <p:cNvSpPr/>
          <p:nvPr/>
        </p:nvSpPr>
        <p:spPr>
          <a:xfrm>
            <a:off x="255960" y="749880"/>
            <a:ext cx="8631720" cy="347040"/>
          </a:xfrm>
          <a:prstGeom prst="rect">
            <a:avLst/>
          </a:prstGeom>
          <a:solidFill>
            <a:srgbClr val="162032"/>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3"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ffffff"/>
              </a:solidFill>
              <a:latin typeface="Arial"/>
            </a:endParaRPr>
          </a:p>
        </p:txBody>
      </p:sp>
      <p:sp>
        <p:nvSpPr>
          <p:cNvPr id="344"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f6ad55"/>
                </a:solidFill>
                <a:latin typeface="Calibri"/>
                <a:ea typeface="Calibri"/>
              </a:rPr>
              <a:t>When we say there is a shortage in period 63, what decisions should already have been made?</a:t>
            </a:r>
            <a:endParaRPr b="0" lang="en-US" sz="1000" spc="-1" strike="noStrike">
              <a:solidFill>
                <a:srgbClr val="ffffff"/>
              </a:solidFill>
              <a:latin typeface="Arial"/>
            </a:endParaRPr>
          </a:p>
        </p:txBody>
      </p:sp>
      <p:sp>
        <p:nvSpPr>
          <p:cNvPr id="345" name="Shape 7"/>
          <p:cNvSpPr/>
          <p:nvPr/>
        </p:nvSpPr>
        <p:spPr>
          <a:xfrm>
            <a:off x="255960" y="1134000"/>
            <a:ext cx="8631720" cy="292320"/>
          </a:xfrm>
          <a:prstGeom prst="rect">
            <a:avLst/>
          </a:prstGeom>
          <a:solidFill>
            <a:srgbClr val="0f2440"/>
          </a:solidFill>
          <a:ln w="635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6"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7" name="Shape 11"/>
          <p:cNvSpPr/>
          <p:nvPr/>
        </p:nvSpPr>
        <p:spPr>
          <a:xfrm>
            <a:off x="255960" y="1536120"/>
            <a:ext cx="5120280" cy="3106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8" name="Shape 14"/>
          <p:cNvSpPr/>
          <p:nvPr/>
        </p:nvSpPr>
        <p:spPr>
          <a:xfrm>
            <a:off x="5559480" y="1536120"/>
            <a:ext cx="3328200" cy="2889000"/>
          </a:xfrm>
          <a:prstGeom prst="rect">
            <a:avLst/>
          </a:prstGeom>
          <a:solidFill>
            <a:srgbClr val="1e3a5f"/>
          </a:solidFill>
          <a:ln w="6350">
            <a:solidFill>
              <a:srgbClr val="2c5282"/>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9" name="Shape 15"/>
          <p:cNvSpPr/>
          <p:nvPr/>
        </p:nvSpPr>
        <p:spPr>
          <a:xfrm>
            <a:off x="5559480" y="1536120"/>
            <a:ext cx="3328200" cy="310680"/>
          </a:xfrm>
          <a:prstGeom prst="rect">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50" name="Text 16"/>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ffffff"/>
              </a:solidFill>
              <a:latin typeface="Arial"/>
            </a:endParaRPr>
          </a:p>
        </p:txBody>
      </p:sp>
      <p:sp>
        <p:nvSpPr>
          <p:cNvPr id="351" name="Shape 17"/>
          <p:cNvSpPr/>
          <p:nvPr/>
        </p:nvSpPr>
        <p:spPr>
          <a:xfrm>
            <a:off x="5669280" y="1974960"/>
            <a:ext cx="127800" cy="127800"/>
          </a:xfrm>
          <a:prstGeom prst="ellipse">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52" name="Text 18"/>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Demand horizon: periods 61–74 (14 periods) — the active planning window we can control</a:t>
            </a:r>
            <a:endParaRPr b="0" lang="en-US" sz="950" spc="-1" strike="noStrike">
              <a:solidFill>
                <a:srgbClr val="ffffff"/>
              </a:solidFill>
              <a:latin typeface="Arial"/>
            </a:endParaRPr>
          </a:p>
        </p:txBody>
      </p:sp>
      <p:sp>
        <p:nvSpPr>
          <p:cNvPr id="353" name="Shape 19"/>
          <p:cNvSpPr/>
          <p:nvPr/>
        </p:nvSpPr>
        <p:spPr>
          <a:xfrm>
            <a:off x="5669280" y="2414160"/>
            <a:ext cx="127800" cy="127800"/>
          </a:xfrm>
          <a:prstGeom prst="ellipse">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54" name="Text 20"/>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Opening inventory: single snapshot at period 60 — fixed starting state before planning begins</a:t>
            </a:r>
            <a:endParaRPr b="0" lang="en-US" sz="950" spc="-1" strike="noStrike">
              <a:solidFill>
                <a:srgbClr val="ffffff"/>
              </a:solidFill>
              <a:latin typeface="Arial"/>
            </a:endParaRPr>
          </a:p>
        </p:txBody>
      </p:sp>
      <p:sp>
        <p:nvSpPr>
          <p:cNvPr id="355" name="Shape 21"/>
          <p:cNvSpPr/>
          <p:nvPr/>
        </p:nvSpPr>
        <p:spPr>
          <a:xfrm>
            <a:off x="5669280" y="2853000"/>
            <a:ext cx="127800" cy="127800"/>
          </a:xfrm>
          <a:prstGeom prst="ellipse">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56" name="Text 22"/>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INITIAL_FLOW_TO starts at period 39 — pipeline ordered 22 periods before the horizon</a:t>
            </a:r>
            <a:endParaRPr b="0" lang="en-US" sz="950" spc="-1" strike="noStrike">
              <a:solidFill>
                <a:srgbClr val="ffffff"/>
              </a:solidFill>
              <a:latin typeface="Arial"/>
            </a:endParaRPr>
          </a:p>
        </p:txBody>
      </p:sp>
      <p:sp>
        <p:nvSpPr>
          <p:cNvPr id="357" name="Shape 23"/>
          <p:cNvSpPr/>
          <p:nvPr/>
        </p:nvSpPr>
        <p:spPr>
          <a:xfrm>
            <a:off x="5669280" y="3291840"/>
            <a:ext cx="127800" cy="127800"/>
          </a:xfrm>
          <a:prstGeom prst="ellipse">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58" name="Text 24"/>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CAPACITY_AT spans full 61–74 — capacity constraints cover the entire planning window</a:t>
            </a:r>
            <a:endParaRPr b="0" lang="en-US" sz="950" spc="-1" strike="noStrike">
              <a:solidFill>
                <a:srgbClr val="ffffff"/>
              </a:solidFill>
              <a:latin typeface="Arial"/>
            </a:endParaRPr>
          </a:p>
        </p:txBody>
      </p:sp>
      <p:sp>
        <p:nvSpPr>
          <p:cNvPr id="359" name="Shape 25"/>
          <p:cNvSpPr/>
          <p:nvPr/>
        </p:nvSpPr>
        <p:spPr>
          <a:xfrm>
            <a:off x="5559480" y="3675960"/>
            <a:ext cx="3328200" cy="694440"/>
          </a:xfrm>
          <a:prstGeom prst="rect">
            <a:avLst/>
          </a:prstGeom>
          <a:solidFill>
            <a:srgbClr val="0d2540"/>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60" name="Text 26"/>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f6ad55"/>
                </a:solidFill>
                <a:latin typeface="Calibri"/>
                <a:ea typeface="Calibri"/>
              </a:rPr>
              <a:t>Story insight</a:t>
            </a:r>
            <a:endParaRPr b="0" lang="en-US" sz="900" spc="-1" strike="noStrike">
              <a:solidFill>
                <a:srgbClr val="ffffff"/>
              </a:solidFill>
              <a:latin typeface="Arial"/>
            </a:endParaRPr>
          </a:p>
        </p:txBody>
      </p:sp>
      <p:sp>
        <p:nvSpPr>
          <p:cNvPr id="361" name="Text 27"/>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bee3f8"/>
                </a:solidFill>
                <a:latin typeface="Calibri"/>
                <a:ea typeface="Calibri"/>
              </a:rPr>
              <a:t>The supply chain runs on three time layers. What we see in period 61 was set in motion at period 39. This is why early warning matters — by the time a shortage is visible, it is too late to prevent it.</a:t>
            </a:r>
            <a:endParaRPr b="0" lang="en-US" sz="950" spc="-1" strike="noStrike">
              <a:solidFill>
                <a:srgbClr val="ffffff"/>
              </a:solidFill>
              <a:latin typeface="Arial"/>
            </a:endParaRPr>
          </a:p>
        </p:txBody>
      </p:sp>
      <p:sp>
        <p:nvSpPr>
          <p:cNvPr id="362" name="Text 28"/>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pic>
        <p:nvPicPr>
          <p:cNvPr id="363" name="Image 200" descr="image9.png"/>
          <p:cNvPicPr/>
          <p:nvPr/>
        </p:nvPicPr>
        <p:blipFill>
          <a:blip r:embed="rId1"/>
          <a:stretch/>
        </p:blipFill>
        <p:spPr>
          <a:xfrm>
            <a:off x="274320" y="1536120"/>
            <a:ext cx="5083560" cy="1499760"/>
          </a:xfrm>
          <a:prstGeom prst="rect">
            <a:avLst/>
          </a:prstGeom>
          <a:ln w="0">
            <a:noFill/>
          </a:ln>
        </p:spPr>
      </p:pic>
      <p:pic>
        <p:nvPicPr>
          <p:cNvPr id="364" name="Image 201" descr="image10.png"/>
          <p:cNvPicPr/>
          <p:nvPr/>
        </p:nvPicPr>
        <p:blipFill>
          <a:blip r:embed="rId2"/>
          <a:stretch/>
        </p:blipFill>
        <p:spPr>
          <a:xfrm>
            <a:off x="274320" y="3060000"/>
            <a:ext cx="5083560" cy="13294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65" name="Text 0"/>
          <p:cNvSpPr/>
          <p:nvPr/>
        </p:nvSpPr>
        <p:spPr>
          <a:xfrm>
            <a:off x="5943600" y="182880"/>
            <a:ext cx="3200040" cy="4114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0" spc="-1" strike="noStrike">
                <a:solidFill>
                  <a:srgbClr val="dd6b20">
                    <a:alpha val="12000"/>
                  </a:srgbClr>
                </a:solidFill>
                <a:latin typeface="Calibri"/>
                <a:ea typeface="Calibri"/>
              </a:rPr>
              <a:t>05</a:t>
            </a:r>
            <a:endParaRPr b="0" lang="en-US" sz="22000" spc="-1" strike="noStrike">
              <a:solidFill>
                <a:srgbClr val="ffffff"/>
              </a:solidFill>
              <a:latin typeface="Arial"/>
            </a:endParaRPr>
          </a:p>
        </p:txBody>
      </p:sp>
      <p:sp>
        <p:nvSpPr>
          <p:cNvPr id="366" name="Shape 1"/>
          <p:cNvSpPr/>
          <p:nvPr/>
        </p:nvSpPr>
        <p:spPr>
          <a:xfrm>
            <a:off x="0" y="0"/>
            <a:ext cx="145800" cy="5143320"/>
          </a:xfrm>
          <a:prstGeom prst="rect">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67" name="Shape 2"/>
          <p:cNvSpPr/>
          <p:nvPr/>
        </p:nvSpPr>
        <p:spPr>
          <a:xfrm>
            <a:off x="365760" y="365760"/>
            <a:ext cx="1645560" cy="328680"/>
          </a:xfrm>
          <a:prstGeom prst="roundRect">
            <a:avLst>
              <a:gd name="adj" fmla="val 22222"/>
            </a:avLst>
          </a:prstGeom>
          <a:solidFill>
            <a:srgbClr val="dd6b20">
              <a:alpha val="80000"/>
            </a:srgbClr>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68" name="Text 3"/>
          <p:cNvSpPr/>
          <p:nvPr/>
        </p:nvSpPr>
        <p:spPr>
          <a:xfrm>
            <a:off x="365760" y="365760"/>
            <a:ext cx="16455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CHAPTER 5</a:t>
            </a:r>
            <a:endParaRPr b="0" lang="en-US" sz="1100" spc="-1" strike="noStrike">
              <a:solidFill>
                <a:srgbClr val="ffffff"/>
              </a:solidFill>
              <a:latin typeface="Arial"/>
            </a:endParaRPr>
          </a:p>
        </p:txBody>
      </p:sp>
      <p:sp>
        <p:nvSpPr>
          <p:cNvPr id="369" name="Text 4"/>
          <p:cNvSpPr/>
          <p:nvPr/>
        </p:nvSpPr>
        <p:spPr>
          <a:xfrm>
            <a:off x="365760" y="914400"/>
            <a:ext cx="68576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ffffff"/>
                </a:solidFill>
                <a:latin typeface="Calibri"/>
                <a:ea typeface="Calibri"/>
              </a:rPr>
              <a:t>The Buffer Zone</a:t>
            </a:r>
            <a:endParaRPr b="0" lang="en-US" sz="4000" spc="-1" strike="noStrike">
              <a:solidFill>
                <a:srgbClr val="ffffff"/>
              </a:solidFill>
              <a:latin typeface="Arial"/>
            </a:endParaRPr>
          </a:p>
        </p:txBody>
      </p:sp>
      <p:sp>
        <p:nvSpPr>
          <p:cNvPr id="370" name="Text 5"/>
          <p:cNvSpPr/>
          <p:nvPr/>
        </p:nvSpPr>
        <p:spPr>
          <a:xfrm>
            <a:off x="365760" y="1901880"/>
            <a:ext cx="6857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dd6b20"/>
                </a:solidFill>
                <a:latin typeface="Calibri"/>
                <a:ea typeface="Calibri"/>
              </a:rPr>
              <a:t>Inventory and pipeline stock are our shock absorbers — but are they enough?</a:t>
            </a:r>
            <a:endParaRPr b="0" lang="en-US" sz="1800" spc="-1" strike="noStrike">
              <a:solidFill>
                <a:srgbClr val="ffffff"/>
              </a:solidFill>
              <a:latin typeface="Arial"/>
            </a:endParaRPr>
          </a:p>
        </p:txBody>
      </p:sp>
      <p:sp>
        <p:nvSpPr>
          <p:cNvPr id="371" name="Shape 6"/>
          <p:cNvSpPr/>
          <p:nvPr/>
        </p:nvSpPr>
        <p:spPr>
          <a:xfrm>
            <a:off x="365760" y="2578680"/>
            <a:ext cx="6857640" cy="2029680"/>
          </a:xfrm>
          <a:prstGeom prst="rect">
            <a:avLst/>
          </a:prstGeom>
          <a:solidFill>
            <a:srgbClr val="1e3a5f"/>
          </a:solidFill>
          <a:ln w="12700">
            <a:solidFill>
              <a:srgbClr val="dd6b20"/>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72" name="Text 7"/>
          <p:cNvSpPr/>
          <p:nvPr/>
        </p:nvSpPr>
        <p:spPr>
          <a:xfrm>
            <a:off x="548640" y="2688480"/>
            <a:ext cx="6491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d6b20"/>
                </a:solidFill>
                <a:latin typeface="Calibri"/>
                <a:ea typeface="Calibri"/>
              </a:rPr>
              <a:t>What the operations team is asking:</a:t>
            </a:r>
            <a:endParaRPr b="0" lang="en-US" sz="1000" spc="-1" strike="noStrike">
              <a:solidFill>
                <a:srgbClr val="ffffff"/>
              </a:solidFill>
              <a:latin typeface="Arial"/>
            </a:endParaRPr>
          </a:p>
        </p:txBody>
      </p:sp>
      <p:sp>
        <p:nvSpPr>
          <p:cNvPr id="373" name="Text 8"/>
          <p:cNvSpPr/>
          <p:nvPr/>
        </p:nvSpPr>
        <p:spPr>
          <a:xfrm>
            <a:off x="548640" y="2999160"/>
            <a:ext cx="64918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bee3f8"/>
                </a:solidFill>
                <a:latin typeface="Calibri"/>
                <a:ea typeface="Calibri"/>
              </a:rPr>
              <a:t>"When a supplier fails, inventory is what keeps the assembly line running until new stock arrives. How much buffer does each facility actually hold at the start of the planning horizon? And how much stock is already in transit — committed but not yet arrived?"</a:t>
            </a:r>
            <a:endParaRPr b="0" lang="en-US" sz="1300" spc="-1" strike="noStrike">
              <a:solidFill>
                <a:srgbClr val="ffffff"/>
              </a:solidFill>
              <a:latin typeface="Arial"/>
            </a:endParaRPr>
          </a:p>
        </p:txBody>
      </p:sp>
      <p:sp>
        <p:nvSpPr>
          <p:cNvPr id="374" name="Text 9"/>
          <p:cNvSpPr/>
          <p:nvPr/>
        </p:nvSpPr>
        <p:spPr>
          <a:xfrm>
            <a:off x="274320" y="4919400"/>
            <a:ext cx="85950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375"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76" name="Shape 1"/>
          <p:cNvSpPr/>
          <p:nvPr/>
        </p:nvSpPr>
        <p:spPr>
          <a:xfrm>
            <a:off x="274320" y="137160"/>
            <a:ext cx="959760" cy="328680"/>
          </a:xfrm>
          <a:prstGeom prst="roundRect">
            <a:avLst>
              <a:gd name="adj" fmla="val 19444"/>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77"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7</a:t>
            </a:r>
            <a:endParaRPr b="0" lang="en-US" sz="1000" spc="-1" strike="noStrike">
              <a:solidFill>
                <a:srgbClr val="000000"/>
              </a:solidFill>
              <a:latin typeface="Arial"/>
            </a:endParaRPr>
          </a:p>
        </p:txBody>
      </p:sp>
      <p:sp>
        <p:nvSpPr>
          <p:cNvPr id="378"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Lane Capacity at Period 61 — Which arcs start the planning window already constrained?</a:t>
            </a:r>
            <a:endParaRPr b="0" lang="en-US" sz="1500" spc="-1" strike="noStrike">
              <a:solidFill>
                <a:srgbClr val="000000"/>
              </a:solidFill>
              <a:latin typeface="Arial"/>
            </a:endParaRPr>
          </a:p>
        </p:txBody>
      </p:sp>
      <p:sp>
        <p:nvSpPr>
          <p:cNvPr id="379"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0"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381"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At day one of our planning horizon, which supply routes are already at or near their limit?</a:t>
            </a:r>
            <a:endParaRPr b="0" lang="en-US" sz="1000" spc="-1" strike="noStrike">
              <a:solidFill>
                <a:srgbClr val="000000"/>
              </a:solidFill>
              <a:latin typeface="Arial"/>
            </a:endParaRPr>
          </a:p>
        </p:txBody>
      </p:sp>
      <p:sp>
        <p:nvSpPr>
          <p:cNvPr id="382"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3"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4" name="Shape 11"/>
          <p:cNvSpPr/>
          <p:nvPr/>
        </p:nvSpPr>
        <p:spPr>
          <a:xfrm>
            <a:off x="255960" y="1536120"/>
            <a:ext cx="5120280" cy="3106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5" name="Shape 14"/>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6" name="Shape 15"/>
          <p:cNvSpPr/>
          <p:nvPr/>
        </p:nvSpPr>
        <p:spPr>
          <a:xfrm>
            <a:off x="5559480" y="1536120"/>
            <a:ext cx="3328200" cy="310680"/>
          </a:xfrm>
          <a:prstGeom prst="rect">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7" name="Text 16"/>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388" name="Shape 17"/>
          <p:cNvSpPr/>
          <p:nvPr/>
        </p:nvSpPr>
        <p:spPr>
          <a:xfrm>
            <a:off x="5669280" y="197496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9" name="Text 18"/>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Battery production arc: 294 units/period which is lower than  other arcs at 2,100</a:t>
            </a:r>
            <a:endParaRPr b="0" lang="en-US" sz="950" spc="-1" strike="noStrike">
              <a:solidFill>
                <a:srgbClr val="000000"/>
              </a:solidFill>
              <a:latin typeface="Arial"/>
            </a:endParaRPr>
          </a:p>
        </p:txBody>
      </p:sp>
      <p:sp>
        <p:nvSpPr>
          <p:cNvPr id="390" name="Shape 19"/>
          <p:cNvSpPr/>
          <p:nvPr/>
        </p:nvSpPr>
        <p:spPr>
          <a:xfrm>
            <a:off x="5669280" y="241416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91" name="Text 20"/>
          <p:cNvSpPr/>
          <p:nvPr/>
        </p:nvSpPr>
        <p:spPr>
          <a:xfrm>
            <a:off x="5870520" y="27612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The car shipping arc with a capacity of 2000 is the 2</a:t>
            </a:r>
            <a:r>
              <a:rPr b="0" lang="en-US" sz="950" spc="-1" strike="noStrike" baseline="33000">
                <a:solidFill>
                  <a:srgbClr val="2d3748"/>
                </a:solidFill>
                <a:latin typeface="Calibri"/>
                <a:ea typeface="Calibri"/>
              </a:rPr>
              <a:t>nd</a:t>
            </a:r>
            <a:r>
              <a:rPr b="0" lang="en-US" sz="950" spc="-1" strike="noStrike">
                <a:solidFill>
                  <a:srgbClr val="2d3748"/>
                </a:solidFill>
                <a:latin typeface="Calibri"/>
                <a:ea typeface="Calibri"/>
              </a:rPr>
              <a:t> lowest however it has a lead time of 0 so it has no bottleneck problems</a:t>
            </a:r>
            <a:endParaRPr b="0" lang="en-US" sz="950" spc="-1" strike="noStrike">
              <a:solidFill>
                <a:srgbClr val="000000"/>
              </a:solidFill>
              <a:latin typeface="Arial"/>
            </a:endParaRPr>
          </a:p>
        </p:txBody>
      </p:sp>
      <p:sp>
        <p:nvSpPr>
          <p:cNvPr id="392" name="Shape 21"/>
          <p:cNvSpPr/>
          <p:nvPr/>
        </p:nvSpPr>
        <p:spPr>
          <a:xfrm>
            <a:off x="5669280" y="285300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93" name="Text 22"/>
          <p:cNvSpPr/>
          <p:nvPr/>
        </p:nvSpPr>
        <p:spPr>
          <a:xfrm>
            <a:off x="5870520" y="22860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Low capacity at period 61 means the buffer is already thin before planning even begins</a:t>
            </a:r>
            <a:endParaRPr b="0" lang="en-US" sz="950" spc="-1" strike="noStrike">
              <a:solidFill>
                <a:srgbClr val="000000"/>
              </a:solidFill>
              <a:latin typeface="Arial"/>
            </a:endParaRPr>
          </a:p>
        </p:txBody>
      </p:sp>
      <p:sp>
        <p:nvSpPr>
          <p:cNvPr id="394" name="Shape 23"/>
          <p:cNvSpPr/>
          <p:nvPr/>
        </p:nvSpPr>
        <p:spPr>
          <a:xfrm>
            <a:off x="5669280" y="329184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95" name="Text 24"/>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Arcs with zero lead time mean that there is no time lag between the nodes so transfer is very fast</a:t>
            </a:r>
            <a:endParaRPr b="0" lang="en-US" sz="950" spc="-1" strike="noStrike">
              <a:solidFill>
                <a:srgbClr val="000000"/>
              </a:solidFill>
              <a:latin typeface="Arial"/>
            </a:endParaRPr>
          </a:p>
        </p:txBody>
      </p:sp>
      <p:sp>
        <p:nvSpPr>
          <p:cNvPr id="396" name="Shape 25"/>
          <p:cNvSpPr/>
          <p:nvPr/>
        </p:nvSpPr>
        <p:spPr>
          <a:xfrm>
            <a:off x="5559480" y="3675960"/>
            <a:ext cx="3328200" cy="694440"/>
          </a:xfrm>
          <a:prstGeom prst="rect">
            <a:avLst/>
          </a:prstGeom>
          <a:solidFill>
            <a:srgbClr val="ebf4ff"/>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97" name="Text 26"/>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dd6b20"/>
                </a:solidFill>
                <a:latin typeface="Calibri"/>
                <a:ea typeface="Calibri"/>
              </a:rPr>
              <a:t>Story insight</a:t>
            </a:r>
            <a:endParaRPr b="0" lang="en-US" sz="900" spc="-1" strike="noStrike">
              <a:solidFill>
                <a:srgbClr val="000000"/>
              </a:solidFill>
              <a:latin typeface="Arial"/>
            </a:endParaRPr>
          </a:p>
        </p:txBody>
      </p:sp>
      <p:sp>
        <p:nvSpPr>
          <p:cNvPr id="398" name="Text 27"/>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Battery production is the hardest bottleneck before a single planning decision has been made. 294 units per period is a structural ceiling .</a:t>
            </a:r>
            <a:endParaRPr b="0" lang="en-US" sz="950" spc="-1" strike="noStrike">
              <a:solidFill>
                <a:srgbClr val="000000"/>
              </a:solidFill>
              <a:latin typeface="Arial"/>
            </a:endParaRPr>
          </a:p>
        </p:txBody>
      </p:sp>
      <p:sp>
        <p:nvSpPr>
          <p:cNvPr id="399" name="Text 28"/>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pic>
        <p:nvPicPr>
          <p:cNvPr id="400" name="Image 220" descr="image11.png"/>
          <p:cNvPicPr/>
          <p:nvPr/>
        </p:nvPicPr>
        <p:blipFill>
          <a:blip r:embed="rId1"/>
          <a:stretch/>
        </p:blipFill>
        <p:spPr>
          <a:xfrm>
            <a:off x="274320" y="1536120"/>
            <a:ext cx="5083560" cy="28497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401"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02" name="Shape 1"/>
          <p:cNvSpPr/>
          <p:nvPr/>
        </p:nvSpPr>
        <p:spPr>
          <a:xfrm>
            <a:off x="274320" y="137160"/>
            <a:ext cx="959760" cy="328680"/>
          </a:xfrm>
          <a:prstGeom prst="roundRect">
            <a:avLst>
              <a:gd name="adj" fmla="val 19444"/>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03"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8</a:t>
            </a:r>
            <a:endParaRPr b="0" lang="en-US" sz="1000" spc="-1" strike="noStrike">
              <a:solidFill>
                <a:srgbClr val="000000"/>
              </a:solidFill>
              <a:latin typeface="Arial"/>
            </a:endParaRPr>
          </a:p>
        </p:txBody>
      </p:sp>
      <p:sp>
        <p:nvSpPr>
          <p:cNvPr id="404"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Opening Inventory — Where is our physical buffer concentrated?</a:t>
            </a:r>
            <a:endParaRPr b="0" lang="en-US" sz="1500" spc="-1" strike="noStrike">
              <a:solidFill>
                <a:srgbClr val="000000"/>
              </a:solidFill>
              <a:latin typeface="Arial"/>
            </a:endParaRPr>
          </a:p>
        </p:txBody>
      </p:sp>
      <p:sp>
        <p:nvSpPr>
          <p:cNvPr id="405" name="Shape 4"/>
          <p:cNvSpPr/>
          <p:nvPr/>
        </p:nvSpPr>
        <p:spPr>
          <a:xfrm>
            <a:off x="255960" y="749880"/>
            <a:ext cx="8631720" cy="347040"/>
          </a:xfrm>
          <a:prstGeom prst="rect">
            <a:avLst/>
          </a:prstGeom>
          <a:solidFill>
            <a:srgbClr val="fffbf0"/>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06"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000000"/>
              </a:solidFill>
              <a:latin typeface="Arial"/>
            </a:endParaRPr>
          </a:p>
        </p:txBody>
      </p:sp>
      <p:sp>
        <p:nvSpPr>
          <p:cNvPr id="407"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2400e"/>
                </a:solidFill>
                <a:latin typeface="Calibri"/>
                <a:ea typeface="Calibri"/>
              </a:rPr>
              <a:t>At the start of the planning horizon, how much stock does each facility actually hold?</a:t>
            </a:r>
            <a:endParaRPr b="0" lang="en-US" sz="1000" spc="-1" strike="noStrike">
              <a:solidFill>
                <a:srgbClr val="000000"/>
              </a:solidFill>
              <a:latin typeface="Arial"/>
            </a:endParaRPr>
          </a:p>
        </p:txBody>
      </p:sp>
      <p:sp>
        <p:nvSpPr>
          <p:cNvPr id="408" name="Shape 7"/>
          <p:cNvSpPr/>
          <p:nvPr/>
        </p:nvSpPr>
        <p:spPr>
          <a:xfrm>
            <a:off x="255960" y="1134000"/>
            <a:ext cx="8631720" cy="292320"/>
          </a:xfrm>
          <a:prstGeom prst="rect">
            <a:avLst/>
          </a:prstGeom>
          <a:solidFill>
            <a:srgbClr val="ebf4ff"/>
          </a:solidFill>
          <a:ln w="6350">
            <a:solidFill>
              <a:srgbClr val="d1e4f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09"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0" name="Shape 11"/>
          <p:cNvSpPr/>
          <p:nvPr/>
        </p:nvSpPr>
        <p:spPr>
          <a:xfrm>
            <a:off x="255960" y="1536120"/>
            <a:ext cx="5120280" cy="3106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1" name="Shape 14"/>
          <p:cNvSpPr/>
          <p:nvPr/>
        </p:nvSpPr>
        <p:spPr>
          <a:xfrm>
            <a:off x="5559480" y="1536120"/>
            <a:ext cx="3328200" cy="2889000"/>
          </a:xfrm>
          <a:prstGeom prst="rect">
            <a:avLst/>
          </a:prstGeom>
          <a:solidFill>
            <a:srgbClr val="ffffff"/>
          </a:solidFill>
          <a:ln w="6350">
            <a:solidFill>
              <a:srgbClr val="d1e4f6"/>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2" name="Shape 15"/>
          <p:cNvSpPr/>
          <p:nvPr/>
        </p:nvSpPr>
        <p:spPr>
          <a:xfrm>
            <a:off x="5559480" y="1536120"/>
            <a:ext cx="3328200" cy="310680"/>
          </a:xfrm>
          <a:prstGeom prst="rect">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3" name="Text 16"/>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000000"/>
              </a:solidFill>
              <a:latin typeface="Arial"/>
            </a:endParaRPr>
          </a:p>
        </p:txBody>
      </p:sp>
      <p:sp>
        <p:nvSpPr>
          <p:cNvPr id="414" name="Shape 17"/>
          <p:cNvSpPr/>
          <p:nvPr/>
        </p:nvSpPr>
        <p:spPr>
          <a:xfrm>
            <a:off x="5669280" y="197496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5" name="Text 18"/>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ZP7 holds the highest opening inventory — it buffers all 4 incoming supply chains</a:t>
            </a:r>
            <a:endParaRPr b="0" lang="en-US" sz="950" spc="-1" strike="noStrike">
              <a:solidFill>
                <a:srgbClr val="000000"/>
              </a:solidFill>
              <a:latin typeface="Arial"/>
            </a:endParaRPr>
          </a:p>
        </p:txBody>
      </p:sp>
      <p:sp>
        <p:nvSpPr>
          <p:cNvPr id="416" name="Shape 19"/>
          <p:cNvSpPr/>
          <p:nvPr/>
        </p:nvSpPr>
        <p:spPr>
          <a:xfrm>
            <a:off x="5669280" y="241416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7" name="Text 20"/>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Battery inventory node is thin with only 294 units/period throughput</a:t>
            </a:r>
            <a:endParaRPr b="0" lang="en-US" sz="950" spc="-1" strike="noStrike">
              <a:solidFill>
                <a:srgbClr val="000000"/>
              </a:solidFill>
              <a:latin typeface="Arial"/>
            </a:endParaRPr>
          </a:p>
        </p:txBody>
      </p:sp>
      <p:sp>
        <p:nvSpPr>
          <p:cNvPr id="418" name="Shape 21"/>
          <p:cNvSpPr/>
          <p:nvPr/>
        </p:nvSpPr>
        <p:spPr>
          <a:xfrm>
            <a:off x="5669280" y="285300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9" name="Text 22"/>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Transit nodes (seat, battery) expected at zero — they hold no finished inventory</a:t>
            </a:r>
            <a:endParaRPr b="0" lang="en-US" sz="950" spc="-1" strike="noStrike">
              <a:solidFill>
                <a:srgbClr val="000000"/>
              </a:solidFill>
              <a:latin typeface="Arial"/>
            </a:endParaRPr>
          </a:p>
        </p:txBody>
      </p:sp>
      <p:sp>
        <p:nvSpPr>
          <p:cNvPr id="420" name="Shape 23"/>
          <p:cNvSpPr/>
          <p:nvPr/>
        </p:nvSpPr>
        <p:spPr>
          <a:xfrm>
            <a:off x="5669280" y="329184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21" name="Text 24"/>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2d3748"/>
                </a:solidFill>
                <a:latin typeface="Calibri"/>
                <a:ea typeface="Calibri"/>
              </a:rPr>
              <a:t>Thin buffers at critical nodes mean disruption impact is felt immediately, not gradually</a:t>
            </a:r>
            <a:endParaRPr b="0" lang="en-US" sz="950" spc="-1" strike="noStrike">
              <a:solidFill>
                <a:srgbClr val="000000"/>
              </a:solidFill>
              <a:latin typeface="Arial"/>
            </a:endParaRPr>
          </a:p>
        </p:txBody>
      </p:sp>
      <p:sp>
        <p:nvSpPr>
          <p:cNvPr id="422" name="Shape 25"/>
          <p:cNvSpPr/>
          <p:nvPr/>
        </p:nvSpPr>
        <p:spPr>
          <a:xfrm>
            <a:off x="5559480" y="3877560"/>
            <a:ext cx="3328200" cy="694440"/>
          </a:xfrm>
          <a:prstGeom prst="rect">
            <a:avLst/>
          </a:prstGeom>
          <a:solidFill>
            <a:srgbClr val="ebf4ff"/>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23" name="Text 26"/>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dd6b20"/>
                </a:solidFill>
                <a:latin typeface="Calibri"/>
                <a:ea typeface="Calibri"/>
              </a:rPr>
              <a:t>Story insight</a:t>
            </a:r>
            <a:endParaRPr b="0" lang="en-US" sz="900" spc="-1" strike="noStrike">
              <a:solidFill>
                <a:srgbClr val="000000"/>
              </a:solidFill>
              <a:latin typeface="Arial"/>
            </a:endParaRPr>
          </a:p>
        </p:txBody>
      </p:sp>
      <p:sp>
        <p:nvSpPr>
          <p:cNvPr id="424" name="Text 27"/>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2d3748"/>
                </a:solidFill>
                <a:latin typeface="Calibri"/>
                <a:ea typeface="Calibri"/>
              </a:rPr>
              <a:t>The buffer is concentrated exactly where convergence happens  at ZP7. But the battery chain's buffer is proportionally the thinnest. One missed shipment drains it fastest.</a:t>
            </a:r>
            <a:endParaRPr b="0" lang="en-US" sz="950" spc="-1" strike="noStrike">
              <a:solidFill>
                <a:srgbClr val="000000"/>
              </a:solidFill>
              <a:latin typeface="Arial"/>
            </a:endParaRPr>
          </a:p>
        </p:txBody>
      </p:sp>
      <p:sp>
        <p:nvSpPr>
          <p:cNvPr id="425" name="Text 28"/>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000000"/>
              </a:solidFill>
              <a:latin typeface="Arial"/>
            </a:endParaRPr>
          </a:p>
        </p:txBody>
      </p:sp>
      <p:pic>
        <p:nvPicPr>
          <p:cNvPr id="426" name="Image 230" descr="image12.png"/>
          <p:cNvPicPr/>
          <p:nvPr/>
        </p:nvPicPr>
        <p:blipFill>
          <a:blip r:embed="rId1"/>
          <a:stretch/>
        </p:blipFill>
        <p:spPr>
          <a:xfrm>
            <a:off x="274320" y="1536120"/>
            <a:ext cx="5083560" cy="284976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27"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28" name="Shape 1"/>
          <p:cNvSpPr/>
          <p:nvPr/>
        </p:nvSpPr>
        <p:spPr>
          <a:xfrm>
            <a:off x="274320" y="137160"/>
            <a:ext cx="959760" cy="328680"/>
          </a:xfrm>
          <a:prstGeom prst="roundRect">
            <a:avLst>
              <a:gd name="adj" fmla="val 19444"/>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29"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9</a:t>
            </a:r>
            <a:endParaRPr b="0" lang="en-US" sz="1000" spc="-1" strike="noStrike">
              <a:solidFill>
                <a:srgbClr val="ffffff"/>
              </a:solidFill>
              <a:latin typeface="Arial"/>
            </a:endParaRPr>
          </a:p>
        </p:txBody>
      </p:sp>
      <p:sp>
        <p:nvSpPr>
          <p:cNvPr id="430"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Initial In-Transit Flow — What is already locked in the pipeline?</a:t>
            </a:r>
            <a:endParaRPr b="0" lang="en-US" sz="1500" spc="-1" strike="noStrike">
              <a:solidFill>
                <a:srgbClr val="ffffff"/>
              </a:solidFill>
              <a:latin typeface="Arial"/>
            </a:endParaRPr>
          </a:p>
        </p:txBody>
      </p:sp>
      <p:sp>
        <p:nvSpPr>
          <p:cNvPr id="431" name="Shape 4"/>
          <p:cNvSpPr/>
          <p:nvPr/>
        </p:nvSpPr>
        <p:spPr>
          <a:xfrm>
            <a:off x="255960" y="749880"/>
            <a:ext cx="8631720" cy="347040"/>
          </a:xfrm>
          <a:prstGeom prst="rect">
            <a:avLst/>
          </a:prstGeom>
          <a:solidFill>
            <a:srgbClr val="162032"/>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32"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ffffff"/>
              </a:solidFill>
              <a:latin typeface="Arial"/>
            </a:endParaRPr>
          </a:p>
        </p:txBody>
      </p:sp>
      <p:sp>
        <p:nvSpPr>
          <p:cNvPr id="433"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f6ad55"/>
                </a:solidFill>
                <a:latin typeface="Calibri"/>
                <a:ea typeface="Calibri"/>
              </a:rPr>
              <a:t>Before period 61 even starts, how much stock is already committed and in transit to our facilities?</a:t>
            </a:r>
            <a:endParaRPr b="0" lang="en-US" sz="1000" spc="-1" strike="noStrike">
              <a:solidFill>
                <a:srgbClr val="ffffff"/>
              </a:solidFill>
              <a:latin typeface="Arial"/>
            </a:endParaRPr>
          </a:p>
        </p:txBody>
      </p:sp>
      <p:sp>
        <p:nvSpPr>
          <p:cNvPr id="434" name="Shape 7"/>
          <p:cNvSpPr/>
          <p:nvPr/>
        </p:nvSpPr>
        <p:spPr>
          <a:xfrm>
            <a:off x="255960" y="1134000"/>
            <a:ext cx="8631720" cy="292320"/>
          </a:xfrm>
          <a:prstGeom prst="rect">
            <a:avLst/>
          </a:prstGeom>
          <a:solidFill>
            <a:srgbClr val="0f2440"/>
          </a:solidFill>
          <a:ln w="635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35"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36" name="Shape 11"/>
          <p:cNvSpPr/>
          <p:nvPr/>
        </p:nvSpPr>
        <p:spPr>
          <a:xfrm>
            <a:off x="255960" y="1536120"/>
            <a:ext cx="5120280" cy="3106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37" name="Shape 14"/>
          <p:cNvSpPr/>
          <p:nvPr/>
        </p:nvSpPr>
        <p:spPr>
          <a:xfrm>
            <a:off x="5559480" y="1536120"/>
            <a:ext cx="3328200" cy="2889000"/>
          </a:xfrm>
          <a:prstGeom prst="rect">
            <a:avLst/>
          </a:prstGeom>
          <a:solidFill>
            <a:srgbClr val="1e3a5f"/>
          </a:solidFill>
          <a:ln w="6350">
            <a:solidFill>
              <a:srgbClr val="2c5282"/>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38" name="Shape 15"/>
          <p:cNvSpPr/>
          <p:nvPr/>
        </p:nvSpPr>
        <p:spPr>
          <a:xfrm>
            <a:off x="5559480" y="1536120"/>
            <a:ext cx="3328200" cy="310680"/>
          </a:xfrm>
          <a:prstGeom prst="rect">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39" name="Text 16"/>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ffffff"/>
              </a:solidFill>
              <a:latin typeface="Arial"/>
            </a:endParaRPr>
          </a:p>
        </p:txBody>
      </p:sp>
      <p:sp>
        <p:nvSpPr>
          <p:cNvPr id="440" name="Shape 17"/>
          <p:cNvSpPr/>
          <p:nvPr/>
        </p:nvSpPr>
        <p:spPr>
          <a:xfrm>
            <a:off x="5669280" y="197496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41" name="Text 18"/>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Battery and seat transit corridors  dominate as they are ordered before period 60 </a:t>
            </a:r>
            <a:endParaRPr b="0" lang="en-US" sz="950" spc="-1" strike="noStrike">
              <a:solidFill>
                <a:srgbClr val="ffffff"/>
              </a:solidFill>
              <a:latin typeface="Arial"/>
            </a:endParaRPr>
          </a:p>
        </p:txBody>
      </p:sp>
      <p:sp>
        <p:nvSpPr>
          <p:cNvPr id="442" name="Shape 19"/>
          <p:cNvSpPr/>
          <p:nvPr/>
        </p:nvSpPr>
        <p:spPr>
          <a:xfrm>
            <a:off x="5669280" y="241416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43" name="Text 20"/>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Earliest pipeline period is at period 39 — evidence of 23-period seat lead time</a:t>
            </a:r>
            <a:endParaRPr b="0" lang="en-US" sz="950" spc="-1" strike="noStrike">
              <a:solidFill>
                <a:srgbClr val="ffffff"/>
              </a:solidFill>
              <a:latin typeface="Arial"/>
            </a:endParaRPr>
          </a:p>
        </p:txBody>
      </p:sp>
      <p:sp>
        <p:nvSpPr>
          <p:cNvPr id="444" name="Shape 21"/>
          <p:cNvSpPr/>
          <p:nvPr/>
        </p:nvSpPr>
        <p:spPr>
          <a:xfrm>
            <a:off x="5669280" y="285300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45" name="Text 22"/>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Large in-transit volumes confirm the network relies on pre-horizon orders for early supply</a:t>
            </a:r>
            <a:endParaRPr b="0" lang="en-US" sz="950" spc="-1" strike="noStrike">
              <a:solidFill>
                <a:srgbClr val="ffffff"/>
              </a:solidFill>
              <a:latin typeface="Arial"/>
            </a:endParaRPr>
          </a:p>
        </p:txBody>
      </p:sp>
      <p:sp>
        <p:nvSpPr>
          <p:cNvPr id="446" name="Shape 23"/>
          <p:cNvSpPr/>
          <p:nvPr/>
        </p:nvSpPr>
        <p:spPr>
          <a:xfrm>
            <a:off x="5669280" y="3291840"/>
            <a:ext cx="127800" cy="127800"/>
          </a:xfrm>
          <a:prstGeom prst="ellipse">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47" name="Text 24"/>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Corridors with large initial flows but zero active capacity are running purely on autopilot</a:t>
            </a:r>
            <a:endParaRPr b="0" lang="en-US" sz="950" spc="-1" strike="noStrike">
              <a:solidFill>
                <a:srgbClr val="ffffff"/>
              </a:solidFill>
              <a:latin typeface="Arial"/>
            </a:endParaRPr>
          </a:p>
        </p:txBody>
      </p:sp>
      <p:sp>
        <p:nvSpPr>
          <p:cNvPr id="448" name="Shape 25"/>
          <p:cNvSpPr/>
          <p:nvPr/>
        </p:nvSpPr>
        <p:spPr>
          <a:xfrm>
            <a:off x="5559480" y="3675960"/>
            <a:ext cx="3328200" cy="694440"/>
          </a:xfrm>
          <a:prstGeom prst="rect">
            <a:avLst/>
          </a:prstGeom>
          <a:solidFill>
            <a:srgbClr val="0d254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49" name="Text 26"/>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dd6b20"/>
                </a:solidFill>
                <a:latin typeface="Calibri"/>
                <a:ea typeface="Calibri"/>
              </a:rPr>
              <a:t>Story insight</a:t>
            </a:r>
            <a:endParaRPr b="0" lang="en-US" sz="900" spc="-1" strike="noStrike">
              <a:solidFill>
                <a:srgbClr val="ffffff"/>
              </a:solidFill>
              <a:latin typeface="Arial"/>
            </a:endParaRPr>
          </a:p>
        </p:txBody>
      </p:sp>
      <p:sp>
        <p:nvSpPr>
          <p:cNvPr id="450" name="Text 27"/>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bee3f8"/>
                </a:solidFill>
                <a:latin typeface="Calibri"/>
                <a:ea typeface="Calibri"/>
              </a:rPr>
              <a:t>The supply chain in periods 61-64 is effectively on autopilot. Every unit arriving was ordered before the planning window opened. There is no lever to pull if that stock is wrong.</a:t>
            </a:r>
            <a:endParaRPr b="0" lang="en-US" sz="950" spc="-1" strike="noStrike">
              <a:solidFill>
                <a:srgbClr val="ffffff"/>
              </a:solidFill>
              <a:latin typeface="Arial"/>
            </a:endParaRPr>
          </a:p>
        </p:txBody>
      </p:sp>
      <p:sp>
        <p:nvSpPr>
          <p:cNvPr id="451" name="Text 28"/>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pic>
        <p:nvPicPr>
          <p:cNvPr id="452" name="Image 240" descr="image13.png"/>
          <p:cNvPicPr/>
          <p:nvPr/>
        </p:nvPicPr>
        <p:blipFill>
          <a:blip r:embed="rId1"/>
          <a:stretch/>
        </p:blipFill>
        <p:spPr>
          <a:xfrm>
            <a:off x="274320" y="1536120"/>
            <a:ext cx="5083560" cy="28497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53" name="Text 0"/>
          <p:cNvSpPr/>
          <p:nvPr/>
        </p:nvSpPr>
        <p:spPr>
          <a:xfrm>
            <a:off x="5943600" y="182880"/>
            <a:ext cx="3200040" cy="4114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0" spc="-1" strike="noStrike">
                <a:solidFill>
                  <a:srgbClr val="6b46c1">
                    <a:alpha val="12000"/>
                  </a:srgbClr>
                </a:solidFill>
                <a:latin typeface="Calibri"/>
                <a:ea typeface="Calibri"/>
              </a:rPr>
              <a:t>06</a:t>
            </a:r>
            <a:endParaRPr b="0" lang="en-US" sz="22000" spc="-1" strike="noStrike">
              <a:solidFill>
                <a:srgbClr val="ffffff"/>
              </a:solidFill>
              <a:latin typeface="Arial"/>
            </a:endParaRPr>
          </a:p>
        </p:txBody>
      </p:sp>
      <p:sp>
        <p:nvSpPr>
          <p:cNvPr id="454" name="Shape 1"/>
          <p:cNvSpPr/>
          <p:nvPr/>
        </p:nvSpPr>
        <p:spPr>
          <a:xfrm>
            <a:off x="0" y="0"/>
            <a:ext cx="145800" cy="5143320"/>
          </a:xfrm>
          <a:prstGeom prst="rect">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55" name="Shape 2"/>
          <p:cNvSpPr/>
          <p:nvPr/>
        </p:nvSpPr>
        <p:spPr>
          <a:xfrm>
            <a:off x="365760" y="365760"/>
            <a:ext cx="1645560" cy="328680"/>
          </a:xfrm>
          <a:prstGeom prst="roundRect">
            <a:avLst>
              <a:gd name="adj" fmla="val 22222"/>
            </a:avLst>
          </a:prstGeom>
          <a:solidFill>
            <a:srgbClr val="6b46c1">
              <a:alpha val="80000"/>
            </a:srgbClr>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56" name="Text 3"/>
          <p:cNvSpPr/>
          <p:nvPr/>
        </p:nvSpPr>
        <p:spPr>
          <a:xfrm>
            <a:off x="365760" y="365760"/>
            <a:ext cx="16455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CHAPTER 6</a:t>
            </a:r>
            <a:endParaRPr b="0" lang="en-US" sz="1100" spc="-1" strike="noStrike">
              <a:solidFill>
                <a:srgbClr val="ffffff"/>
              </a:solidFill>
              <a:latin typeface="Arial"/>
            </a:endParaRPr>
          </a:p>
        </p:txBody>
      </p:sp>
      <p:sp>
        <p:nvSpPr>
          <p:cNvPr id="457" name="Text 4"/>
          <p:cNvSpPr/>
          <p:nvPr/>
        </p:nvSpPr>
        <p:spPr>
          <a:xfrm>
            <a:off x="365760" y="914400"/>
            <a:ext cx="68576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ffffff"/>
                </a:solidFill>
                <a:latin typeface="Calibri"/>
                <a:ea typeface="Calibri"/>
              </a:rPr>
              <a:t>The Blast Radius</a:t>
            </a:r>
            <a:endParaRPr b="0" lang="en-US" sz="4000" spc="-1" strike="noStrike">
              <a:solidFill>
                <a:srgbClr val="ffffff"/>
              </a:solidFill>
              <a:latin typeface="Arial"/>
            </a:endParaRPr>
          </a:p>
        </p:txBody>
      </p:sp>
      <p:sp>
        <p:nvSpPr>
          <p:cNvPr id="458" name="Text 5"/>
          <p:cNvSpPr/>
          <p:nvPr/>
        </p:nvSpPr>
        <p:spPr>
          <a:xfrm>
            <a:off x="365760" y="1901880"/>
            <a:ext cx="6857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6b46c1"/>
                </a:solidFill>
                <a:latin typeface="Calibri"/>
                <a:ea typeface="Calibri"/>
              </a:rPr>
              <a:t>If one component disappears — how many cars stop?</a:t>
            </a:r>
            <a:endParaRPr b="0" lang="en-US" sz="1800" spc="-1" strike="noStrike">
              <a:solidFill>
                <a:srgbClr val="ffffff"/>
              </a:solidFill>
              <a:latin typeface="Arial"/>
            </a:endParaRPr>
          </a:p>
        </p:txBody>
      </p:sp>
      <p:sp>
        <p:nvSpPr>
          <p:cNvPr id="459" name="Shape 6"/>
          <p:cNvSpPr/>
          <p:nvPr/>
        </p:nvSpPr>
        <p:spPr>
          <a:xfrm>
            <a:off x="365760" y="2578680"/>
            <a:ext cx="6857640" cy="2029680"/>
          </a:xfrm>
          <a:prstGeom prst="rect">
            <a:avLst/>
          </a:prstGeom>
          <a:solidFill>
            <a:srgbClr val="1e3a5f"/>
          </a:solidFill>
          <a:ln w="12700">
            <a:solidFill>
              <a:srgbClr val="6b46c1"/>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60" name="Text 7"/>
          <p:cNvSpPr/>
          <p:nvPr/>
        </p:nvSpPr>
        <p:spPr>
          <a:xfrm>
            <a:off x="548640" y="2688480"/>
            <a:ext cx="6491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6b46c1"/>
                </a:solidFill>
                <a:latin typeface="Calibri"/>
                <a:ea typeface="Calibri"/>
              </a:rPr>
              <a:t>What the operations team is asking:</a:t>
            </a:r>
            <a:endParaRPr b="0" lang="en-US" sz="1000" spc="-1" strike="noStrike">
              <a:solidFill>
                <a:srgbClr val="ffffff"/>
              </a:solidFill>
              <a:latin typeface="Arial"/>
            </a:endParaRPr>
          </a:p>
        </p:txBody>
      </p:sp>
      <p:sp>
        <p:nvSpPr>
          <p:cNvPr id="461" name="Text 8"/>
          <p:cNvSpPr/>
          <p:nvPr/>
        </p:nvSpPr>
        <p:spPr>
          <a:xfrm>
            <a:off x="548640" y="2999160"/>
            <a:ext cx="64918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bee3f8"/>
                </a:solidFill>
                <a:latin typeface="Calibri"/>
                <a:ea typeface="Calibri"/>
              </a:rPr>
              <a:t>"We now know the structure, the complexity, the flow, the timeline and the buffers. The final question is the most operationally critical: which specific components, if disrupted, would cascade failure across the largest share of our finished vehicle portfolio?"</a:t>
            </a:r>
            <a:endParaRPr b="0" lang="en-US" sz="1300" spc="-1" strike="noStrike">
              <a:solidFill>
                <a:srgbClr val="ffffff"/>
              </a:solidFill>
              <a:latin typeface="Arial"/>
            </a:endParaRPr>
          </a:p>
        </p:txBody>
      </p:sp>
      <p:sp>
        <p:nvSpPr>
          <p:cNvPr id="462" name="Text 9"/>
          <p:cNvSpPr/>
          <p:nvPr/>
        </p:nvSpPr>
        <p:spPr>
          <a:xfrm>
            <a:off x="274320" y="4919400"/>
            <a:ext cx="85950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63"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64" name="Shape 1"/>
          <p:cNvSpPr/>
          <p:nvPr/>
        </p:nvSpPr>
        <p:spPr>
          <a:xfrm>
            <a:off x="274320" y="137160"/>
            <a:ext cx="959760" cy="328680"/>
          </a:xfrm>
          <a:prstGeom prst="roundRect">
            <a:avLst>
              <a:gd name="adj" fmla="val 19444"/>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65"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EDA 10</a:t>
            </a:r>
            <a:endParaRPr b="0" lang="en-US" sz="1000" spc="-1" strike="noStrike">
              <a:solidFill>
                <a:srgbClr val="ffffff"/>
              </a:solidFill>
              <a:latin typeface="Arial"/>
            </a:endParaRPr>
          </a:p>
        </p:txBody>
      </p:sp>
      <p:sp>
        <p:nvSpPr>
          <p:cNvPr id="466" name="Text 3"/>
          <p:cNvSpPr/>
          <p:nvPr/>
        </p:nvSpPr>
        <p:spPr>
          <a:xfrm>
            <a:off x="1371600" y="128160"/>
            <a:ext cx="65833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Downstream Component Impact — Which parts, if lost, take down the entire fleet?</a:t>
            </a:r>
            <a:endParaRPr b="0" lang="en-US" sz="1500" spc="-1" strike="noStrike">
              <a:solidFill>
                <a:srgbClr val="ffffff"/>
              </a:solidFill>
              <a:latin typeface="Arial"/>
            </a:endParaRPr>
          </a:p>
        </p:txBody>
      </p:sp>
      <p:sp>
        <p:nvSpPr>
          <p:cNvPr id="467" name="Shape 4"/>
          <p:cNvSpPr/>
          <p:nvPr/>
        </p:nvSpPr>
        <p:spPr>
          <a:xfrm>
            <a:off x="255960" y="749880"/>
            <a:ext cx="8631720" cy="347040"/>
          </a:xfrm>
          <a:prstGeom prst="rect">
            <a:avLst/>
          </a:prstGeom>
          <a:solidFill>
            <a:srgbClr val="162032"/>
          </a:solidFill>
          <a:ln w="1016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68" name="Text 5"/>
          <p:cNvSpPr/>
          <p:nvPr/>
        </p:nvSpPr>
        <p:spPr>
          <a:xfrm>
            <a:off x="384120" y="749880"/>
            <a:ext cx="1371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ea typeface="Calibri"/>
              </a:rPr>
              <a:t>Manager asks: </a:t>
            </a:r>
            <a:endParaRPr b="0" lang="en-US" sz="1000" spc="-1" strike="noStrike">
              <a:solidFill>
                <a:srgbClr val="ffffff"/>
              </a:solidFill>
              <a:latin typeface="Arial"/>
            </a:endParaRPr>
          </a:p>
        </p:txBody>
      </p:sp>
      <p:sp>
        <p:nvSpPr>
          <p:cNvPr id="469" name="Text 6"/>
          <p:cNvSpPr/>
          <p:nvPr/>
        </p:nvSpPr>
        <p:spPr>
          <a:xfrm>
            <a:off x="1719000" y="749880"/>
            <a:ext cx="702216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f6ad55"/>
                </a:solidFill>
                <a:latin typeface="Calibri"/>
                <a:ea typeface="Calibri"/>
              </a:rPr>
              <a:t>If supplier X stops tomorrow, which car models can we still build — and which ones cannot?</a:t>
            </a:r>
            <a:endParaRPr b="0" lang="en-US" sz="1000" spc="-1" strike="noStrike">
              <a:solidFill>
                <a:srgbClr val="ffffff"/>
              </a:solidFill>
              <a:latin typeface="Arial"/>
            </a:endParaRPr>
          </a:p>
        </p:txBody>
      </p:sp>
      <p:sp>
        <p:nvSpPr>
          <p:cNvPr id="470" name="Shape 10"/>
          <p:cNvSpPr/>
          <p:nvPr/>
        </p:nvSpPr>
        <p:spPr>
          <a:xfrm>
            <a:off x="255960" y="1536120"/>
            <a:ext cx="5120280" cy="2889000"/>
          </a:xfrm>
          <a:prstGeom prst="rect">
            <a:avLst/>
          </a:prstGeom>
          <a:solidFill>
            <a:srgbClr val="ffffff"/>
          </a:solidFill>
          <a:ln w="6350">
            <a:solidFill>
              <a:srgbClr val="d1d5db"/>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71" name="Shape 11"/>
          <p:cNvSpPr/>
          <p:nvPr/>
        </p:nvSpPr>
        <p:spPr>
          <a:xfrm>
            <a:off x="255960" y="1536120"/>
            <a:ext cx="5120280" cy="3106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72" name="Shape 14"/>
          <p:cNvSpPr/>
          <p:nvPr/>
        </p:nvSpPr>
        <p:spPr>
          <a:xfrm>
            <a:off x="5559480" y="1536120"/>
            <a:ext cx="3328200" cy="2889000"/>
          </a:xfrm>
          <a:prstGeom prst="rect">
            <a:avLst/>
          </a:prstGeom>
          <a:solidFill>
            <a:srgbClr val="1e3a5f"/>
          </a:solidFill>
          <a:ln w="6350">
            <a:solidFill>
              <a:srgbClr val="2c5282"/>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73" name="Shape 15"/>
          <p:cNvSpPr/>
          <p:nvPr/>
        </p:nvSpPr>
        <p:spPr>
          <a:xfrm>
            <a:off x="5559480" y="1536120"/>
            <a:ext cx="3328200" cy="310680"/>
          </a:xfrm>
          <a:prstGeom prst="rect">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74" name="Text 16"/>
          <p:cNvSpPr/>
          <p:nvPr/>
        </p:nvSpPr>
        <p:spPr>
          <a:xfrm>
            <a:off x="5650920" y="1536120"/>
            <a:ext cx="31453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ffffff"/>
                </a:solidFill>
                <a:latin typeface="Calibri"/>
                <a:ea typeface="Calibri"/>
              </a:rPr>
              <a:t>Key Findings</a:t>
            </a:r>
            <a:endParaRPr b="0" lang="en-US" sz="1100" spc="-1" strike="noStrike">
              <a:solidFill>
                <a:srgbClr val="ffffff"/>
              </a:solidFill>
              <a:latin typeface="Arial"/>
            </a:endParaRPr>
          </a:p>
        </p:txBody>
      </p:sp>
      <p:sp>
        <p:nvSpPr>
          <p:cNvPr id="475" name="Shape 17"/>
          <p:cNvSpPr/>
          <p:nvPr/>
        </p:nvSpPr>
        <p:spPr>
          <a:xfrm>
            <a:off x="5669280" y="1974960"/>
            <a:ext cx="127800" cy="127800"/>
          </a:xfrm>
          <a:prstGeom prst="ellipse">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76" name="Text 18"/>
          <p:cNvSpPr/>
          <p:nvPr/>
        </p:nvSpPr>
        <p:spPr>
          <a:xfrm>
            <a:off x="5870520" y="193860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engine, gear and seat sub-components affect most  of the 28,000 car portfolio</a:t>
            </a:r>
            <a:endParaRPr b="0" lang="en-US" sz="950" spc="-1" strike="noStrike">
              <a:solidFill>
                <a:srgbClr val="ffffff"/>
              </a:solidFill>
              <a:latin typeface="Arial"/>
            </a:endParaRPr>
          </a:p>
        </p:txBody>
      </p:sp>
      <p:sp>
        <p:nvSpPr>
          <p:cNvPr id="477" name="Shape 19"/>
          <p:cNvSpPr/>
          <p:nvPr/>
        </p:nvSpPr>
        <p:spPr>
          <a:xfrm>
            <a:off x="5669280" y="2414160"/>
            <a:ext cx="127800" cy="127800"/>
          </a:xfrm>
          <a:prstGeom prst="ellipse">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78" name="Text 20"/>
          <p:cNvSpPr/>
          <p:nvPr/>
        </p:nvSpPr>
        <p:spPr>
          <a:xfrm>
            <a:off x="5870520" y="237744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Battery sub-components do not appear in this list as they share a very low percentage of the total cars (about 10%)</a:t>
            </a:r>
            <a:endParaRPr b="0" lang="en-US" sz="950" spc="-1" strike="noStrike">
              <a:solidFill>
                <a:srgbClr val="ffffff"/>
              </a:solidFill>
              <a:latin typeface="Arial"/>
            </a:endParaRPr>
          </a:p>
        </p:txBody>
      </p:sp>
      <p:sp>
        <p:nvSpPr>
          <p:cNvPr id="479" name="Shape 21"/>
          <p:cNvSpPr/>
          <p:nvPr/>
        </p:nvSpPr>
        <p:spPr>
          <a:xfrm>
            <a:off x="5669280" y="2853000"/>
            <a:ext cx="127800" cy="127800"/>
          </a:xfrm>
          <a:prstGeom prst="ellipse">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80" name="Text 22"/>
          <p:cNvSpPr/>
          <p:nvPr/>
        </p:nvSpPr>
        <p:spPr>
          <a:xfrm>
            <a:off x="5870520" y="281628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Seat Q4H and component_seat2 are used in 42.99% of the total cars hence affect most production</a:t>
            </a:r>
            <a:endParaRPr b="0" lang="en-US" sz="950" spc="-1" strike="noStrike">
              <a:solidFill>
                <a:srgbClr val="ffffff"/>
              </a:solidFill>
              <a:latin typeface="Arial"/>
            </a:endParaRPr>
          </a:p>
        </p:txBody>
      </p:sp>
      <p:sp>
        <p:nvSpPr>
          <p:cNvPr id="481" name="Shape 23"/>
          <p:cNvSpPr/>
          <p:nvPr/>
        </p:nvSpPr>
        <p:spPr>
          <a:xfrm>
            <a:off x="5669280" y="3291840"/>
            <a:ext cx="127800" cy="127800"/>
          </a:xfrm>
          <a:prstGeom prst="ellipse">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82" name="Text 24"/>
          <p:cNvSpPr/>
          <p:nvPr/>
        </p:nvSpPr>
        <p:spPr>
          <a:xfrm>
            <a:off x="5870520" y="3255120"/>
            <a:ext cx="2907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1" strike="noStrike">
                <a:solidFill>
                  <a:srgbClr val="bee3f8"/>
                </a:solidFill>
                <a:latin typeface="Calibri"/>
                <a:ea typeface="Calibri"/>
              </a:rPr>
              <a:t>DN4 is the most used engine component, appearing in 13.25% of the cars</a:t>
            </a:r>
            <a:endParaRPr b="0" lang="en-US" sz="950" spc="-1" strike="noStrike">
              <a:solidFill>
                <a:srgbClr val="ffffff"/>
              </a:solidFill>
              <a:latin typeface="Arial"/>
            </a:endParaRPr>
          </a:p>
        </p:txBody>
      </p:sp>
      <p:sp>
        <p:nvSpPr>
          <p:cNvPr id="483" name="Shape 25"/>
          <p:cNvSpPr/>
          <p:nvPr/>
        </p:nvSpPr>
        <p:spPr>
          <a:xfrm>
            <a:off x="5559480" y="3675960"/>
            <a:ext cx="3328200" cy="694440"/>
          </a:xfrm>
          <a:prstGeom prst="rect">
            <a:avLst/>
          </a:prstGeom>
          <a:solidFill>
            <a:srgbClr val="0d2540"/>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84" name="Text 26"/>
          <p:cNvSpPr/>
          <p:nvPr/>
        </p:nvSpPr>
        <p:spPr>
          <a:xfrm>
            <a:off x="5650920" y="3712320"/>
            <a:ext cx="31453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6b46c1"/>
                </a:solidFill>
                <a:latin typeface="Calibri"/>
                <a:ea typeface="Calibri"/>
              </a:rPr>
              <a:t>Story insight</a:t>
            </a:r>
            <a:endParaRPr b="0" lang="en-US" sz="900" spc="-1" strike="noStrike">
              <a:solidFill>
                <a:srgbClr val="ffffff"/>
              </a:solidFill>
              <a:latin typeface="Arial"/>
            </a:endParaRPr>
          </a:p>
        </p:txBody>
      </p:sp>
      <p:sp>
        <p:nvSpPr>
          <p:cNvPr id="485" name="Text 27"/>
          <p:cNvSpPr/>
          <p:nvPr/>
        </p:nvSpPr>
        <p:spPr>
          <a:xfrm>
            <a:off x="5650920" y="3913560"/>
            <a:ext cx="314532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bee3f8"/>
                </a:solidFill>
                <a:latin typeface="Calibri"/>
                <a:ea typeface="Calibri"/>
              </a:rPr>
              <a:t>Engine, gear and seat components are existential risks. There is no safe subset of our fleet if these fail</a:t>
            </a:r>
            <a:endParaRPr b="0" lang="en-US" sz="950" spc="-1" strike="noStrike">
              <a:solidFill>
                <a:srgbClr val="ffffff"/>
              </a:solidFill>
              <a:latin typeface="Arial"/>
            </a:endParaRPr>
          </a:p>
        </p:txBody>
      </p:sp>
      <p:sp>
        <p:nvSpPr>
          <p:cNvPr id="486" name="Text 28"/>
          <p:cNvSpPr/>
          <p:nvPr/>
        </p:nvSpPr>
        <p:spPr>
          <a:xfrm>
            <a:off x="255960" y="4919400"/>
            <a:ext cx="8631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718096"/>
                </a:solidFill>
                <a:latin typeface="Calibri"/>
                <a:ea typeface="Calibri"/>
              </a:rPr>
              <a:t>Dataset: Moetz et al. (2020) · Neo4j GDS · Spring 2026 Capstone</a:t>
            </a:r>
            <a:endParaRPr b="0" lang="en-US" sz="750" spc="-1" strike="noStrike">
              <a:solidFill>
                <a:srgbClr val="ffffff"/>
              </a:solidFill>
              <a:latin typeface="Arial"/>
            </a:endParaRPr>
          </a:p>
        </p:txBody>
      </p:sp>
      <p:pic>
        <p:nvPicPr>
          <p:cNvPr id="487" name="" descr=""/>
          <p:cNvPicPr/>
          <p:nvPr/>
        </p:nvPicPr>
        <p:blipFill>
          <a:blip r:embed="rId1"/>
          <a:stretch/>
        </p:blipFill>
        <p:spPr>
          <a:xfrm>
            <a:off x="168120" y="1536120"/>
            <a:ext cx="5282280" cy="291276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88" name="Shape 0"/>
          <p:cNvSpPr/>
          <p:nvPr/>
        </p:nvSpPr>
        <p:spPr>
          <a:xfrm>
            <a:off x="0" y="0"/>
            <a:ext cx="145800" cy="5143320"/>
          </a:xfrm>
          <a:prstGeom prst="rect">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89" name="Text 1"/>
          <p:cNvSpPr/>
          <p:nvPr/>
        </p:nvSpPr>
        <p:spPr>
          <a:xfrm>
            <a:off x="365760" y="164520"/>
            <a:ext cx="36572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599" strike="noStrike">
                <a:solidFill>
                  <a:srgbClr val="718096"/>
                </a:solidFill>
                <a:latin typeface="Calibri"/>
                <a:ea typeface="Calibri"/>
              </a:rPr>
              <a:t>EPILOGUE</a:t>
            </a:r>
            <a:endParaRPr b="0" lang="en-US" sz="1100" spc="-1" strike="noStrike">
              <a:solidFill>
                <a:srgbClr val="ffffff"/>
              </a:solidFill>
              <a:latin typeface="Arial"/>
            </a:endParaRPr>
          </a:p>
        </p:txBody>
      </p:sp>
      <p:sp>
        <p:nvSpPr>
          <p:cNvPr id="490" name="Text 2"/>
          <p:cNvSpPr/>
          <p:nvPr/>
        </p:nvSpPr>
        <p:spPr>
          <a:xfrm>
            <a:off x="365760" y="457200"/>
            <a:ext cx="841212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Calibri"/>
                <a:ea typeface="Calibri"/>
              </a:rPr>
              <a:t>What the Graph Told Us</a:t>
            </a:r>
            <a:endParaRPr b="0" lang="en-US" sz="3400" spc="-1" strike="noStrike">
              <a:solidFill>
                <a:srgbClr val="ffffff"/>
              </a:solidFill>
              <a:latin typeface="Arial"/>
            </a:endParaRPr>
          </a:p>
        </p:txBody>
      </p:sp>
      <p:sp>
        <p:nvSpPr>
          <p:cNvPr id="491" name="Text 3"/>
          <p:cNvSpPr/>
          <p:nvPr/>
        </p:nvSpPr>
        <p:spPr>
          <a:xfrm>
            <a:off x="365760" y="1005840"/>
            <a:ext cx="8412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bee3f8"/>
                </a:solidFill>
                <a:latin typeface="Calibri"/>
                <a:ea typeface="Calibri"/>
              </a:rPr>
              <a:t>10 questions — 6 chapters — 1 clear picture of where this supply chain is most vulnerable</a:t>
            </a:r>
            <a:endParaRPr b="0" lang="en-US" sz="1200" spc="-1" strike="noStrike">
              <a:solidFill>
                <a:srgbClr val="ffffff"/>
              </a:solidFill>
              <a:latin typeface="Arial"/>
            </a:endParaRPr>
          </a:p>
        </p:txBody>
      </p:sp>
      <p:sp>
        <p:nvSpPr>
          <p:cNvPr id="492" name="Shape 4"/>
          <p:cNvSpPr/>
          <p:nvPr/>
        </p:nvSpPr>
        <p:spPr>
          <a:xfrm>
            <a:off x="365760" y="1371600"/>
            <a:ext cx="8412120" cy="475200"/>
          </a:xfrm>
          <a:prstGeom prst="rect">
            <a:avLst/>
          </a:prstGeom>
          <a:solidFill>
            <a:srgbClr val="1e3a5f"/>
          </a:solidFill>
          <a:ln w="10160">
            <a:solidFill>
              <a:srgbClr val="38a169"/>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93" name="Shape 5"/>
          <p:cNvSpPr/>
          <p:nvPr/>
        </p:nvSpPr>
        <p:spPr>
          <a:xfrm>
            <a:off x="365760" y="1371600"/>
            <a:ext cx="456840" cy="475200"/>
          </a:xfrm>
          <a:prstGeom prst="rect">
            <a:avLst/>
          </a:prstGeom>
          <a:solidFill>
            <a:srgbClr val="38a169"/>
          </a:solidFill>
          <a:ln w="12700">
            <a:solidFill>
              <a:srgbClr val="38a169"/>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94" name="Text 6"/>
          <p:cNvSpPr/>
          <p:nvPr/>
        </p:nvSpPr>
        <p:spPr>
          <a:xfrm>
            <a:off x="365760" y="1371600"/>
            <a:ext cx="45684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Ch.1</a:t>
            </a:r>
            <a:endParaRPr b="0" lang="en-US" sz="900" spc="-1" strike="noStrike">
              <a:solidFill>
                <a:srgbClr val="ffffff"/>
              </a:solidFill>
              <a:latin typeface="Arial"/>
            </a:endParaRPr>
          </a:p>
        </p:txBody>
      </p:sp>
      <p:sp>
        <p:nvSpPr>
          <p:cNvPr id="495" name="Text 7"/>
          <p:cNvSpPr/>
          <p:nvPr/>
        </p:nvSpPr>
        <p:spPr>
          <a:xfrm>
            <a:off x="932760" y="1426320"/>
            <a:ext cx="7662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bee3f8"/>
                </a:solidFill>
                <a:latin typeface="Calibri"/>
                <a:ea typeface="Calibri"/>
              </a:rPr>
              <a:t>Graph is structurally sound — 9 node types, 16 relationship types, all properties confirmed</a:t>
            </a:r>
            <a:endParaRPr b="0" lang="en-US" sz="1100" spc="-1" strike="noStrike">
              <a:solidFill>
                <a:srgbClr val="ffffff"/>
              </a:solidFill>
              <a:latin typeface="Arial"/>
            </a:endParaRPr>
          </a:p>
        </p:txBody>
      </p:sp>
      <p:sp>
        <p:nvSpPr>
          <p:cNvPr id="496" name="Shape 8"/>
          <p:cNvSpPr/>
          <p:nvPr/>
        </p:nvSpPr>
        <p:spPr>
          <a:xfrm>
            <a:off x="365760" y="1920240"/>
            <a:ext cx="8412120" cy="475200"/>
          </a:xfrm>
          <a:prstGeom prst="rect">
            <a:avLst/>
          </a:prstGeom>
          <a:solidFill>
            <a:srgbClr val="1e3a5f"/>
          </a:solidFill>
          <a:ln w="10160">
            <a:solidFill>
              <a:srgbClr val="2c5282"/>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97" name="Shape 9"/>
          <p:cNvSpPr/>
          <p:nvPr/>
        </p:nvSpPr>
        <p:spPr>
          <a:xfrm>
            <a:off x="365760" y="1920240"/>
            <a:ext cx="456840" cy="475200"/>
          </a:xfrm>
          <a:prstGeom prst="rect">
            <a:avLst/>
          </a:prstGeom>
          <a:solidFill>
            <a:srgbClr val="2c5282"/>
          </a:solidFill>
          <a:ln w="12700">
            <a:solidFill>
              <a:srgbClr val="2c5282"/>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98" name="Text 10"/>
          <p:cNvSpPr/>
          <p:nvPr/>
        </p:nvSpPr>
        <p:spPr>
          <a:xfrm>
            <a:off x="365760" y="1920240"/>
            <a:ext cx="45684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Ch.2</a:t>
            </a:r>
            <a:endParaRPr b="0" lang="en-US" sz="900" spc="-1" strike="noStrike">
              <a:solidFill>
                <a:srgbClr val="ffffff"/>
              </a:solidFill>
              <a:latin typeface="Arial"/>
            </a:endParaRPr>
          </a:p>
        </p:txBody>
      </p:sp>
      <p:sp>
        <p:nvSpPr>
          <p:cNvPr id="499" name="Text 11"/>
          <p:cNvSpPr/>
          <p:nvPr/>
        </p:nvSpPr>
        <p:spPr>
          <a:xfrm>
            <a:off x="932760" y="1974960"/>
            <a:ext cx="7662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bee3f8"/>
                </a:solidFill>
                <a:latin typeface="Calibri"/>
                <a:ea typeface="Calibri"/>
              </a:rPr>
              <a:t>Finished cars depend on 3–4 components each. Engine, gear and seat affect 100% of the fleet</a:t>
            </a:r>
            <a:endParaRPr b="0" lang="en-US" sz="1100" spc="-1" strike="noStrike">
              <a:solidFill>
                <a:srgbClr val="ffffff"/>
              </a:solidFill>
              <a:latin typeface="Arial"/>
            </a:endParaRPr>
          </a:p>
        </p:txBody>
      </p:sp>
      <p:sp>
        <p:nvSpPr>
          <p:cNvPr id="500" name="Shape 12"/>
          <p:cNvSpPr/>
          <p:nvPr/>
        </p:nvSpPr>
        <p:spPr>
          <a:xfrm>
            <a:off x="365760" y="2468880"/>
            <a:ext cx="8412120" cy="475200"/>
          </a:xfrm>
          <a:prstGeom prst="rect">
            <a:avLst/>
          </a:prstGeom>
          <a:solidFill>
            <a:srgbClr val="1e3a5f"/>
          </a:solidFill>
          <a:ln w="10160">
            <a:solidFill>
              <a:srgbClr val="e53e3e"/>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01" name="Shape 13"/>
          <p:cNvSpPr/>
          <p:nvPr/>
        </p:nvSpPr>
        <p:spPr>
          <a:xfrm>
            <a:off x="365760" y="2468880"/>
            <a:ext cx="456840" cy="475200"/>
          </a:xfrm>
          <a:prstGeom prst="rect">
            <a:avLst/>
          </a:prstGeom>
          <a:solidFill>
            <a:srgbClr val="e53e3e"/>
          </a:solidFill>
          <a:ln w="12700">
            <a:solidFill>
              <a:srgbClr val="e53e3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02" name="Text 14"/>
          <p:cNvSpPr/>
          <p:nvPr/>
        </p:nvSpPr>
        <p:spPr>
          <a:xfrm>
            <a:off x="365760" y="2468880"/>
            <a:ext cx="45684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Ch.3</a:t>
            </a:r>
            <a:endParaRPr b="0" lang="en-US" sz="900" spc="-1" strike="noStrike">
              <a:solidFill>
                <a:srgbClr val="ffffff"/>
              </a:solidFill>
              <a:latin typeface="Arial"/>
            </a:endParaRPr>
          </a:p>
        </p:txBody>
      </p:sp>
      <p:sp>
        <p:nvSpPr>
          <p:cNvPr id="503" name="Text 15"/>
          <p:cNvSpPr/>
          <p:nvPr/>
        </p:nvSpPr>
        <p:spPr>
          <a:xfrm>
            <a:off x="932760" y="2523600"/>
            <a:ext cx="7662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bee3f8"/>
                </a:solidFill>
                <a:latin typeface="Calibri"/>
                <a:ea typeface="Calibri"/>
              </a:rPr>
              <a:t>Seat (23p) and battery (20p) transit arcs are extreme lead-time risks. Gear and engine at 95% capacity</a:t>
            </a:r>
            <a:endParaRPr b="0" lang="en-US" sz="1100" spc="-1" strike="noStrike">
              <a:solidFill>
                <a:srgbClr val="ffffff"/>
              </a:solidFill>
              <a:latin typeface="Arial"/>
            </a:endParaRPr>
          </a:p>
        </p:txBody>
      </p:sp>
      <p:sp>
        <p:nvSpPr>
          <p:cNvPr id="504" name="Shape 16"/>
          <p:cNvSpPr/>
          <p:nvPr/>
        </p:nvSpPr>
        <p:spPr>
          <a:xfrm>
            <a:off x="365760" y="3017520"/>
            <a:ext cx="8412120" cy="475200"/>
          </a:xfrm>
          <a:prstGeom prst="rect">
            <a:avLst/>
          </a:prstGeom>
          <a:solidFill>
            <a:srgbClr val="1e3a5f"/>
          </a:solidFill>
          <a:ln w="10160">
            <a:solidFill>
              <a:srgbClr val="f6ad55"/>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05" name="Shape 17"/>
          <p:cNvSpPr/>
          <p:nvPr/>
        </p:nvSpPr>
        <p:spPr>
          <a:xfrm>
            <a:off x="365760" y="3017520"/>
            <a:ext cx="456840" cy="475200"/>
          </a:xfrm>
          <a:prstGeom prst="rect">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06" name="Text 18"/>
          <p:cNvSpPr/>
          <p:nvPr/>
        </p:nvSpPr>
        <p:spPr>
          <a:xfrm>
            <a:off x="365760" y="3017520"/>
            <a:ext cx="45684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Ch.4</a:t>
            </a:r>
            <a:endParaRPr b="0" lang="en-US" sz="900" spc="-1" strike="noStrike">
              <a:solidFill>
                <a:srgbClr val="ffffff"/>
              </a:solidFill>
              <a:latin typeface="Arial"/>
            </a:endParaRPr>
          </a:p>
        </p:txBody>
      </p:sp>
      <p:sp>
        <p:nvSpPr>
          <p:cNvPr id="507" name="Text 19"/>
          <p:cNvSpPr/>
          <p:nvPr/>
        </p:nvSpPr>
        <p:spPr>
          <a:xfrm>
            <a:off x="932760" y="3072240"/>
            <a:ext cx="7662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bee3f8"/>
                </a:solidFill>
                <a:latin typeface="Calibri"/>
                <a:ea typeface="Calibri"/>
              </a:rPr>
              <a:t>Supply decisions for period 61 were made at period 39. Early warning is the only lever available</a:t>
            </a:r>
            <a:endParaRPr b="0" lang="en-US" sz="1100" spc="-1" strike="noStrike">
              <a:solidFill>
                <a:srgbClr val="ffffff"/>
              </a:solidFill>
              <a:latin typeface="Arial"/>
            </a:endParaRPr>
          </a:p>
        </p:txBody>
      </p:sp>
      <p:sp>
        <p:nvSpPr>
          <p:cNvPr id="508" name="Shape 20"/>
          <p:cNvSpPr/>
          <p:nvPr/>
        </p:nvSpPr>
        <p:spPr>
          <a:xfrm>
            <a:off x="365760" y="3566160"/>
            <a:ext cx="8412120" cy="475200"/>
          </a:xfrm>
          <a:prstGeom prst="rect">
            <a:avLst/>
          </a:prstGeom>
          <a:solidFill>
            <a:srgbClr val="1e3a5f"/>
          </a:solidFill>
          <a:ln w="10160">
            <a:solidFill>
              <a:srgbClr val="dd6b20"/>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09" name="Shape 21"/>
          <p:cNvSpPr/>
          <p:nvPr/>
        </p:nvSpPr>
        <p:spPr>
          <a:xfrm>
            <a:off x="365760" y="3566160"/>
            <a:ext cx="456840" cy="475200"/>
          </a:xfrm>
          <a:prstGeom prst="rect">
            <a:avLst/>
          </a:prstGeom>
          <a:solidFill>
            <a:srgbClr val="dd6b20"/>
          </a:solidFill>
          <a:ln w="12700">
            <a:solidFill>
              <a:srgbClr val="dd6b2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10" name="Text 22"/>
          <p:cNvSpPr/>
          <p:nvPr/>
        </p:nvSpPr>
        <p:spPr>
          <a:xfrm>
            <a:off x="365760" y="3566160"/>
            <a:ext cx="45684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Ch.5</a:t>
            </a:r>
            <a:endParaRPr b="0" lang="en-US" sz="900" spc="-1" strike="noStrike">
              <a:solidFill>
                <a:srgbClr val="ffffff"/>
              </a:solidFill>
              <a:latin typeface="Arial"/>
            </a:endParaRPr>
          </a:p>
        </p:txBody>
      </p:sp>
      <p:sp>
        <p:nvSpPr>
          <p:cNvPr id="511" name="Text 23"/>
          <p:cNvSpPr/>
          <p:nvPr/>
        </p:nvSpPr>
        <p:spPr>
          <a:xfrm>
            <a:off x="932760" y="3620880"/>
            <a:ext cx="7662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bee3f8"/>
                </a:solidFill>
                <a:latin typeface="Calibri"/>
                <a:ea typeface="Calibri"/>
              </a:rPr>
              <a:t>Battery production is capped at 294 units/period. Buffers are thin. Pipeline runs on autopilot</a:t>
            </a:r>
            <a:endParaRPr b="0" lang="en-US" sz="1100" spc="-1" strike="noStrike">
              <a:solidFill>
                <a:srgbClr val="ffffff"/>
              </a:solidFill>
              <a:latin typeface="Arial"/>
            </a:endParaRPr>
          </a:p>
        </p:txBody>
      </p:sp>
      <p:sp>
        <p:nvSpPr>
          <p:cNvPr id="512" name="Shape 24"/>
          <p:cNvSpPr/>
          <p:nvPr/>
        </p:nvSpPr>
        <p:spPr>
          <a:xfrm>
            <a:off x="365760" y="4114800"/>
            <a:ext cx="8412120" cy="475200"/>
          </a:xfrm>
          <a:prstGeom prst="rect">
            <a:avLst/>
          </a:prstGeom>
          <a:solidFill>
            <a:srgbClr val="1e3a5f"/>
          </a:solidFill>
          <a:ln w="10160">
            <a:solidFill>
              <a:srgbClr val="6b46c1"/>
            </a:solidFill>
            <a:round/>
          </a:ln>
          <a:effectLst>
            <a:outerShdw algn="bl" blurRad="76320" dir="8100000" dist="37674" rotWithShape="0">
              <a:srgbClr val="000000">
                <a:alpha val="10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13" name="Shape 25"/>
          <p:cNvSpPr/>
          <p:nvPr/>
        </p:nvSpPr>
        <p:spPr>
          <a:xfrm>
            <a:off x="365760" y="4114800"/>
            <a:ext cx="456840" cy="475200"/>
          </a:xfrm>
          <a:prstGeom prst="rect">
            <a:avLst/>
          </a:prstGeom>
          <a:solidFill>
            <a:srgbClr val="6b46c1"/>
          </a:solidFill>
          <a:ln w="12700">
            <a:solidFill>
              <a:srgbClr val="6b46c1"/>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14" name="Text 26"/>
          <p:cNvSpPr/>
          <p:nvPr/>
        </p:nvSpPr>
        <p:spPr>
          <a:xfrm>
            <a:off x="365760" y="4114800"/>
            <a:ext cx="45684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Ch.6</a:t>
            </a:r>
            <a:endParaRPr b="0" lang="en-US" sz="900" spc="-1" strike="noStrike">
              <a:solidFill>
                <a:srgbClr val="ffffff"/>
              </a:solidFill>
              <a:latin typeface="Arial"/>
            </a:endParaRPr>
          </a:p>
        </p:txBody>
      </p:sp>
      <p:sp>
        <p:nvSpPr>
          <p:cNvPr id="515" name="Text 27"/>
          <p:cNvSpPr/>
          <p:nvPr/>
        </p:nvSpPr>
        <p:spPr>
          <a:xfrm>
            <a:off x="932760" y="4169520"/>
            <a:ext cx="7662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bee3f8"/>
                </a:solidFill>
                <a:latin typeface="Calibri"/>
                <a:ea typeface="Calibri"/>
              </a:rPr>
              <a:t>Engine, gear and seat components each affect 100% of 28,000 car SKUs — fleet-wide exposure</a:t>
            </a:r>
            <a:endParaRPr b="0" lang="en-US" sz="1100" spc="-1" strike="noStrike">
              <a:solidFill>
                <a:srgbClr val="ffffff"/>
              </a:solidFill>
              <a:latin typeface="Arial"/>
            </a:endParaRPr>
          </a:p>
        </p:txBody>
      </p:sp>
      <p:sp>
        <p:nvSpPr>
          <p:cNvPr id="516" name="Shape 28"/>
          <p:cNvSpPr/>
          <p:nvPr/>
        </p:nvSpPr>
        <p:spPr>
          <a:xfrm>
            <a:off x="365760" y="4681800"/>
            <a:ext cx="8412120" cy="273960"/>
          </a:xfrm>
          <a:prstGeom prst="rect">
            <a:avLst/>
          </a:prstGeom>
          <a:solidFill>
            <a:srgbClr val="0f2d4a"/>
          </a:solidFill>
          <a:ln w="12700">
            <a:solidFill>
              <a:srgbClr val="f6ad5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17" name="Text 29"/>
          <p:cNvSpPr/>
          <p:nvPr/>
        </p:nvSpPr>
        <p:spPr>
          <a:xfrm>
            <a:off x="502920" y="4700160"/>
            <a:ext cx="822924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f6ad55"/>
                </a:solidFill>
                <a:latin typeface="Calibri"/>
                <a:ea typeface="Calibri"/>
              </a:rPr>
              <a:t>Next: GDS Algorithms — PageRank centrality and Louvain community detection will formally quantify these risks</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573</TotalTime>
  <Application>LibreOffice/24.2.7.2$Linux_X86_64 LibreOffice_project/420$Build-2</Application>
  <AppVersion>15.0000</AppVersion>
  <Words>3981</Words>
  <Paragraphs>364</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2026-04-21T12:58:24Z</dcterms:created>
  <dc:creator>PptxGenJS</dc:creator>
  <dc:description/>
  <dc:language>en-US</dc:language>
  <cp:lastModifiedBy/>
  <dcterms:modified xsi:type="dcterms:W3CDTF">2026-04-22T11:20:28Z</dcterms:modified>
  <cp:revision>4</cp:revision>
  <dc:subject>PptxGenJS Presentation</dc:subject>
  <dc:title>Supply Chain Risk — Graph EDA Story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