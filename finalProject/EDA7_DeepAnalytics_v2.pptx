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png" ContentType="image/png"/>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charts/chart1.xml" ContentType="application/vnd.openxmlformats-officedocument.drawingml.chart+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bar"/>
        <c:grouping val="clustered"/>
        <c:varyColors val="0"/>
        <c:ser>
          <c:idx val="0"/>
          <c:order val="0"/>
          <c:tx>
            <c:strRef>
              <c:f>label 0</c:f>
              <c:strCache>
                <c:ptCount val="1"/>
                <c:pt idx="0">
                  <c:v>% of Car Portfolio</c:v>
                </c:pt>
              </c:strCache>
            </c:strRef>
          </c:tx>
          <c:spPr>
            <a:solidFill>
              <a:srgbClr val="c0392b"/>
            </a:solidFill>
            <a:ln w="0">
              <a:noFill/>
            </a:ln>
          </c:spPr>
          <c:invertIfNegative val="0"/>
          <c:dPt>
            <c:idx val="0"/>
            <c:invertIfNegative val="0"/>
            <c:spPr>
              <a:solidFill>
                <a:srgbClr val="c0392b"/>
              </a:solidFill>
              <a:ln w="0">
                <a:noFill/>
              </a:ln>
            </c:spPr>
          </c:dPt>
          <c:dPt>
            <c:idx val="1"/>
            <c:invertIfNegative val="0"/>
            <c:spPr>
              <a:solidFill>
                <a:srgbClr val="c0392b"/>
              </a:solidFill>
              <a:ln w="0">
                <a:noFill/>
              </a:ln>
            </c:spPr>
          </c:dPt>
          <c:dPt>
            <c:idx val="2"/>
            <c:invertIfNegative val="0"/>
            <c:spPr>
              <a:solidFill>
                <a:srgbClr val="c0392b"/>
              </a:solidFill>
              <a:ln w="0">
                <a:noFill/>
              </a:ln>
            </c:spPr>
          </c:dPt>
          <c:dPt>
            <c:idx val="3"/>
            <c:invertIfNegative val="0"/>
            <c:spPr>
              <a:solidFill>
                <a:srgbClr val="c0392b"/>
              </a:solidFill>
              <a:ln w="0">
                <a:noFill/>
              </a:ln>
            </c:spPr>
          </c:dPt>
          <c:dPt>
            <c:idx val="4"/>
            <c:invertIfNegative val="0"/>
            <c:spPr>
              <a:solidFill>
                <a:srgbClr val="e07b39"/>
              </a:solidFill>
              <a:ln w="0">
                <a:noFill/>
              </a:ln>
            </c:spPr>
          </c:dPt>
          <c:dPt>
            <c:idx val="5"/>
            <c:invertIfNegative val="0"/>
            <c:spPr>
              <a:solidFill>
                <a:srgbClr val="e07b39"/>
              </a:solidFill>
              <a:ln w="0">
                <a:noFill/>
              </a:ln>
            </c:spPr>
          </c:dPt>
          <c:dPt>
            <c:idx val="6"/>
            <c:invertIfNegative val="0"/>
            <c:spPr>
              <a:solidFill>
                <a:srgbClr val="f97316"/>
              </a:solidFill>
              <a:ln w="0">
                <a:noFill/>
              </a:ln>
            </c:spPr>
          </c:dPt>
          <c:dPt>
            <c:idx val="7"/>
            <c:invertIfNegative val="0"/>
            <c:spPr>
              <a:solidFill>
                <a:srgbClr val="f97316"/>
              </a:solidFill>
              <a:ln w="0">
                <a:noFill/>
              </a:ln>
            </c:spPr>
          </c:dPt>
          <c:dPt>
            <c:idx val="8"/>
            <c:invertIfNegative val="0"/>
            <c:spPr>
              <a:solidFill>
                <a:srgbClr val="f6ad55"/>
              </a:solidFill>
              <a:ln w="0">
                <a:noFill/>
              </a:ln>
            </c:spPr>
          </c:dPt>
          <c:dPt>
            <c:idx val="9"/>
            <c:invertIfNegative val="0"/>
            <c:spPr>
              <a:solidFill>
                <a:srgbClr val="f6ad55"/>
              </a:solidFill>
              <a:ln w="0">
                <a:noFill/>
              </a:ln>
            </c:spPr>
          </c:dPt>
          <c:dLbls>
            <c:numFmt formatCode="#,##0" sourceLinked="0"/>
            <c:dLbl>
              <c:idx val="0"/>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1"/>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2"/>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3"/>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4"/>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5"/>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6"/>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7"/>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8"/>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dLbl>
              <c:idx val="9"/>
              <c:numFmt formatCode="#,##0" sourceLinked="0"/>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dLbl>
            <c:txPr>
              <a:bodyPr wrap="square"/>
              <a:lstStyle/>
              <a:p>
                <a:pPr>
                  <a:defRPr b="0" sz="700" spc="-1" strike="noStrike">
                    <a:solidFill>
                      <a:srgbClr val="ffffff"/>
                    </a:solidFill>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DN4</c:v>
                </c:pt>
                <c:pt idx="1">
                  <c:v>component_seat3</c:v>
                </c:pt>
                <c:pt idx="2">
                  <c:v>Q4P</c:v>
                </c:pt>
                <c:pt idx="3">
                  <c:v>G1D</c:v>
                </c:pt>
                <c:pt idx="4">
                  <c:v>G1C</c:v>
                </c:pt>
                <c:pt idx="5">
                  <c:v>G0K</c:v>
                </c:pt>
                <c:pt idx="6">
                  <c:v>component_seat1</c:v>
                </c:pt>
                <c:pt idx="7">
                  <c:v>Q2J</c:v>
                </c:pt>
                <c:pt idx="8">
                  <c:v>Q4H</c:v>
                </c:pt>
                <c:pt idx="9">
                  <c:v>component_seat2</c:v>
                </c:pt>
              </c:strCache>
            </c:strRef>
          </c:cat>
          <c:val>
            <c:numRef>
              <c:f>0</c:f>
              <c:numCache>
                <c:formatCode>General</c:formatCode>
                <c:ptCount val="10"/>
                <c:pt idx="0">
                  <c:v>13.25</c:v>
                </c:pt>
                <c:pt idx="1">
                  <c:v>13.65</c:v>
                </c:pt>
                <c:pt idx="2">
                  <c:v>13.65</c:v>
                </c:pt>
                <c:pt idx="3">
                  <c:v>15.04</c:v>
                </c:pt>
                <c:pt idx="4">
                  <c:v>23.8</c:v>
                </c:pt>
                <c:pt idx="5">
                  <c:v>30.69</c:v>
                </c:pt>
                <c:pt idx="6">
                  <c:v>34.74</c:v>
                </c:pt>
                <c:pt idx="7">
                  <c:v>34.74</c:v>
                </c:pt>
                <c:pt idx="8">
                  <c:v>42.99</c:v>
                </c:pt>
                <c:pt idx="9">
                  <c:v>42.99</c:v>
                </c:pt>
              </c:numCache>
            </c:numRef>
          </c:val>
        </c:ser>
        <c:gapWidth val="150"/>
        <c:overlap val="0"/>
        <c:axId val="6203162"/>
        <c:axId val="88705912"/>
      </c:barChart>
      <c:catAx>
        <c:axId val="6203162"/>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b="0" sz="1200" spc="-1" strike="noStrike">
                <a:solidFill>
                  <a:srgbClr val="94a3b8"/>
                </a:solidFill>
                <a:latin typeface="Arial"/>
              </a:defRPr>
            </a:pPr>
          </a:p>
        </c:txPr>
        <c:crossAx val="88705912"/>
        <c:crosses val="autoZero"/>
        <c:auto val="1"/>
        <c:lblAlgn val="ctr"/>
        <c:lblOffset val="100"/>
        <c:noMultiLvlLbl val="0"/>
      </c:catAx>
      <c:valAx>
        <c:axId val="88705912"/>
        <c:scaling>
          <c:orientation val="minMax"/>
        </c:scaling>
        <c:delete val="0"/>
        <c:axPos val="l"/>
        <c:majorGridlines>
          <c:spPr>
            <a:ln w="6480">
              <a:solidFill>
                <a:srgbClr val="1a3a5f"/>
              </a:solidFill>
              <a:round/>
            </a:ln>
          </c:spPr>
        </c:majorGridlines>
        <c:numFmt formatCode="General" sourceLinked="0"/>
        <c:majorTickMark val="out"/>
        <c:minorTickMark val="none"/>
        <c:tickLblPos val="low"/>
        <c:spPr>
          <a:ln w="12600">
            <a:solidFill>
              <a:srgbClr val="888888"/>
            </a:solidFill>
            <a:round/>
          </a:ln>
        </c:spPr>
        <c:txPr>
          <a:bodyPr/>
          <a:lstStyle/>
          <a:p>
            <a:pPr>
              <a:defRPr b="0" sz="1200" spc="-1" strike="noStrike">
                <a:solidFill>
                  <a:srgbClr val="94a3b8"/>
                </a:solidFill>
                <a:latin typeface="Arial"/>
              </a:defRPr>
            </a:pPr>
          </a:p>
        </c:txPr>
        <c:crossAx val="6203162"/>
        <c:crosses val="autoZero"/>
        <c:crossBetween val="between"/>
      </c:valAx>
      <c:spPr>
        <a:noFill/>
        <a:ln w="0">
          <a:noFill/>
        </a:ln>
      </c:spPr>
    </c:plotArea>
    <c:plotVisOnly val="1"/>
    <c:dispBlanksAs val="span"/>
  </c:chart>
  <c:spPr>
    <a:solidFill>
      <a:srgbClr val="0f2030"/>
    </a:solid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a:t>
            </a:r>
            <a:r>
              <a:rPr b="0" lang="en-US" sz="2000" spc="-1" strike="noStrike">
                <a:solidFill>
                  <a:srgbClr val="000000"/>
                </a:solidFill>
                <a:latin typeface="Arial"/>
              </a:rPr>
              <a:t>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D16BC32-CF9B-4DCE-85EC-35C0D3E6382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6040" cy="3085920"/>
          </a:xfrm>
          <a:prstGeom prst="rect">
            <a:avLst/>
          </a:prstGeom>
          <a:ln w="0">
            <a:noFill/>
          </a:ln>
        </p:spPr>
      </p:sp>
      <p:sp>
        <p:nvSpPr>
          <p:cNvPr id="4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6"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FD54EBF-C8CC-4EEB-85C7-5A3B3FC5437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685800" y="1143000"/>
            <a:ext cx="5486040" cy="3085920"/>
          </a:xfrm>
          <a:prstGeom prst="rect">
            <a:avLst/>
          </a:prstGeom>
          <a:ln w="0">
            <a:noFill/>
          </a:ln>
        </p:spPr>
      </p:sp>
      <p:sp>
        <p:nvSpPr>
          <p:cNvPr id="4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9"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A997926-1946-4EDD-907D-FA13D2CE683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685800" y="1143000"/>
            <a:ext cx="5486040" cy="3085920"/>
          </a:xfrm>
          <a:prstGeom prst="rect">
            <a:avLst/>
          </a:prstGeom>
          <a:ln w="0">
            <a:noFill/>
          </a:ln>
        </p:spPr>
      </p:sp>
      <p:sp>
        <p:nvSpPr>
          <p:cNvPr id="4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2"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4709A62-9ADC-4A23-96DA-3334625C4E7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685800" y="1143000"/>
            <a:ext cx="5486040" cy="3085920"/>
          </a:xfrm>
          <a:prstGeom prst="rect">
            <a:avLst/>
          </a:prstGeom>
          <a:ln w="0">
            <a:noFill/>
          </a:ln>
        </p:spPr>
      </p:sp>
      <p:sp>
        <p:nvSpPr>
          <p:cNvPr id="4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5"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E188092-E77B-4671-9637-9E425A536F2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685800" y="1143000"/>
            <a:ext cx="5486040" cy="3085920"/>
          </a:xfrm>
          <a:prstGeom prst="rect">
            <a:avLst/>
          </a:prstGeom>
          <a:ln w="0">
            <a:noFill/>
          </a:ln>
        </p:spPr>
      </p:sp>
      <p:sp>
        <p:nvSpPr>
          <p:cNvPr id="4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8"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7D5CAF2-F2E6-4B8F-A05A-9AAEF10B88C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685800" y="1143000"/>
            <a:ext cx="5486040" cy="3085920"/>
          </a:xfrm>
          <a:prstGeom prst="rect">
            <a:avLst/>
          </a:prstGeom>
          <a:ln w="0">
            <a:noFill/>
          </a:ln>
        </p:spPr>
      </p:sp>
      <p:sp>
        <p:nvSpPr>
          <p:cNvPr id="4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1"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E8E9768-0482-4EC4-A3B4-1A80B2D5287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685800" y="1143000"/>
            <a:ext cx="5486040" cy="3085920"/>
          </a:xfrm>
          <a:prstGeom prst="rect">
            <a:avLst/>
          </a:prstGeom>
          <a:ln w="0">
            <a:noFill/>
          </a:ln>
        </p:spPr>
      </p:sp>
      <p:sp>
        <p:nvSpPr>
          <p:cNvPr id="4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4"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1235C38-D002-4106-A8C5-800A42DB9C6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685800" y="1143000"/>
            <a:ext cx="5486040" cy="3085920"/>
          </a:xfrm>
          <a:prstGeom prst="rect">
            <a:avLst/>
          </a:prstGeom>
          <a:ln w="0">
            <a:noFill/>
          </a:ln>
        </p:spPr>
      </p:sp>
      <p:sp>
        <p:nvSpPr>
          <p:cNvPr id="4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7"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4B5F713-F0D7-4637-B1F1-B9174031707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685800" y="1143000"/>
            <a:ext cx="5486040" cy="3085920"/>
          </a:xfrm>
          <a:prstGeom prst="rect">
            <a:avLst/>
          </a:prstGeom>
          <a:ln w="0">
            <a:noFill/>
          </a:ln>
        </p:spPr>
      </p:sp>
      <p:sp>
        <p:nvSpPr>
          <p:cNvPr id="4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40"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E13717F-17DB-465D-8AA7-02EAD0395FD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685800" y="1143000"/>
            <a:ext cx="5486040" cy="3085920"/>
          </a:xfrm>
          <a:prstGeom prst="rect">
            <a:avLst/>
          </a:prstGeom>
          <a:ln w="0">
            <a:noFill/>
          </a:ln>
        </p:spPr>
      </p:sp>
      <p:sp>
        <p:nvSpPr>
          <p:cNvPr id="4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43"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CE1D201-1556-4A19-AF2B-3910B24C89F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685800" y="1143000"/>
            <a:ext cx="5486040" cy="3085920"/>
          </a:xfrm>
          <a:prstGeom prst="rect">
            <a:avLst/>
          </a:prstGeom>
          <a:ln w="0">
            <a:noFill/>
          </a:ln>
        </p:spPr>
      </p:sp>
      <p:sp>
        <p:nvSpPr>
          <p:cNvPr id="4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46"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D64AA61-C2FE-458E-B457-EA0D7A887B7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685800" y="1143000"/>
            <a:ext cx="5486040" cy="3085920"/>
          </a:xfrm>
          <a:prstGeom prst="rect">
            <a:avLst/>
          </a:prstGeom>
          <a:ln w="0">
            <a:noFill/>
          </a:ln>
        </p:spPr>
      </p:sp>
      <p:sp>
        <p:nvSpPr>
          <p:cNvPr id="44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49"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6FC207D-57F2-497B-A3F3-4132BB1C32F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685800" y="1143000"/>
            <a:ext cx="5486040" cy="3085920"/>
          </a:xfrm>
          <a:prstGeom prst="rect">
            <a:avLst/>
          </a:prstGeom>
          <a:ln w="0">
            <a:noFill/>
          </a:ln>
        </p:spPr>
      </p:sp>
      <p:sp>
        <p:nvSpPr>
          <p:cNvPr id="45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52"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7C98A54-7941-4FBF-B302-222695B34FE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685800" y="1143000"/>
            <a:ext cx="5486040" cy="3085920"/>
          </a:xfrm>
          <a:prstGeom prst="rect">
            <a:avLst/>
          </a:prstGeom>
          <a:ln w="0">
            <a:noFill/>
          </a:ln>
        </p:spPr>
      </p:sp>
      <p:sp>
        <p:nvSpPr>
          <p:cNvPr id="45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55"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022FCB4-DB32-4686-8AC1-606364D0D0A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685800" y="1143000"/>
            <a:ext cx="5486040" cy="3085920"/>
          </a:xfrm>
          <a:prstGeom prst="rect">
            <a:avLst/>
          </a:prstGeom>
          <a:ln w="0">
            <a:noFill/>
          </a:ln>
        </p:spPr>
      </p:sp>
      <p:sp>
        <p:nvSpPr>
          <p:cNvPr id="45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58"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CE3907B-8907-45B6-A1C0-491060405DB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8" name="Text 0"/>
          <p:cNvSpPr/>
          <p:nvPr/>
        </p:nvSpPr>
        <p:spPr>
          <a:xfrm>
            <a:off x="548640" y="640080"/>
            <a:ext cx="804636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pc="-1" strike="noStrike">
                <a:solidFill>
                  <a:srgbClr val="ffffff"/>
                </a:solidFill>
                <a:latin typeface="Calibri"/>
              </a:rPr>
              <a:t>Automotive Supply Chain</a:t>
            </a:r>
            <a:endParaRPr b="0" lang="en-US" sz="2600" spc="-1" strike="noStrike">
              <a:solidFill>
                <a:srgbClr val="ffffff"/>
              </a:solidFill>
              <a:latin typeface="Arial"/>
            </a:endParaRPr>
          </a:p>
        </p:txBody>
      </p:sp>
      <p:sp>
        <p:nvSpPr>
          <p:cNvPr id="9" name="Text 1"/>
          <p:cNvSpPr/>
          <p:nvPr/>
        </p:nvSpPr>
        <p:spPr>
          <a:xfrm>
            <a:off x="548640" y="1188720"/>
            <a:ext cx="80463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f6ad55"/>
                </a:solidFill>
                <a:latin typeface="Calibri"/>
              </a:rPr>
              <a:t>Deep Analytics &amp; Graph Data Science</a:t>
            </a:r>
            <a:endParaRPr b="0" lang="en-US" sz="2200" spc="-1" strike="noStrike">
              <a:solidFill>
                <a:srgbClr val="ffffff"/>
              </a:solidFill>
              <a:latin typeface="Arial"/>
            </a:endParaRPr>
          </a:p>
        </p:txBody>
      </p:sp>
      <p:sp>
        <p:nvSpPr>
          <p:cNvPr id="10" name="Text 2"/>
          <p:cNvSpPr/>
          <p:nvPr/>
        </p:nvSpPr>
        <p:spPr>
          <a:xfrm>
            <a:off x="548640" y="1828800"/>
            <a:ext cx="804636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bee3f8"/>
                </a:solidFill>
                <a:latin typeface="Calibri"/>
              </a:rPr>
              <a:t>Continuing from EDA 7 — Buffer Zone, Blast Radius, Analytical Questions &amp; GDS Algorithms</a:t>
            </a:r>
            <a:endParaRPr b="0" lang="en-US" sz="1100" spc="-1" strike="noStrike">
              <a:solidFill>
                <a:srgbClr val="ffffff"/>
              </a:solidFill>
              <a:latin typeface="Arial"/>
            </a:endParaRPr>
          </a:p>
        </p:txBody>
      </p:sp>
      <p:sp>
        <p:nvSpPr>
          <p:cNvPr id="11" name="Shape 3"/>
          <p:cNvSpPr/>
          <p:nvPr/>
        </p:nvSpPr>
        <p:spPr>
          <a:xfrm>
            <a:off x="548640" y="2423160"/>
            <a:ext cx="1919880" cy="82260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Text 4"/>
          <p:cNvSpPr/>
          <p:nvPr/>
        </p:nvSpPr>
        <p:spPr>
          <a:xfrm>
            <a:off x="548640" y="2450520"/>
            <a:ext cx="191988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000" spc="-1" strike="noStrike">
                <a:solidFill>
                  <a:srgbClr val="f6ad55"/>
                </a:solidFill>
                <a:latin typeface="Calibri"/>
              </a:rPr>
              <a:t>Ch.5</a:t>
            </a:r>
            <a:endParaRPr b="0" lang="en-US" sz="2000" spc="-1" strike="noStrike">
              <a:solidFill>
                <a:srgbClr val="ffffff"/>
              </a:solidFill>
              <a:latin typeface="Arial"/>
            </a:endParaRPr>
          </a:p>
        </p:txBody>
      </p:sp>
      <p:sp>
        <p:nvSpPr>
          <p:cNvPr id="13" name="Text 5"/>
          <p:cNvSpPr/>
          <p:nvPr/>
        </p:nvSpPr>
        <p:spPr>
          <a:xfrm>
            <a:off x="548640" y="2834640"/>
            <a:ext cx="191988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bee3f8"/>
                </a:solidFill>
                <a:latin typeface="Calibri"/>
              </a:rPr>
              <a:t>Buffer Zone</a:t>
            </a:r>
            <a:endParaRPr b="0" lang="en-US" sz="900" spc="-1" strike="noStrike">
              <a:solidFill>
                <a:srgbClr val="ffffff"/>
              </a:solidFill>
              <a:latin typeface="Arial"/>
            </a:endParaRPr>
          </a:p>
        </p:txBody>
      </p:sp>
      <p:sp>
        <p:nvSpPr>
          <p:cNvPr id="14" name="Shape 6"/>
          <p:cNvSpPr/>
          <p:nvPr/>
        </p:nvSpPr>
        <p:spPr>
          <a:xfrm>
            <a:off x="2651760" y="2423160"/>
            <a:ext cx="1919880" cy="82260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Text 7"/>
          <p:cNvSpPr/>
          <p:nvPr/>
        </p:nvSpPr>
        <p:spPr>
          <a:xfrm>
            <a:off x="2651760" y="2450520"/>
            <a:ext cx="191988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000" spc="-1" strike="noStrike">
                <a:solidFill>
                  <a:srgbClr val="f6ad55"/>
                </a:solidFill>
                <a:latin typeface="Calibri"/>
              </a:rPr>
              <a:t>Ch.6</a:t>
            </a:r>
            <a:endParaRPr b="0" lang="en-US" sz="2000" spc="-1" strike="noStrike">
              <a:solidFill>
                <a:srgbClr val="ffffff"/>
              </a:solidFill>
              <a:latin typeface="Arial"/>
            </a:endParaRPr>
          </a:p>
        </p:txBody>
      </p:sp>
      <p:sp>
        <p:nvSpPr>
          <p:cNvPr id="16" name="Text 8"/>
          <p:cNvSpPr/>
          <p:nvPr/>
        </p:nvSpPr>
        <p:spPr>
          <a:xfrm>
            <a:off x="2651760" y="2834640"/>
            <a:ext cx="191988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bee3f8"/>
                </a:solidFill>
                <a:latin typeface="Calibri"/>
              </a:rPr>
              <a:t>Blast Radius</a:t>
            </a:r>
            <a:endParaRPr b="0" lang="en-US" sz="900" spc="-1" strike="noStrike">
              <a:solidFill>
                <a:srgbClr val="ffffff"/>
              </a:solidFill>
              <a:latin typeface="Arial"/>
            </a:endParaRPr>
          </a:p>
        </p:txBody>
      </p:sp>
      <p:sp>
        <p:nvSpPr>
          <p:cNvPr id="17" name="Shape 9"/>
          <p:cNvSpPr/>
          <p:nvPr/>
        </p:nvSpPr>
        <p:spPr>
          <a:xfrm>
            <a:off x="4754880" y="2423160"/>
            <a:ext cx="1919880" cy="82260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Text 10"/>
          <p:cNvSpPr/>
          <p:nvPr/>
        </p:nvSpPr>
        <p:spPr>
          <a:xfrm>
            <a:off x="4754880" y="2450520"/>
            <a:ext cx="191988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000" spc="-1" strike="noStrike">
                <a:solidFill>
                  <a:srgbClr val="f6ad55"/>
                </a:solidFill>
                <a:latin typeface="Calibri"/>
              </a:rPr>
              <a:t>3 AQs</a:t>
            </a:r>
            <a:endParaRPr b="0" lang="en-US" sz="2000" spc="-1" strike="noStrike">
              <a:solidFill>
                <a:srgbClr val="ffffff"/>
              </a:solidFill>
              <a:latin typeface="Arial"/>
            </a:endParaRPr>
          </a:p>
        </p:txBody>
      </p:sp>
      <p:sp>
        <p:nvSpPr>
          <p:cNvPr id="19" name="Text 11"/>
          <p:cNvSpPr/>
          <p:nvPr/>
        </p:nvSpPr>
        <p:spPr>
          <a:xfrm>
            <a:off x="4754880" y="2834640"/>
            <a:ext cx="191988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bee3f8"/>
                </a:solidFill>
                <a:latin typeface="Calibri"/>
              </a:rPr>
              <a:t>Analytical Qs</a:t>
            </a:r>
            <a:endParaRPr b="0" lang="en-US" sz="900" spc="-1" strike="noStrike">
              <a:solidFill>
                <a:srgbClr val="ffffff"/>
              </a:solidFill>
              <a:latin typeface="Arial"/>
            </a:endParaRPr>
          </a:p>
        </p:txBody>
      </p:sp>
      <p:sp>
        <p:nvSpPr>
          <p:cNvPr id="20" name="Shape 12"/>
          <p:cNvSpPr/>
          <p:nvPr/>
        </p:nvSpPr>
        <p:spPr>
          <a:xfrm>
            <a:off x="6858000" y="2423160"/>
            <a:ext cx="1919880" cy="82260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Text 13"/>
          <p:cNvSpPr/>
          <p:nvPr/>
        </p:nvSpPr>
        <p:spPr>
          <a:xfrm>
            <a:off x="6858000" y="2450520"/>
            <a:ext cx="191988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000" spc="-1" strike="noStrike">
                <a:solidFill>
                  <a:srgbClr val="f6ad55"/>
                </a:solidFill>
                <a:latin typeface="Calibri"/>
              </a:rPr>
              <a:t>GDS</a:t>
            </a:r>
            <a:endParaRPr b="0" lang="en-US" sz="2000" spc="-1" strike="noStrike">
              <a:solidFill>
                <a:srgbClr val="ffffff"/>
              </a:solidFill>
              <a:latin typeface="Arial"/>
            </a:endParaRPr>
          </a:p>
        </p:txBody>
      </p:sp>
      <p:sp>
        <p:nvSpPr>
          <p:cNvPr id="22" name="Text 14"/>
          <p:cNvSpPr/>
          <p:nvPr/>
        </p:nvSpPr>
        <p:spPr>
          <a:xfrm>
            <a:off x="6858000" y="2834640"/>
            <a:ext cx="191988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bee3f8"/>
                </a:solidFill>
                <a:latin typeface="Calibri"/>
              </a:rPr>
              <a:t>PageRank + Louvain</a:t>
            </a:r>
            <a:endParaRPr b="0" lang="en-US" sz="900" spc="-1" strike="noStrike">
              <a:solidFill>
                <a:srgbClr val="ffffff"/>
              </a:solidFill>
              <a:latin typeface="Arial"/>
            </a:endParaRPr>
          </a:p>
        </p:txBody>
      </p:sp>
      <p:sp>
        <p:nvSpPr>
          <p:cNvPr id="23" name="Text 15"/>
          <p:cNvSpPr/>
          <p:nvPr/>
        </p:nvSpPr>
        <p:spPr>
          <a:xfrm>
            <a:off x="548640" y="3474720"/>
            <a:ext cx="804636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4a3b8"/>
                </a:solidFill>
                <a:latin typeface="Calibri"/>
              </a:rPr>
              <a:t>Team: Bekithemba Nkomo · Peter Mangoro · Masheia Dzimba</a:t>
            </a:r>
            <a:endParaRPr b="0" lang="en-US" sz="1000" spc="-1" strike="noStrike">
              <a:solidFill>
                <a:srgbClr val="ffffff"/>
              </a:solidFill>
              <a:latin typeface="Arial"/>
            </a:endParaRPr>
          </a:p>
        </p:txBody>
      </p:sp>
      <p:sp>
        <p:nvSpPr>
          <p:cNvPr id="24" name="Text 16"/>
          <p:cNvSpPr/>
          <p:nvPr/>
        </p:nvSpPr>
        <p:spPr>
          <a:xfrm>
            <a:off x="0" y="4983480"/>
            <a:ext cx="9143640" cy="164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5" name="Text 0"/>
          <p:cNvSpPr/>
          <p:nvPr/>
        </p:nvSpPr>
        <p:spPr>
          <a:xfrm>
            <a:off x="5943600" y="274320"/>
            <a:ext cx="2925720" cy="41144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18000" spc="-1" strike="noStrike">
                <a:solidFill>
                  <a:srgbClr val="1a3a5c">
                    <a:alpha val="30000"/>
                  </a:srgbClr>
                </a:solidFill>
                <a:latin typeface="Calibri"/>
              </a:rPr>
              <a:t>05</a:t>
            </a:r>
            <a:endParaRPr b="0" lang="en-US" sz="18000" spc="-1" strike="noStrike">
              <a:solidFill>
                <a:srgbClr val="ffffff"/>
              </a:solidFill>
              <a:latin typeface="Arial"/>
            </a:endParaRPr>
          </a:p>
        </p:txBody>
      </p:sp>
      <p:sp>
        <p:nvSpPr>
          <p:cNvPr id="26" name="Shape 1"/>
          <p:cNvSpPr/>
          <p:nvPr/>
        </p:nvSpPr>
        <p:spPr>
          <a:xfrm>
            <a:off x="457200" y="548640"/>
            <a:ext cx="1371240" cy="29232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 name="Text 2"/>
          <p:cNvSpPr/>
          <p:nvPr/>
        </p:nvSpPr>
        <p:spPr>
          <a:xfrm>
            <a:off x="457200" y="548640"/>
            <a:ext cx="137124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CHAPTER 5</a:t>
            </a:r>
            <a:endParaRPr b="0" lang="en-US" sz="900" spc="-1" strike="noStrike">
              <a:solidFill>
                <a:srgbClr val="ffffff"/>
              </a:solidFill>
              <a:latin typeface="Arial"/>
            </a:endParaRPr>
          </a:p>
        </p:txBody>
      </p:sp>
      <p:sp>
        <p:nvSpPr>
          <p:cNvPr id="28" name="Text 3"/>
          <p:cNvSpPr/>
          <p:nvPr/>
        </p:nvSpPr>
        <p:spPr>
          <a:xfrm>
            <a:off x="457200" y="960120"/>
            <a:ext cx="548604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Calibri"/>
              </a:rPr>
              <a:t>The Buffer Zone</a:t>
            </a:r>
            <a:endParaRPr b="0" lang="en-US" sz="3200" spc="-1" strike="noStrike">
              <a:solidFill>
                <a:srgbClr val="ffffff"/>
              </a:solidFill>
              <a:latin typeface="Arial"/>
            </a:endParaRPr>
          </a:p>
        </p:txBody>
      </p:sp>
      <p:sp>
        <p:nvSpPr>
          <p:cNvPr id="29" name="Text 4"/>
          <p:cNvSpPr/>
          <p:nvPr/>
        </p:nvSpPr>
        <p:spPr>
          <a:xfrm>
            <a:off x="457200" y="1737360"/>
            <a:ext cx="5486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400" spc="-1" strike="noStrike">
                <a:solidFill>
                  <a:srgbClr val="5b8db8"/>
                </a:solidFill>
                <a:latin typeface="Calibri"/>
              </a:rPr>
              <a:t>Inventory and pipeline stock are our shock absorbers — but are they enough?</a:t>
            </a:r>
            <a:endParaRPr b="0" lang="en-US" sz="1400" spc="-1" strike="noStrike">
              <a:solidFill>
                <a:srgbClr val="ffffff"/>
              </a:solidFill>
              <a:latin typeface="Arial"/>
            </a:endParaRPr>
          </a:p>
        </p:txBody>
      </p:sp>
      <p:sp>
        <p:nvSpPr>
          <p:cNvPr id="30" name="Shape 5"/>
          <p:cNvSpPr/>
          <p:nvPr/>
        </p:nvSpPr>
        <p:spPr>
          <a:xfrm>
            <a:off x="457200" y="2286000"/>
            <a:ext cx="5120280" cy="36360"/>
          </a:xfrm>
          <a:prstGeom prst="rect">
            <a:avLst/>
          </a:prstGeom>
          <a:solidFill>
            <a:srgbClr val="5b8db8"/>
          </a:solidFill>
          <a:ln w="12700">
            <a:solidFill>
              <a:srgbClr val="5b8db8"/>
            </a:solidFill>
            <a:round/>
          </a:ln>
        </p:spPr>
        <p:style>
          <a:lnRef idx="0"/>
          <a:fillRef idx="0"/>
          <a:effectRef idx="0"/>
          <a:fontRef idx="minor"/>
        </p:style>
        <p:txBody>
          <a:bodyPr lIns="90000" rIns="90000" tIns="-8280" bIns="-8280" anchor="t">
            <a:noAutofit/>
          </a:bodyPr>
          <a:p>
            <a:endParaRPr b="0" lang="en-US" sz="1800" spc="-1" strike="noStrike">
              <a:solidFill>
                <a:srgbClr val="ffffff"/>
              </a:solidFill>
              <a:latin typeface="Arial"/>
            </a:endParaRPr>
          </a:p>
        </p:txBody>
      </p:sp>
      <p:sp>
        <p:nvSpPr>
          <p:cNvPr id="31" name="Text 6"/>
          <p:cNvSpPr/>
          <p:nvPr/>
        </p:nvSpPr>
        <p:spPr>
          <a:xfrm>
            <a:off x="457200" y="2423160"/>
            <a:ext cx="51202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d4a843"/>
                </a:solidFill>
                <a:latin typeface="Calibri"/>
              </a:rPr>
              <a:t>What the operations team is asking:</a:t>
            </a:r>
            <a:endParaRPr b="0" lang="en-US" sz="1000" spc="-1" strike="noStrike">
              <a:solidFill>
                <a:srgbClr val="ffffff"/>
              </a:solidFill>
              <a:latin typeface="Arial"/>
            </a:endParaRPr>
          </a:p>
        </p:txBody>
      </p:sp>
      <p:sp>
        <p:nvSpPr>
          <p:cNvPr id="32" name="Text 7"/>
          <p:cNvSpPr/>
          <p:nvPr/>
        </p:nvSpPr>
        <p:spPr>
          <a:xfrm>
            <a:off x="457200" y="2724840"/>
            <a:ext cx="5120280" cy="1645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e2e8f0"/>
                </a:solidFill>
                <a:latin typeface="Calibri"/>
              </a:rPr>
              <a:t>When a supplier fails, inventory is what keeps the assembly line running until new stock arrives. How much buffer does each facility hold at the start of the planning horizon? And how much stock is already in transit — committed but not yet arrived? These are the questions that determine how long we can survive a disruption before the line stops.</a:t>
            </a:r>
            <a:endParaRPr b="0" lang="en-US" sz="1100" spc="-1" strike="noStrike">
              <a:solidFill>
                <a:srgbClr val="ffffff"/>
              </a:solidFill>
              <a:latin typeface="Arial"/>
            </a:endParaRPr>
          </a:p>
        </p:txBody>
      </p:sp>
      <p:sp>
        <p:nvSpPr>
          <p:cNvPr id="33" name="Text 8"/>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4"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 name="Shape 1"/>
          <p:cNvSpPr/>
          <p:nvPr/>
        </p:nvSpPr>
        <p:spPr>
          <a:xfrm>
            <a:off x="274320" y="137160"/>
            <a:ext cx="959760" cy="32868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EDA 7</a:t>
            </a:r>
            <a:endParaRPr b="0" lang="en-US" sz="1000" spc="-1" strike="noStrike">
              <a:solidFill>
                <a:srgbClr val="ffffff"/>
              </a:solidFill>
              <a:latin typeface="Arial"/>
            </a:endParaRPr>
          </a:p>
        </p:txBody>
      </p:sp>
      <p:sp>
        <p:nvSpPr>
          <p:cNvPr id="37" name="Text 3"/>
          <p:cNvSpPr/>
          <p:nvPr/>
        </p:nvSpPr>
        <p:spPr>
          <a:xfrm>
            <a:off x="1371600" y="128160"/>
            <a:ext cx="74977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libri"/>
              </a:rPr>
              <a:t>Lane Capacity at Week 1 — Which supply routes start already constrained?</a:t>
            </a:r>
            <a:endParaRPr b="0" lang="en-US" sz="1600" spc="-1" strike="noStrike">
              <a:solidFill>
                <a:srgbClr val="ffffff"/>
              </a:solidFill>
              <a:latin typeface="Arial"/>
            </a:endParaRPr>
          </a:p>
        </p:txBody>
      </p:sp>
      <p:sp>
        <p:nvSpPr>
          <p:cNvPr id="38" name="Shape 4"/>
          <p:cNvSpPr/>
          <p:nvPr/>
        </p:nvSpPr>
        <p:spPr>
          <a:xfrm>
            <a:off x="255960" y="749880"/>
            <a:ext cx="8631720" cy="347040"/>
          </a:xfrm>
          <a:prstGeom prst="rect">
            <a:avLst/>
          </a:prstGeom>
          <a:solidFill>
            <a:srgbClr val="162032"/>
          </a:solidFill>
          <a:ln w="1397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 name="Text 5"/>
          <p:cNvSpPr/>
          <p:nvPr/>
        </p:nvSpPr>
        <p:spPr>
          <a:xfrm>
            <a:off x="384120" y="749880"/>
            <a:ext cx="84121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d4a843"/>
                </a:solidFill>
                <a:latin typeface="Calibri"/>
              </a:rPr>
              <a:t>Manager asks:  </a:t>
            </a:r>
            <a:r>
              <a:rPr b="0" i="1" lang="en-US" sz="1000" spc="-1" strike="noStrike">
                <a:solidFill>
                  <a:srgbClr val="ffffff"/>
                </a:solidFill>
                <a:latin typeface="Calibri"/>
              </a:rPr>
              <a:t>At day one of our planning horizon, which supply routes are already at or near their limit?</a:t>
            </a:r>
            <a:endParaRPr b="0" lang="en-US" sz="1000" spc="-1" strike="noStrike">
              <a:solidFill>
                <a:srgbClr val="ffffff"/>
              </a:solidFill>
              <a:latin typeface="Arial"/>
            </a:endParaRPr>
          </a:p>
        </p:txBody>
      </p:sp>
      <p:sp>
        <p:nvSpPr>
          <p:cNvPr id="40" name="Shape 6"/>
          <p:cNvSpPr/>
          <p:nvPr/>
        </p:nvSpPr>
        <p:spPr>
          <a:xfrm>
            <a:off x="5559480" y="1536120"/>
            <a:ext cx="3328200" cy="31068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Text 7"/>
          <p:cNvSpPr/>
          <p:nvPr/>
        </p:nvSpPr>
        <p:spPr>
          <a:xfrm>
            <a:off x="5559480" y="1536120"/>
            <a:ext cx="3328200" cy="31068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100" spc="-1" strike="noStrike">
                <a:solidFill>
                  <a:srgbClr val="ffffff"/>
                </a:solidFill>
                <a:latin typeface="Calibri"/>
              </a:rPr>
              <a:t>Key Findings</a:t>
            </a:r>
            <a:endParaRPr b="0" lang="en-US" sz="1100" spc="-1" strike="noStrike">
              <a:solidFill>
                <a:srgbClr val="ffffff"/>
              </a:solidFill>
              <a:latin typeface="Arial"/>
            </a:endParaRPr>
          </a:p>
        </p:txBody>
      </p:sp>
      <p:sp>
        <p:nvSpPr>
          <p:cNvPr id="42" name="Shape 8"/>
          <p:cNvSpPr/>
          <p:nvPr/>
        </p:nvSpPr>
        <p:spPr>
          <a:xfrm>
            <a:off x="5559480" y="1847160"/>
            <a:ext cx="3328200" cy="1828440"/>
          </a:xfrm>
          <a:prstGeom prst="rect">
            <a:avLst/>
          </a:prstGeom>
          <a:solidFill>
            <a:srgbClr val="1a2e44"/>
          </a:solidFill>
          <a:ln w="12700">
            <a:solidFill>
              <a:srgbClr val="1a2e4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 name="Shape 9"/>
          <p:cNvSpPr/>
          <p:nvPr/>
        </p:nvSpPr>
        <p:spPr>
          <a:xfrm>
            <a:off x="5632560" y="195696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44" name="Text 10"/>
          <p:cNvSpPr/>
          <p:nvPr/>
        </p:nvSpPr>
        <p:spPr>
          <a:xfrm>
            <a:off x="5815440" y="190188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Battery production route: only 294 units/week — 7× lower than all other routes at 2,100</a:t>
            </a:r>
            <a:endParaRPr b="0" lang="en-US" sz="950" spc="-1" strike="noStrike">
              <a:solidFill>
                <a:srgbClr val="ffffff"/>
              </a:solidFill>
              <a:latin typeface="Arial"/>
            </a:endParaRPr>
          </a:p>
        </p:txBody>
      </p:sp>
      <p:sp>
        <p:nvSpPr>
          <p:cNvPr id="45" name="Shape 11"/>
          <p:cNvSpPr/>
          <p:nvPr/>
        </p:nvSpPr>
        <p:spPr>
          <a:xfrm>
            <a:off x="5632560" y="239580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46" name="Text 12"/>
          <p:cNvSpPr/>
          <p:nvPr/>
        </p:nvSpPr>
        <p:spPr>
          <a:xfrm>
            <a:off x="5815440" y="234072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This 294-unit ceiling is a structural constraint, not a planning failure</a:t>
            </a:r>
            <a:endParaRPr b="0" lang="en-US" sz="950" spc="-1" strike="noStrike">
              <a:solidFill>
                <a:srgbClr val="ffffff"/>
              </a:solidFill>
              <a:latin typeface="Arial"/>
            </a:endParaRPr>
          </a:p>
        </p:txBody>
      </p:sp>
      <p:sp>
        <p:nvSpPr>
          <p:cNvPr id="47" name="Shape 13"/>
          <p:cNvSpPr/>
          <p:nvPr/>
        </p:nvSpPr>
        <p:spPr>
          <a:xfrm>
            <a:off x="5632560" y="283464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48" name="Text 14"/>
          <p:cNvSpPr/>
          <p:nvPr/>
        </p:nvSpPr>
        <p:spPr>
          <a:xfrm>
            <a:off x="5815440" y="277992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Routes with zero capacity (transit facilities) are excluded — no active flow at week 1</a:t>
            </a:r>
            <a:endParaRPr b="0" lang="en-US" sz="950" spc="-1" strike="noStrike">
              <a:solidFill>
                <a:srgbClr val="ffffff"/>
              </a:solidFill>
              <a:latin typeface="Arial"/>
            </a:endParaRPr>
          </a:p>
        </p:txBody>
      </p:sp>
      <p:sp>
        <p:nvSpPr>
          <p:cNvPr id="49" name="Shape 15"/>
          <p:cNvSpPr/>
          <p:nvPr/>
        </p:nvSpPr>
        <p:spPr>
          <a:xfrm>
            <a:off x="5632560" y="327348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50" name="Text 16"/>
          <p:cNvSpPr/>
          <p:nvPr/>
        </p:nvSpPr>
        <p:spPr>
          <a:xfrm>
            <a:off x="5815440" y="321876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The 20:1 battery assembly ratio amplifies any demand change 20× upstream</a:t>
            </a:r>
            <a:endParaRPr b="0" lang="en-US" sz="950" spc="-1" strike="noStrike">
              <a:solidFill>
                <a:srgbClr val="ffffff"/>
              </a:solidFill>
              <a:latin typeface="Arial"/>
            </a:endParaRPr>
          </a:p>
        </p:txBody>
      </p:sp>
      <p:sp>
        <p:nvSpPr>
          <p:cNvPr id="51" name="Shape 17"/>
          <p:cNvSpPr/>
          <p:nvPr/>
        </p:nvSpPr>
        <p:spPr>
          <a:xfrm>
            <a:off x="5559480" y="3712320"/>
            <a:ext cx="3328200" cy="255600"/>
          </a:xfrm>
          <a:prstGeom prst="rect">
            <a:avLst/>
          </a:prstGeom>
          <a:solidFill>
            <a:srgbClr val="122030"/>
          </a:solidFill>
          <a:ln w="1270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Text 18"/>
          <p:cNvSpPr/>
          <p:nvPr/>
        </p:nvSpPr>
        <p:spPr>
          <a:xfrm>
            <a:off x="5632560" y="3712320"/>
            <a:ext cx="3200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d4a843"/>
                </a:solidFill>
                <a:latin typeface="Calibri"/>
              </a:rPr>
              <a:t>Story insight</a:t>
            </a:r>
            <a:endParaRPr b="0" lang="en-US" sz="900" spc="-1" strike="noStrike">
              <a:solidFill>
                <a:srgbClr val="ffffff"/>
              </a:solidFill>
              <a:latin typeface="Arial"/>
            </a:endParaRPr>
          </a:p>
        </p:txBody>
      </p:sp>
      <p:sp>
        <p:nvSpPr>
          <p:cNvPr id="53" name="Shape 19"/>
          <p:cNvSpPr/>
          <p:nvPr/>
        </p:nvSpPr>
        <p:spPr>
          <a:xfrm>
            <a:off x="5559480" y="3968640"/>
            <a:ext cx="3328200" cy="914040"/>
          </a:xfrm>
          <a:prstGeom prst="rect">
            <a:avLst/>
          </a:prstGeom>
          <a:solidFill>
            <a:srgbClr val="0f1e2e"/>
          </a:solidFill>
          <a:ln w="12700">
            <a:solidFill>
              <a:srgbClr val="0f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 name="Text 20"/>
          <p:cNvSpPr/>
          <p:nvPr/>
        </p:nvSpPr>
        <p:spPr>
          <a:xfrm>
            <a:off x="5632560" y="3986640"/>
            <a:ext cx="3200040" cy="877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e2e8f0"/>
                </a:solidFill>
                <a:latin typeface="Calibri"/>
              </a:rPr>
              <a:t>Battery production is the hardest bottleneck before a single planning decision has been made. 294 units per week is a structural ceiling — the network starts week 1 already constrained on the most critical component.</a:t>
            </a:r>
            <a:endParaRPr b="0" lang="en-US" sz="900" spc="-1" strike="noStrike">
              <a:solidFill>
                <a:srgbClr val="ffffff"/>
              </a:solidFill>
              <a:latin typeface="Arial"/>
            </a:endParaRPr>
          </a:p>
        </p:txBody>
      </p:sp>
      <p:sp>
        <p:nvSpPr>
          <p:cNvPr id="55" name="Text 21"/>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
        <p:nvSpPr>
          <p:cNvPr id="56" name="Shape 22"/>
          <p:cNvSpPr/>
          <p:nvPr/>
        </p:nvSpPr>
        <p:spPr>
          <a:xfrm>
            <a:off x="255960" y="1207080"/>
            <a:ext cx="5120280" cy="3346200"/>
          </a:xfrm>
          <a:prstGeom prst="rect">
            <a:avLst/>
          </a:prstGeom>
          <a:solidFill>
            <a:srgbClr val="0f2030"/>
          </a:solidFill>
          <a:ln w="1016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Text 23"/>
          <p:cNvSpPr/>
          <p:nvPr/>
        </p:nvSpPr>
        <p:spPr>
          <a:xfrm>
            <a:off x="347400" y="1261800"/>
            <a:ext cx="219420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50" spc="-1" strike="noStrike">
                <a:solidFill>
                  <a:srgbClr val="f6ad55"/>
                </a:solidFill>
                <a:latin typeface="Calibri"/>
              </a:rPr>
              <a:t>Arc Key</a:t>
            </a:r>
            <a:endParaRPr b="0" lang="en-US" sz="850" spc="-1" strike="noStrike">
              <a:solidFill>
                <a:srgbClr val="ffffff"/>
              </a:solidFill>
              <a:latin typeface="Arial"/>
            </a:endParaRPr>
          </a:p>
        </p:txBody>
      </p:sp>
      <p:sp>
        <p:nvSpPr>
          <p:cNvPr id="58" name="Text 24"/>
          <p:cNvSpPr/>
          <p:nvPr/>
        </p:nvSpPr>
        <p:spPr>
          <a:xfrm>
            <a:off x="2606040" y="1261800"/>
            <a:ext cx="54828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50" spc="-1" strike="noStrike">
                <a:solidFill>
                  <a:srgbClr val="f6ad55"/>
                </a:solidFill>
                <a:latin typeface="Calibri"/>
              </a:rPr>
              <a:t>Lead Time</a:t>
            </a:r>
            <a:endParaRPr b="0" lang="en-US" sz="850" spc="-1" strike="noStrike">
              <a:solidFill>
                <a:srgbClr val="ffffff"/>
              </a:solidFill>
              <a:latin typeface="Arial"/>
            </a:endParaRPr>
          </a:p>
        </p:txBody>
      </p:sp>
      <p:sp>
        <p:nvSpPr>
          <p:cNvPr id="59" name="Text 25"/>
          <p:cNvSpPr/>
          <p:nvPr/>
        </p:nvSpPr>
        <p:spPr>
          <a:xfrm>
            <a:off x="3200400" y="1261800"/>
            <a:ext cx="73116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50" spc="-1" strike="noStrike">
                <a:solidFill>
                  <a:srgbClr val="f6ad55"/>
                </a:solidFill>
                <a:latin typeface="Calibri"/>
              </a:rPr>
              <a:t>Group</a:t>
            </a:r>
            <a:endParaRPr b="0" lang="en-US" sz="850" spc="-1" strike="noStrike">
              <a:solidFill>
                <a:srgbClr val="ffffff"/>
              </a:solidFill>
              <a:latin typeface="Arial"/>
            </a:endParaRPr>
          </a:p>
        </p:txBody>
      </p:sp>
      <p:sp>
        <p:nvSpPr>
          <p:cNvPr id="60" name="Text 26"/>
          <p:cNvSpPr/>
          <p:nvPr/>
        </p:nvSpPr>
        <p:spPr>
          <a:xfrm>
            <a:off x="3977640" y="1261800"/>
            <a:ext cx="1279800" cy="219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50" spc="-1" strike="noStrike">
                <a:solidFill>
                  <a:srgbClr val="f6ad55"/>
                </a:solidFill>
                <a:latin typeface="Calibri"/>
              </a:rPr>
              <a:t>Cap/Wk</a:t>
            </a:r>
            <a:endParaRPr b="0" lang="en-US" sz="850" spc="-1" strike="noStrike">
              <a:solidFill>
                <a:srgbClr val="ffffff"/>
              </a:solidFill>
              <a:latin typeface="Arial"/>
            </a:endParaRPr>
          </a:p>
        </p:txBody>
      </p:sp>
      <p:sp>
        <p:nvSpPr>
          <p:cNvPr id="61" name="Shape 27"/>
          <p:cNvSpPr/>
          <p:nvPr/>
        </p:nvSpPr>
        <p:spPr>
          <a:xfrm>
            <a:off x="274320" y="153612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Text 28"/>
          <p:cNvSpPr/>
          <p:nvPr/>
        </p:nvSpPr>
        <p:spPr>
          <a:xfrm>
            <a:off x="347400" y="153612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battery-inv → zp7</a:t>
            </a:r>
            <a:endParaRPr b="0" lang="en-US" sz="800" spc="-1" strike="noStrike">
              <a:solidFill>
                <a:srgbClr val="ffffff"/>
              </a:solidFill>
              <a:latin typeface="Arial"/>
            </a:endParaRPr>
          </a:p>
        </p:txBody>
      </p:sp>
      <p:sp>
        <p:nvSpPr>
          <p:cNvPr id="63" name="Text 29"/>
          <p:cNvSpPr/>
          <p:nvPr/>
        </p:nvSpPr>
        <p:spPr>
          <a:xfrm>
            <a:off x="2606040" y="153612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1</a:t>
            </a:r>
            <a:endParaRPr b="0" lang="en-US" sz="800" spc="-1" strike="noStrike">
              <a:solidFill>
                <a:srgbClr val="ffffff"/>
              </a:solidFill>
              <a:latin typeface="Arial"/>
            </a:endParaRPr>
          </a:p>
        </p:txBody>
      </p:sp>
      <p:sp>
        <p:nvSpPr>
          <p:cNvPr id="64" name="Text 30"/>
          <p:cNvSpPr/>
          <p:nvPr/>
        </p:nvSpPr>
        <p:spPr>
          <a:xfrm>
            <a:off x="3200400" y="153612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battery</a:t>
            </a:r>
            <a:endParaRPr b="0" lang="en-US" sz="800" spc="-1" strike="noStrike">
              <a:solidFill>
                <a:srgbClr val="ffffff"/>
              </a:solidFill>
              <a:latin typeface="Arial"/>
            </a:endParaRPr>
          </a:p>
        </p:txBody>
      </p:sp>
      <p:sp>
        <p:nvSpPr>
          <p:cNvPr id="65" name="Text 31"/>
          <p:cNvSpPr/>
          <p:nvPr/>
        </p:nvSpPr>
        <p:spPr>
          <a:xfrm>
            <a:off x="3977640" y="153612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1" lang="en-US" sz="800" spc="-1" strike="noStrike">
                <a:solidFill>
                  <a:srgbClr val="f97316"/>
                </a:solidFill>
                <a:latin typeface="Calibri"/>
              </a:rPr>
              <a:t>294</a:t>
            </a:r>
            <a:endParaRPr b="0" lang="en-US" sz="800" spc="-1" strike="noStrike">
              <a:solidFill>
                <a:srgbClr val="ffffff"/>
              </a:solidFill>
              <a:latin typeface="Arial"/>
            </a:endParaRPr>
          </a:p>
        </p:txBody>
      </p:sp>
      <p:sp>
        <p:nvSpPr>
          <p:cNvPr id="66" name="Shape 32"/>
          <p:cNvSpPr/>
          <p:nvPr/>
        </p:nvSpPr>
        <p:spPr>
          <a:xfrm>
            <a:off x="274320" y="1837800"/>
            <a:ext cx="5083560" cy="292320"/>
          </a:xfrm>
          <a:prstGeom prst="rect">
            <a:avLst/>
          </a:prstGeom>
          <a:solidFill>
            <a:srgbClr val="0f2438"/>
          </a:solidFill>
          <a:ln w="12700">
            <a:solidFill>
              <a:srgbClr val="0f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Text 33"/>
          <p:cNvSpPr/>
          <p:nvPr/>
        </p:nvSpPr>
        <p:spPr>
          <a:xfrm>
            <a:off x="347400" y="183780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battery-prod → battery-inv</a:t>
            </a:r>
            <a:endParaRPr b="0" lang="en-US" sz="800" spc="-1" strike="noStrike">
              <a:solidFill>
                <a:srgbClr val="ffffff"/>
              </a:solidFill>
              <a:latin typeface="Arial"/>
            </a:endParaRPr>
          </a:p>
        </p:txBody>
      </p:sp>
      <p:sp>
        <p:nvSpPr>
          <p:cNvPr id="68" name="Text 34"/>
          <p:cNvSpPr/>
          <p:nvPr/>
        </p:nvSpPr>
        <p:spPr>
          <a:xfrm>
            <a:off x="2606040" y="183780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1</a:t>
            </a:r>
            <a:endParaRPr b="0" lang="en-US" sz="800" spc="-1" strike="noStrike">
              <a:solidFill>
                <a:srgbClr val="ffffff"/>
              </a:solidFill>
              <a:latin typeface="Arial"/>
            </a:endParaRPr>
          </a:p>
        </p:txBody>
      </p:sp>
      <p:sp>
        <p:nvSpPr>
          <p:cNvPr id="69" name="Text 35"/>
          <p:cNvSpPr/>
          <p:nvPr/>
        </p:nvSpPr>
        <p:spPr>
          <a:xfrm>
            <a:off x="3200400" y="183780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battery</a:t>
            </a:r>
            <a:endParaRPr b="0" lang="en-US" sz="800" spc="-1" strike="noStrike">
              <a:solidFill>
                <a:srgbClr val="ffffff"/>
              </a:solidFill>
              <a:latin typeface="Arial"/>
            </a:endParaRPr>
          </a:p>
        </p:txBody>
      </p:sp>
      <p:sp>
        <p:nvSpPr>
          <p:cNvPr id="70" name="Text 36"/>
          <p:cNvSpPr/>
          <p:nvPr/>
        </p:nvSpPr>
        <p:spPr>
          <a:xfrm>
            <a:off x="3977640" y="183780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1" lang="en-US" sz="800" spc="-1" strike="noStrike">
                <a:solidFill>
                  <a:srgbClr val="f97316"/>
                </a:solidFill>
                <a:latin typeface="Calibri"/>
              </a:rPr>
              <a:t>294</a:t>
            </a:r>
            <a:endParaRPr b="0" lang="en-US" sz="800" spc="-1" strike="noStrike">
              <a:solidFill>
                <a:srgbClr val="ffffff"/>
              </a:solidFill>
              <a:latin typeface="Arial"/>
            </a:endParaRPr>
          </a:p>
        </p:txBody>
      </p:sp>
      <p:sp>
        <p:nvSpPr>
          <p:cNvPr id="71" name="Shape 37"/>
          <p:cNvSpPr/>
          <p:nvPr/>
        </p:nvSpPr>
        <p:spPr>
          <a:xfrm>
            <a:off x="274320" y="213984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Text 38"/>
          <p:cNvSpPr/>
          <p:nvPr/>
        </p:nvSpPr>
        <p:spPr>
          <a:xfrm>
            <a:off x="347400" y="213984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zp7 → zp8</a:t>
            </a:r>
            <a:endParaRPr b="0" lang="en-US" sz="800" spc="-1" strike="noStrike">
              <a:solidFill>
                <a:srgbClr val="ffffff"/>
              </a:solidFill>
              <a:latin typeface="Arial"/>
            </a:endParaRPr>
          </a:p>
        </p:txBody>
      </p:sp>
      <p:sp>
        <p:nvSpPr>
          <p:cNvPr id="73" name="Text 39"/>
          <p:cNvSpPr/>
          <p:nvPr/>
        </p:nvSpPr>
        <p:spPr>
          <a:xfrm>
            <a:off x="2606040" y="213984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0</a:t>
            </a:r>
            <a:endParaRPr b="0" lang="en-US" sz="800" spc="-1" strike="noStrike">
              <a:solidFill>
                <a:srgbClr val="ffffff"/>
              </a:solidFill>
              <a:latin typeface="Arial"/>
            </a:endParaRPr>
          </a:p>
        </p:txBody>
      </p:sp>
      <p:sp>
        <p:nvSpPr>
          <p:cNvPr id="74" name="Text 40"/>
          <p:cNvSpPr/>
          <p:nvPr/>
        </p:nvSpPr>
        <p:spPr>
          <a:xfrm>
            <a:off x="3200400" y="213984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car</a:t>
            </a:r>
            <a:endParaRPr b="0" lang="en-US" sz="800" spc="-1" strike="noStrike">
              <a:solidFill>
                <a:srgbClr val="ffffff"/>
              </a:solidFill>
              <a:latin typeface="Arial"/>
            </a:endParaRPr>
          </a:p>
        </p:txBody>
      </p:sp>
      <p:sp>
        <p:nvSpPr>
          <p:cNvPr id="75" name="Text 41"/>
          <p:cNvSpPr/>
          <p:nvPr/>
        </p:nvSpPr>
        <p:spPr>
          <a:xfrm>
            <a:off x="3977640" y="213984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0" lang="en-US" sz="800" spc="-1" strike="noStrike">
                <a:solidFill>
                  <a:srgbClr val="e2e8f0"/>
                </a:solidFill>
                <a:latin typeface="Calibri"/>
              </a:rPr>
              <a:t>2,000</a:t>
            </a:r>
            <a:endParaRPr b="0" lang="en-US" sz="800" spc="-1" strike="noStrike">
              <a:solidFill>
                <a:srgbClr val="ffffff"/>
              </a:solidFill>
              <a:latin typeface="Arial"/>
            </a:endParaRPr>
          </a:p>
        </p:txBody>
      </p:sp>
      <p:sp>
        <p:nvSpPr>
          <p:cNvPr id="76" name="Shape 42"/>
          <p:cNvSpPr/>
          <p:nvPr/>
        </p:nvSpPr>
        <p:spPr>
          <a:xfrm>
            <a:off x="274320" y="2441520"/>
            <a:ext cx="5083560" cy="292320"/>
          </a:xfrm>
          <a:prstGeom prst="rect">
            <a:avLst/>
          </a:prstGeom>
          <a:solidFill>
            <a:srgbClr val="0f2438"/>
          </a:solidFill>
          <a:ln w="12700">
            <a:solidFill>
              <a:srgbClr val="0f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Text 43"/>
          <p:cNvSpPr/>
          <p:nvPr/>
        </p:nvSpPr>
        <p:spPr>
          <a:xfrm>
            <a:off x="347400" y="244152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seat-inv → zp7</a:t>
            </a:r>
            <a:endParaRPr b="0" lang="en-US" sz="800" spc="-1" strike="noStrike">
              <a:solidFill>
                <a:srgbClr val="ffffff"/>
              </a:solidFill>
              <a:latin typeface="Arial"/>
            </a:endParaRPr>
          </a:p>
        </p:txBody>
      </p:sp>
      <p:sp>
        <p:nvSpPr>
          <p:cNvPr id="78" name="Text 44"/>
          <p:cNvSpPr/>
          <p:nvPr/>
        </p:nvSpPr>
        <p:spPr>
          <a:xfrm>
            <a:off x="2606040" y="244152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0</a:t>
            </a:r>
            <a:endParaRPr b="0" lang="en-US" sz="800" spc="-1" strike="noStrike">
              <a:solidFill>
                <a:srgbClr val="ffffff"/>
              </a:solidFill>
              <a:latin typeface="Arial"/>
            </a:endParaRPr>
          </a:p>
        </p:txBody>
      </p:sp>
      <p:sp>
        <p:nvSpPr>
          <p:cNvPr id="79" name="Text 45"/>
          <p:cNvSpPr/>
          <p:nvPr/>
        </p:nvSpPr>
        <p:spPr>
          <a:xfrm>
            <a:off x="3200400" y="244152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seat</a:t>
            </a:r>
            <a:endParaRPr b="0" lang="en-US" sz="800" spc="-1" strike="noStrike">
              <a:solidFill>
                <a:srgbClr val="ffffff"/>
              </a:solidFill>
              <a:latin typeface="Arial"/>
            </a:endParaRPr>
          </a:p>
        </p:txBody>
      </p:sp>
      <p:sp>
        <p:nvSpPr>
          <p:cNvPr id="80" name="Text 46"/>
          <p:cNvSpPr/>
          <p:nvPr/>
        </p:nvSpPr>
        <p:spPr>
          <a:xfrm>
            <a:off x="3977640" y="244152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0" lang="en-US" sz="800" spc="-1" strike="noStrike">
                <a:solidFill>
                  <a:srgbClr val="e2e8f0"/>
                </a:solidFill>
                <a:latin typeface="Calibri"/>
              </a:rPr>
              <a:t>2,100</a:t>
            </a:r>
            <a:endParaRPr b="0" lang="en-US" sz="800" spc="-1" strike="noStrike">
              <a:solidFill>
                <a:srgbClr val="ffffff"/>
              </a:solidFill>
              <a:latin typeface="Arial"/>
            </a:endParaRPr>
          </a:p>
        </p:txBody>
      </p:sp>
      <p:sp>
        <p:nvSpPr>
          <p:cNvPr id="81" name="Shape 47"/>
          <p:cNvSpPr/>
          <p:nvPr/>
        </p:nvSpPr>
        <p:spPr>
          <a:xfrm>
            <a:off x="274320" y="274320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2" name="Text 48"/>
          <p:cNvSpPr/>
          <p:nvPr/>
        </p:nvSpPr>
        <p:spPr>
          <a:xfrm>
            <a:off x="347400" y="274320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gear-inv → zp7</a:t>
            </a:r>
            <a:endParaRPr b="0" lang="en-US" sz="800" spc="-1" strike="noStrike">
              <a:solidFill>
                <a:srgbClr val="ffffff"/>
              </a:solidFill>
              <a:latin typeface="Arial"/>
            </a:endParaRPr>
          </a:p>
        </p:txBody>
      </p:sp>
      <p:sp>
        <p:nvSpPr>
          <p:cNvPr id="83" name="Text 49"/>
          <p:cNvSpPr/>
          <p:nvPr/>
        </p:nvSpPr>
        <p:spPr>
          <a:xfrm>
            <a:off x="2606040" y="274320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2</a:t>
            </a:r>
            <a:endParaRPr b="0" lang="en-US" sz="800" spc="-1" strike="noStrike">
              <a:solidFill>
                <a:srgbClr val="ffffff"/>
              </a:solidFill>
              <a:latin typeface="Arial"/>
            </a:endParaRPr>
          </a:p>
        </p:txBody>
      </p:sp>
      <p:sp>
        <p:nvSpPr>
          <p:cNvPr id="84" name="Text 50"/>
          <p:cNvSpPr/>
          <p:nvPr/>
        </p:nvSpPr>
        <p:spPr>
          <a:xfrm>
            <a:off x="3200400" y="274320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gear</a:t>
            </a:r>
            <a:endParaRPr b="0" lang="en-US" sz="800" spc="-1" strike="noStrike">
              <a:solidFill>
                <a:srgbClr val="ffffff"/>
              </a:solidFill>
              <a:latin typeface="Arial"/>
            </a:endParaRPr>
          </a:p>
        </p:txBody>
      </p:sp>
      <p:sp>
        <p:nvSpPr>
          <p:cNvPr id="85" name="Text 51"/>
          <p:cNvSpPr/>
          <p:nvPr/>
        </p:nvSpPr>
        <p:spPr>
          <a:xfrm>
            <a:off x="3977640" y="274320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0" lang="en-US" sz="800" spc="-1" strike="noStrike">
                <a:solidFill>
                  <a:srgbClr val="e2e8f0"/>
                </a:solidFill>
                <a:latin typeface="Calibri"/>
              </a:rPr>
              <a:t>2,100</a:t>
            </a:r>
            <a:endParaRPr b="0" lang="en-US" sz="800" spc="-1" strike="noStrike">
              <a:solidFill>
                <a:srgbClr val="ffffff"/>
              </a:solidFill>
              <a:latin typeface="Arial"/>
            </a:endParaRPr>
          </a:p>
        </p:txBody>
      </p:sp>
      <p:sp>
        <p:nvSpPr>
          <p:cNvPr id="86" name="Shape 52"/>
          <p:cNvSpPr/>
          <p:nvPr/>
        </p:nvSpPr>
        <p:spPr>
          <a:xfrm>
            <a:off x="274320" y="3044880"/>
            <a:ext cx="5083560" cy="292320"/>
          </a:xfrm>
          <a:prstGeom prst="rect">
            <a:avLst/>
          </a:prstGeom>
          <a:solidFill>
            <a:srgbClr val="0f2438"/>
          </a:solidFill>
          <a:ln w="12700">
            <a:solidFill>
              <a:srgbClr val="0f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Text 53"/>
          <p:cNvSpPr/>
          <p:nvPr/>
        </p:nvSpPr>
        <p:spPr>
          <a:xfrm>
            <a:off x="347400" y="304488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engine-inv → zp7</a:t>
            </a:r>
            <a:endParaRPr b="0" lang="en-US" sz="800" spc="-1" strike="noStrike">
              <a:solidFill>
                <a:srgbClr val="ffffff"/>
              </a:solidFill>
              <a:latin typeface="Arial"/>
            </a:endParaRPr>
          </a:p>
        </p:txBody>
      </p:sp>
      <p:sp>
        <p:nvSpPr>
          <p:cNvPr id="88" name="Text 54"/>
          <p:cNvSpPr/>
          <p:nvPr/>
        </p:nvSpPr>
        <p:spPr>
          <a:xfrm>
            <a:off x="2606040" y="304488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1</a:t>
            </a:r>
            <a:endParaRPr b="0" lang="en-US" sz="800" spc="-1" strike="noStrike">
              <a:solidFill>
                <a:srgbClr val="ffffff"/>
              </a:solidFill>
              <a:latin typeface="Arial"/>
            </a:endParaRPr>
          </a:p>
        </p:txBody>
      </p:sp>
      <p:sp>
        <p:nvSpPr>
          <p:cNvPr id="89" name="Text 55"/>
          <p:cNvSpPr/>
          <p:nvPr/>
        </p:nvSpPr>
        <p:spPr>
          <a:xfrm>
            <a:off x="3200400" y="304488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engine</a:t>
            </a:r>
            <a:endParaRPr b="0" lang="en-US" sz="800" spc="-1" strike="noStrike">
              <a:solidFill>
                <a:srgbClr val="ffffff"/>
              </a:solidFill>
              <a:latin typeface="Arial"/>
            </a:endParaRPr>
          </a:p>
        </p:txBody>
      </p:sp>
      <p:sp>
        <p:nvSpPr>
          <p:cNvPr id="90" name="Text 56"/>
          <p:cNvSpPr/>
          <p:nvPr/>
        </p:nvSpPr>
        <p:spPr>
          <a:xfrm>
            <a:off x="3977640" y="304488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0" lang="en-US" sz="800" spc="-1" strike="noStrike">
                <a:solidFill>
                  <a:srgbClr val="e2e8f0"/>
                </a:solidFill>
                <a:latin typeface="Calibri"/>
              </a:rPr>
              <a:t>2,100</a:t>
            </a:r>
            <a:endParaRPr b="0" lang="en-US" sz="800" spc="-1" strike="noStrike">
              <a:solidFill>
                <a:srgbClr val="ffffff"/>
              </a:solidFill>
              <a:latin typeface="Arial"/>
            </a:endParaRPr>
          </a:p>
        </p:txBody>
      </p:sp>
      <p:sp>
        <p:nvSpPr>
          <p:cNvPr id="91" name="Shape 57"/>
          <p:cNvSpPr/>
          <p:nvPr/>
        </p:nvSpPr>
        <p:spPr>
          <a:xfrm>
            <a:off x="274320" y="334656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Text 58"/>
          <p:cNvSpPr/>
          <p:nvPr/>
        </p:nvSpPr>
        <p:spPr>
          <a:xfrm>
            <a:off x="347400" y="334656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seat-prod → seat-inv</a:t>
            </a:r>
            <a:endParaRPr b="0" lang="en-US" sz="800" spc="-1" strike="noStrike">
              <a:solidFill>
                <a:srgbClr val="ffffff"/>
              </a:solidFill>
              <a:latin typeface="Arial"/>
            </a:endParaRPr>
          </a:p>
        </p:txBody>
      </p:sp>
      <p:sp>
        <p:nvSpPr>
          <p:cNvPr id="93" name="Text 59"/>
          <p:cNvSpPr/>
          <p:nvPr/>
        </p:nvSpPr>
        <p:spPr>
          <a:xfrm>
            <a:off x="2606040" y="334656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0</a:t>
            </a:r>
            <a:endParaRPr b="0" lang="en-US" sz="800" spc="-1" strike="noStrike">
              <a:solidFill>
                <a:srgbClr val="ffffff"/>
              </a:solidFill>
              <a:latin typeface="Arial"/>
            </a:endParaRPr>
          </a:p>
        </p:txBody>
      </p:sp>
      <p:sp>
        <p:nvSpPr>
          <p:cNvPr id="94" name="Text 60"/>
          <p:cNvSpPr/>
          <p:nvPr/>
        </p:nvSpPr>
        <p:spPr>
          <a:xfrm>
            <a:off x="3200400" y="334656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seat</a:t>
            </a:r>
            <a:endParaRPr b="0" lang="en-US" sz="800" spc="-1" strike="noStrike">
              <a:solidFill>
                <a:srgbClr val="ffffff"/>
              </a:solidFill>
              <a:latin typeface="Arial"/>
            </a:endParaRPr>
          </a:p>
        </p:txBody>
      </p:sp>
      <p:sp>
        <p:nvSpPr>
          <p:cNvPr id="95" name="Text 61"/>
          <p:cNvSpPr/>
          <p:nvPr/>
        </p:nvSpPr>
        <p:spPr>
          <a:xfrm>
            <a:off x="3977640" y="334656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0" lang="en-US" sz="800" spc="-1" strike="noStrike">
                <a:solidFill>
                  <a:srgbClr val="e2e8f0"/>
                </a:solidFill>
                <a:latin typeface="Calibri"/>
              </a:rPr>
              <a:t>2,100</a:t>
            </a:r>
            <a:endParaRPr b="0" lang="en-US" sz="800" spc="-1" strike="noStrike">
              <a:solidFill>
                <a:srgbClr val="ffffff"/>
              </a:solidFill>
              <a:latin typeface="Arial"/>
            </a:endParaRPr>
          </a:p>
        </p:txBody>
      </p:sp>
      <p:sp>
        <p:nvSpPr>
          <p:cNvPr id="96" name="Shape 62"/>
          <p:cNvSpPr/>
          <p:nvPr/>
        </p:nvSpPr>
        <p:spPr>
          <a:xfrm>
            <a:off x="274320" y="3648600"/>
            <a:ext cx="5083560" cy="292320"/>
          </a:xfrm>
          <a:prstGeom prst="rect">
            <a:avLst/>
          </a:prstGeom>
          <a:solidFill>
            <a:srgbClr val="0f2438"/>
          </a:solidFill>
          <a:ln w="12700">
            <a:solidFill>
              <a:srgbClr val="0f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7" name="Text 63"/>
          <p:cNvSpPr/>
          <p:nvPr/>
        </p:nvSpPr>
        <p:spPr>
          <a:xfrm>
            <a:off x="347400" y="364860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gear-prod → gear-inv</a:t>
            </a:r>
            <a:endParaRPr b="0" lang="en-US" sz="800" spc="-1" strike="noStrike">
              <a:solidFill>
                <a:srgbClr val="ffffff"/>
              </a:solidFill>
              <a:latin typeface="Arial"/>
            </a:endParaRPr>
          </a:p>
        </p:txBody>
      </p:sp>
      <p:sp>
        <p:nvSpPr>
          <p:cNvPr id="98" name="Text 64"/>
          <p:cNvSpPr/>
          <p:nvPr/>
        </p:nvSpPr>
        <p:spPr>
          <a:xfrm>
            <a:off x="2606040" y="364860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2</a:t>
            </a:r>
            <a:endParaRPr b="0" lang="en-US" sz="800" spc="-1" strike="noStrike">
              <a:solidFill>
                <a:srgbClr val="ffffff"/>
              </a:solidFill>
              <a:latin typeface="Arial"/>
            </a:endParaRPr>
          </a:p>
        </p:txBody>
      </p:sp>
      <p:sp>
        <p:nvSpPr>
          <p:cNvPr id="99" name="Text 65"/>
          <p:cNvSpPr/>
          <p:nvPr/>
        </p:nvSpPr>
        <p:spPr>
          <a:xfrm>
            <a:off x="3200400" y="364860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gear</a:t>
            </a:r>
            <a:endParaRPr b="0" lang="en-US" sz="800" spc="-1" strike="noStrike">
              <a:solidFill>
                <a:srgbClr val="ffffff"/>
              </a:solidFill>
              <a:latin typeface="Arial"/>
            </a:endParaRPr>
          </a:p>
        </p:txBody>
      </p:sp>
      <p:sp>
        <p:nvSpPr>
          <p:cNvPr id="100" name="Text 66"/>
          <p:cNvSpPr/>
          <p:nvPr/>
        </p:nvSpPr>
        <p:spPr>
          <a:xfrm>
            <a:off x="3977640" y="364860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0" lang="en-US" sz="800" spc="-1" strike="noStrike">
                <a:solidFill>
                  <a:srgbClr val="e2e8f0"/>
                </a:solidFill>
                <a:latin typeface="Calibri"/>
              </a:rPr>
              <a:t>2,100</a:t>
            </a:r>
            <a:endParaRPr b="0" lang="en-US" sz="800" spc="-1" strike="noStrike">
              <a:solidFill>
                <a:srgbClr val="ffffff"/>
              </a:solidFill>
              <a:latin typeface="Arial"/>
            </a:endParaRPr>
          </a:p>
        </p:txBody>
      </p:sp>
      <p:sp>
        <p:nvSpPr>
          <p:cNvPr id="101" name="Shape 67"/>
          <p:cNvSpPr/>
          <p:nvPr/>
        </p:nvSpPr>
        <p:spPr>
          <a:xfrm>
            <a:off x="274320" y="395028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2" name="Text 68"/>
          <p:cNvSpPr/>
          <p:nvPr/>
        </p:nvSpPr>
        <p:spPr>
          <a:xfrm>
            <a:off x="347400" y="3950280"/>
            <a:ext cx="22125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engine-prod → engine-inv</a:t>
            </a:r>
            <a:endParaRPr b="0" lang="en-US" sz="800" spc="-1" strike="noStrike">
              <a:solidFill>
                <a:srgbClr val="ffffff"/>
              </a:solidFill>
              <a:latin typeface="Arial"/>
            </a:endParaRPr>
          </a:p>
        </p:txBody>
      </p:sp>
      <p:sp>
        <p:nvSpPr>
          <p:cNvPr id="103" name="Text 69"/>
          <p:cNvSpPr/>
          <p:nvPr/>
        </p:nvSpPr>
        <p:spPr>
          <a:xfrm>
            <a:off x="2606040" y="3950280"/>
            <a:ext cx="54828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pc="-1" strike="noStrike">
                <a:solidFill>
                  <a:srgbClr val="e2e8f0"/>
                </a:solidFill>
                <a:latin typeface="Calibri"/>
              </a:rPr>
              <a:t>1</a:t>
            </a:r>
            <a:endParaRPr b="0" lang="en-US" sz="800" spc="-1" strike="noStrike">
              <a:solidFill>
                <a:srgbClr val="ffffff"/>
              </a:solidFill>
              <a:latin typeface="Arial"/>
            </a:endParaRPr>
          </a:p>
        </p:txBody>
      </p:sp>
      <p:sp>
        <p:nvSpPr>
          <p:cNvPr id="104" name="Text 70"/>
          <p:cNvSpPr/>
          <p:nvPr/>
        </p:nvSpPr>
        <p:spPr>
          <a:xfrm>
            <a:off x="3200400" y="3950280"/>
            <a:ext cx="73116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pc="-1" strike="noStrike">
                <a:solidFill>
                  <a:srgbClr val="e2e8f0"/>
                </a:solidFill>
                <a:latin typeface="Calibri"/>
              </a:rPr>
              <a:t>engine</a:t>
            </a:r>
            <a:endParaRPr b="0" lang="en-US" sz="800" spc="-1" strike="noStrike">
              <a:solidFill>
                <a:srgbClr val="ffffff"/>
              </a:solidFill>
              <a:latin typeface="Arial"/>
            </a:endParaRPr>
          </a:p>
        </p:txBody>
      </p:sp>
      <p:sp>
        <p:nvSpPr>
          <p:cNvPr id="105" name="Text 71"/>
          <p:cNvSpPr/>
          <p:nvPr/>
        </p:nvSpPr>
        <p:spPr>
          <a:xfrm>
            <a:off x="3977640" y="3950280"/>
            <a:ext cx="1279800" cy="273960"/>
          </a:xfrm>
          <a:prstGeom prst="rect">
            <a:avLst/>
          </a:prstGeom>
          <a:noFill/>
          <a:ln w="0">
            <a:noFill/>
          </a:ln>
        </p:spPr>
        <p:style>
          <a:lnRef idx="0"/>
          <a:fillRef idx="0"/>
          <a:effectRef idx="0"/>
          <a:fontRef idx="minor"/>
        </p:style>
        <p:txBody>
          <a:bodyPr lIns="0" rIns="101520" tIns="0" bIns="0" anchor="ctr">
            <a:noAutofit/>
          </a:bodyPr>
          <a:p>
            <a:pPr algn="r" defTabSz="914400">
              <a:lnSpc>
                <a:spcPct val="100000"/>
              </a:lnSpc>
              <a:tabLst>
                <a:tab algn="l" pos="0"/>
              </a:tabLst>
            </a:pPr>
            <a:r>
              <a:rPr b="0" lang="en-US" sz="800" spc="-1" strike="noStrike">
                <a:solidFill>
                  <a:srgbClr val="e2e8f0"/>
                </a:solidFill>
                <a:latin typeface="Calibri"/>
              </a:rPr>
              <a:t>2,100</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06"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Shape 1"/>
          <p:cNvSpPr/>
          <p:nvPr/>
        </p:nvSpPr>
        <p:spPr>
          <a:xfrm>
            <a:off x="274320" y="137160"/>
            <a:ext cx="959760" cy="32868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EDA 8</a:t>
            </a:r>
            <a:endParaRPr b="0" lang="en-US" sz="1000" spc="-1" strike="noStrike">
              <a:solidFill>
                <a:srgbClr val="ffffff"/>
              </a:solidFill>
              <a:latin typeface="Arial"/>
            </a:endParaRPr>
          </a:p>
        </p:txBody>
      </p:sp>
      <p:sp>
        <p:nvSpPr>
          <p:cNvPr id="109" name="Text 3"/>
          <p:cNvSpPr/>
          <p:nvPr/>
        </p:nvSpPr>
        <p:spPr>
          <a:xfrm>
            <a:off x="1371600" y="128160"/>
            <a:ext cx="74977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libri"/>
              </a:rPr>
              <a:t>Opening Stock on Hand — Where is our physical buffer concentrated?</a:t>
            </a:r>
            <a:endParaRPr b="0" lang="en-US" sz="1600" spc="-1" strike="noStrike">
              <a:solidFill>
                <a:srgbClr val="ffffff"/>
              </a:solidFill>
              <a:latin typeface="Arial"/>
            </a:endParaRPr>
          </a:p>
        </p:txBody>
      </p:sp>
      <p:sp>
        <p:nvSpPr>
          <p:cNvPr id="110" name="Shape 4"/>
          <p:cNvSpPr/>
          <p:nvPr/>
        </p:nvSpPr>
        <p:spPr>
          <a:xfrm>
            <a:off x="255960" y="749880"/>
            <a:ext cx="8631720" cy="347040"/>
          </a:xfrm>
          <a:prstGeom prst="rect">
            <a:avLst/>
          </a:prstGeom>
          <a:solidFill>
            <a:srgbClr val="162032"/>
          </a:solidFill>
          <a:ln w="1397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Text 5"/>
          <p:cNvSpPr/>
          <p:nvPr/>
        </p:nvSpPr>
        <p:spPr>
          <a:xfrm>
            <a:off x="384120" y="749880"/>
            <a:ext cx="84121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d4a843"/>
                </a:solidFill>
                <a:latin typeface="Calibri"/>
              </a:rPr>
              <a:t>Manager asks:  </a:t>
            </a:r>
            <a:r>
              <a:rPr b="0" i="1" lang="en-US" sz="1000" spc="-1" strike="noStrike">
                <a:solidFill>
                  <a:srgbClr val="ffffff"/>
                </a:solidFill>
                <a:latin typeface="Calibri"/>
              </a:rPr>
              <a:t>At the start of our planning horizon (week 0), how much stock does each facility actually hold?</a:t>
            </a:r>
            <a:endParaRPr b="0" lang="en-US" sz="1000" spc="-1" strike="noStrike">
              <a:solidFill>
                <a:srgbClr val="ffffff"/>
              </a:solidFill>
              <a:latin typeface="Arial"/>
            </a:endParaRPr>
          </a:p>
        </p:txBody>
      </p:sp>
      <p:sp>
        <p:nvSpPr>
          <p:cNvPr id="112" name="Shape 6"/>
          <p:cNvSpPr/>
          <p:nvPr/>
        </p:nvSpPr>
        <p:spPr>
          <a:xfrm>
            <a:off x="5559480" y="1536120"/>
            <a:ext cx="3328200" cy="31068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Text 7"/>
          <p:cNvSpPr/>
          <p:nvPr/>
        </p:nvSpPr>
        <p:spPr>
          <a:xfrm>
            <a:off x="5559480" y="1536120"/>
            <a:ext cx="3328200" cy="31068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100" spc="-1" strike="noStrike">
                <a:solidFill>
                  <a:srgbClr val="ffffff"/>
                </a:solidFill>
                <a:latin typeface="Calibri"/>
              </a:rPr>
              <a:t>Key Findings</a:t>
            </a:r>
            <a:endParaRPr b="0" lang="en-US" sz="1100" spc="-1" strike="noStrike">
              <a:solidFill>
                <a:srgbClr val="ffffff"/>
              </a:solidFill>
              <a:latin typeface="Arial"/>
            </a:endParaRPr>
          </a:p>
        </p:txBody>
      </p:sp>
      <p:sp>
        <p:nvSpPr>
          <p:cNvPr id="114" name="Shape 8"/>
          <p:cNvSpPr/>
          <p:nvPr/>
        </p:nvSpPr>
        <p:spPr>
          <a:xfrm>
            <a:off x="5559480" y="1847160"/>
            <a:ext cx="3328200" cy="1828440"/>
          </a:xfrm>
          <a:prstGeom prst="rect">
            <a:avLst/>
          </a:prstGeom>
          <a:solidFill>
            <a:srgbClr val="1a2e44"/>
          </a:solidFill>
          <a:ln w="12700">
            <a:solidFill>
              <a:srgbClr val="1a2e4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 name="Shape 9"/>
          <p:cNvSpPr/>
          <p:nvPr/>
        </p:nvSpPr>
        <p:spPr>
          <a:xfrm>
            <a:off x="5632560" y="195696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116" name="Text 10"/>
          <p:cNvSpPr/>
          <p:nvPr/>
        </p:nvSpPr>
        <p:spPr>
          <a:xfrm>
            <a:off x="5815440" y="190188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ZP7 (OEM assembly) holds 6,052 units — buffers all 4 incoming component flows</a:t>
            </a:r>
            <a:endParaRPr b="0" lang="en-US" sz="950" spc="-1" strike="noStrike">
              <a:solidFill>
                <a:srgbClr val="ffffff"/>
              </a:solidFill>
              <a:latin typeface="Arial"/>
            </a:endParaRPr>
          </a:p>
        </p:txBody>
      </p:sp>
      <p:sp>
        <p:nvSpPr>
          <p:cNvPr id="117" name="Shape 11"/>
          <p:cNvSpPr/>
          <p:nvPr/>
        </p:nvSpPr>
        <p:spPr>
          <a:xfrm>
            <a:off x="5632560" y="239580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118" name="Text 12"/>
          <p:cNvSpPr/>
          <p:nvPr/>
        </p:nvSpPr>
        <p:spPr>
          <a:xfrm>
            <a:off x="5815440" y="234072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seat-supplier_prod and engine-supplier_inv each hold 6,000 units</a:t>
            </a:r>
            <a:endParaRPr b="0" lang="en-US" sz="950" spc="-1" strike="noStrike">
              <a:solidFill>
                <a:srgbClr val="ffffff"/>
              </a:solidFill>
              <a:latin typeface="Arial"/>
            </a:endParaRPr>
          </a:p>
        </p:txBody>
      </p:sp>
      <p:sp>
        <p:nvSpPr>
          <p:cNvPr id="119" name="Shape 13"/>
          <p:cNvSpPr/>
          <p:nvPr/>
        </p:nvSpPr>
        <p:spPr>
          <a:xfrm>
            <a:off x="5632560" y="283464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120" name="Text 14"/>
          <p:cNvSpPr/>
          <p:nvPr/>
        </p:nvSpPr>
        <p:spPr>
          <a:xfrm>
            <a:off x="5815440" y="277992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gear-supplier_inv holds 4,000 units — proportional to gear complexity</a:t>
            </a:r>
            <a:endParaRPr b="0" lang="en-US" sz="950" spc="-1" strike="noStrike">
              <a:solidFill>
                <a:srgbClr val="ffffff"/>
              </a:solidFill>
              <a:latin typeface="Arial"/>
            </a:endParaRPr>
          </a:p>
        </p:txBody>
      </p:sp>
      <p:sp>
        <p:nvSpPr>
          <p:cNvPr id="121" name="Shape 15"/>
          <p:cNvSpPr/>
          <p:nvPr/>
        </p:nvSpPr>
        <p:spPr>
          <a:xfrm>
            <a:off x="5632560" y="327348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122" name="Text 16"/>
          <p:cNvSpPr/>
          <p:nvPr/>
        </p:nvSpPr>
        <p:spPr>
          <a:xfrm>
            <a:off x="5815440" y="321876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battery-supplier_prod holds only 1,860 units — thinnest buffer in the network</a:t>
            </a:r>
            <a:endParaRPr b="0" lang="en-US" sz="950" spc="-1" strike="noStrike">
              <a:solidFill>
                <a:srgbClr val="ffffff"/>
              </a:solidFill>
              <a:latin typeface="Arial"/>
            </a:endParaRPr>
          </a:p>
        </p:txBody>
      </p:sp>
      <p:sp>
        <p:nvSpPr>
          <p:cNvPr id="123" name="Shape 17"/>
          <p:cNvSpPr/>
          <p:nvPr/>
        </p:nvSpPr>
        <p:spPr>
          <a:xfrm>
            <a:off x="5559480" y="3712320"/>
            <a:ext cx="3328200" cy="255600"/>
          </a:xfrm>
          <a:prstGeom prst="rect">
            <a:avLst/>
          </a:prstGeom>
          <a:solidFill>
            <a:srgbClr val="122030"/>
          </a:solidFill>
          <a:ln w="1270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 name="Text 18"/>
          <p:cNvSpPr/>
          <p:nvPr/>
        </p:nvSpPr>
        <p:spPr>
          <a:xfrm>
            <a:off x="5632560" y="3712320"/>
            <a:ext cx="3200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d4a843"/>
                </a:solidFill>
                <a:latin typeface="Calibri"/>
              </a:rPr>
              <a:t>Story insight</a:t>
            </a:r>
            <a:endParaRPr b="0" lang="en-US" sz="900" spc="-1" strike="noStrike">
              <a:solidFill>
                <a:srgbClr val="ffffff"/>
              </a:solidFill>
              <a:latin typeface="Arial"/>
            </a:endParaRPr>
          </a:p>
        </p:txBody>
      </p:sp>
      <p:sp>
        <p:nvSpPr>
          <p:cNvPr id="125" name="Shape 19"/>
          <p:cNvSpPr/>
          <p:nvPr/>
        </p:nvSpPr>
        <p:spPr>
          <a:xfrm>
            <a:off x="5559480" y="3968640"/>
            <a:ext cx="3328200" cy="914040"/>
          </a:xfrm>
          <a:prstGeom prst="rect">
            <a:avLst/>
          </a:prstGeom>
          <a:solidFill>
            <a:srgbClr val="0f1e2e"/>
          </a:solidFill>
          <a:ln w="12700">
            <a:solidFill>
              <a:srgbClr val="0f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Text 20"/>
          <p:cNvSpPr/>
          <p:nvPr/>
        </p:nvSpPr>
        <p:spPr>
          <a:xfrm>
            <a:off x="5632560" y="3986640"/>
            <a:ext cx="3200040" cy="877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e2e8f0"/>
                </a:solidFill>
                <a:latin typeface="Calibri"/>
              </a:rPr>
              <a:t>The physical buffer is concentrated at convergence points — ZP7 and the Tier-1 inventory nodes. But the battery chain's opening stock is proportionally the thinnest. One missed delivery drains it the fastest with no time to recover given the 20 lead time.</a:t>
            </a:r>
            <a:endParaRPr b="0" lang="en-US" sz="900" spc="-1" strike="noStrike">
              <a:solidFill>
                <a:srgbClr val="ffffff"/>
              </a:solidFill>
              <a:latin typeface="Arial"/>
            </a:endParaRPr>
          </a:p>
        </p:txBody>
      </p:sp>
      <p:sp>
        <p:nvSpPr>
          <p:cNvPr id="127" name="Text 21"/>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
        <p:nvSpPr>
          <p:cNvPr id="128" name="Shape 22"/>
          <p:cNvSpPr/>
          <p:nvPr/>
        </p:nvSpPr>
        <p:spPr>
          <a:xfrm>
            <a:off x="255960" y="1207080"/>
            <a:ext cx="5120280" cy="3346200"/>
          </a:xfrm>
          <a:prstGeom prst="rect">
            <a:avLst/>
          </a:prstGeom>
          <a:solidFill>
            <a:srgbClr val="0f2030"/>
          </a:solidFill>
          <a:ln w="1016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9" name="Text 23"/>
          <p:cNvSpPr/>
          <p:nvPr/>
        </p:nvSpPr>
        <p:spPr>
          <a:xfrm>
            <a:off x="347400" y="1371600"/>
            <a:ext cx="493740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94a3b8"/>
                </a:solidFill>
                <a:latin typeface="Calibri"/>
              </a:rPr>
              <a:t>ZP7 (OEM Assembly)</a:t>
            </a:r>
            <a:endParaRPr b="0" lang="en-US" sz="850" spc="-1" strike="noStrike">
              <a:solidFill>
                <a:srgbClr val="ffffff"/>
              </a:solidFill>
              <a:latin typeface="Arial"/>
            </a:endParaRPr>
          </a:p>
        </p:txBody>
      </p:sp>
      <p:sp>
        <p:nvSpPr>
          <p:cNvPr id="130" name="Shape 24"/>
          <p:cNvSpPr/>
          <p:nvPr/>
        </p:nvSpPr>
        <p:spPr>
          <a:xfrm>
            <a:off x="347400" y="1591200"/>
            <a:ext cx="4205880" cy="255600"/>
          </a:xfrm>
          <a:prstGeom prst="rect">
            <a:avLst/>
          </a:prstGeom>
          <a:solidFill>
            <a:srgbClr val="f6ad55"/>
          </a:solidFill>
          <a:ln w="1270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1" name="Text 25"/>
          <p:cNvSpPr/>
          <p:nvPr/>
        </p:nvSpPr>
        <p:spPr>
          <a:xfrm>
            <a:off x="4626720" y="1591200"/>
            <a:ext cx="914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ffffff"/>
                </a:solidFill>
                <a:latin typeface="Calibri"/>
              </a:rPr>
              <a:t>6,052</a:t>
            </a:r>
            <a:endParaRPr b="0" lang="en-US" sz="850" spc="-1" strike="noStrike">
              <a:solidFill>
                <a:srgbClr val="ffffff"/>
              </a:solidFill>
              <a:latin typeface="Arial"/>
            </a:endParaRPr>
          </a:p>
        </p:txBody>
      </p:sp>
      <p:sp>
        <p:nvSpPr>
          <p:cNvPr id="132" name="Text 26"/>
          <p:cNvSpPr/>
          <p:nvPr/>
        </p:nvSpPr>
        <p:spPr>
          <a:xfrm>
            <a:off x="347400" y="2011680"/>
            <a:ext cx="493740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94a3b8"/>
                </a:solidFill>
                <a:latin typeface="Calibri"/>
              </a:rPr>
              <a:t>seat-supplier_prod</a:t>
            </a:r>
            <a:endParaRPr b="0" lang="en-US" sz="850" spc="-1" strike="noStrike">
              <a:solidFill>
                <a:srgbClr val="ffffff"/>
              </a:solidFill>
              <a:latin typeface="Arial"/>
            </a:endParaRPr>
          </a:p>
        </p:txBody>
      </p:sp>
      <p:sp>
        <p:nvSpPr>
          <p:cNvPr id="133" name="Shape 27"/>
          <p:cNvSpPr/>
          <p:nvPr/>
        </p:nvSpPr>
        <p:spPr>
          <a:xfrm>
            <a:off x="347400" y="2231280"/>
            <a:ext cx="4169880" cy="25560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4" name="Text 28"/>
          <p:cNvSpPr/>
          <p:nvPr/>
        </p:nvSpPr>
        <p:spPr>
          <a:xfrm>
            <a:off x="4590720" y="2231280"/>
            <a:ext cx="914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ffffff"/>
                </a:solidFill>
                <a:latin typeface="Calibri"/>
              </a:rPr>
              <a:t>6,000</a:t>
            </a:r>
            <a:endParaRPr b="0" lang="en-US" sz="850" spc="-1" strike="noStrike">
              <a:solidFill>
                <a:srgbClr val="ffffff"/>
              </a:solidFill>
              <a:latin typeface="Arial"/>
            </a:endParaRPr>
          </a:p>
        </p:txBody>
      </p:sp>
      <p:sp>
        <p:nvSpPr>
          <p:cNvPr id="135" name="Text 29"/>
          <p:cNvSpPr/>
          <p:nvPr/>
        </p:nvSpPr>
        <p:spPr>
          <a:xfrm>
            <a:off x="347400" y="2651760"/>
            <a:ext cx="493740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94a3b8"/>
                </a:solidFill>
                <a:latin typeface="Calibri"/>
              </a:rPr>
              <a:t>engine-supplier_inv</a:t>
            </a:r>
            <a:endParaRPr b="0" lang="en-US" sz="850" spc="-1" strike="noStrike">
              <a:solidFill>
                <a:srgbClr val="ffffff"/>
              </a:solidFill>
              <a:latin typeface="Arial"/>
            </a:endParaRPr>
          </a:p>
        </p:txBody>
      </p:sp>
      <p:sp>
        <p:nvSpPr>
          <p:cNvPr id="136" name="Shape 30"/>
          <p:cNvSpPr/>
          <p:nvPr/>
        </p:nvSpPr>
        <p:spPr>
          <a:xfrm>
            <a:off x="347400" y="2871360"/>
            <a:ext cx="4169880" cy="25560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7" name="Text 31"/>
          <p:cNvSpPr/>
          <p:nvPr/>
        </p:nvSpPr>
        <p:spPr>
          <a:xfrm>
            <a:off x="4590720" y="2871360"/>
            <a:ext cx="914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ffffff"/>
                </a:solidFill>
                <a:latin typeface="Calibri"/>
              </a:rPr>
              <a:t>6,000</a:t>
            </a:r>
            <a:endParaRPr b="0" lang="en-US" sz="850" spc="-1" strike="noStrike">
              <a:solidFill>
                <a:srgbClr val="ffffff"/>
              </a:solidFill>
              <a:latin typeface="Arial"/>
            </a:endParaRPr>
          </a:p>
        </p:txBody>
      </p:sp>
      <p:sp>
        <p:nvSpPr>
          <p:cNvPr id="138" name="Text 32"/>
          <p:cNvSpPr/>
          <p:nvPr/>
        </p:nvSpPr>
        <p:spPr>
          <a:xfrm>
            <a:off x="347400" y="3291840"/>
            <a:ext cx="493740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94a3b8"/>
                </a:solidFill>
                <a:latin typeface="Calibri"/>
              </a:rPr>
              <a:t>gear-supplier_inv</a:t>
            </a:r>
            <a:endParaRPr b="0" lang="en-US" sz="850" spc="-1" strike="noStrike">
              <a:solidFill>
                <a:srgbClr val="ffffff"/>
              </a:solidFill>
              <a:latin typeface="Arial"/>
            </a:endParaRPr>
          </a:p>
        </p:txBody>
      </p:sp>
      <p:sp>
        <p:nvSpPr>
          <p:cNvPr id="139" name="Shape 33"/>
          <p:cNvSpPr/>
          <p:nvPr/>
        </p:nvSpPr>
        <p:spPr>
          <a:xfrm>
            <a:off x="347400" y="3511440"/>
            <a:ext cx="2779560" cy="25560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0" name="Text 34"/>
          <p:cNvSpPr/>
          <p:nvPr/>
        </p:nvSpPr>
        <p:spPr>
          <a:xfrm>
            <a:off x="3200760" y="3511440"/>
            <a:ext cx="914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ffffff"/>
                </a:solidFill>
                <a:latin typeface="Calibri"/>
              </a:rPr>
              <a:t>4,000</a:t>
            </a:r>
            <a:endParaRPr b="0" lang="en-US" sz="850" spc="-1" strike="noStrike">
              <a:solidFill>
                <a:srgbClr val="ffffff"/>
              </a:solidFill>
              <a:latin typeface="Arial"/>
            </a:endParaRPr>
          </a:p>
        </p:txBody>
      </p:sp>
      <p:sp>
        <p:nvSpPr>
          <p:cNvPr id="141" name="Text 35"/>
          <p:cNvSpPr/>
          <p:nvPr/>
        </p:nvSpPr>
        <p:spPr>
          <a:xfrm>
            <a:off x="347400" y="3931920"/>
            <a:ext cx="493740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94a3b8"/>
                </a:solidFill>
                <a:latin typeface="Calibri"/>
              </a:rPr>
              <a:t>battery-supplier_prod</a:t>
            </a:r>
            <a:endParaRPr b="0" lang="en-US" sz="850" spc="-1" strike="noStrike">
              <a:solidFill>
                <a:srgbClr val="ffffff"/>
              </a:solidFill>
              <a:latin typeface="Arial"/>
            </a:endParaRPr>
          </a:p>
        </p:txBody>
      </p:sp>
      <p:sp>
        <p:nvSpPr>
          <p:cNvPr id="142" name="Shape 36"/>
          <p:cNvSpPr/>
          <p:nvPr/>
        </p:nvSpPr>
        <p:spPr>
          <a:xfrm>
            <a:off x="347400" y="4151520"/>
            <a:ext cx="1292400" cy="255600"/>
          </a:xfrm>
          <a:prstGeom prst="rect">
            <a:avLst/>
          </a:prstGeom>
          <a:solidFill>
            <a:srgbClr val="f97316"/>
          </a:solidFill>
          <a:ln w="12700">
            <a:solidFill>
              <a:srgbClr val="f9731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Text 37"/>
          <p:cNvSpPr/>
          <p:nvPr/>
        </p:nvSpPr>
        <p:spPr>
          <a:xfrm>
            <a:off x="1713240" y="4151520"/>
            <a:ext cx="914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ffffff"/>
                </a:solidFill>
                <a:latin typeface="Calibri"/>
              </a:rPr>
              <a:t>1,860</a:t>
            </a:r>
            <a:endParaRPr b="0" lang="en-US" sz="8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144"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 name="Shape 1"/>
          <p:cNvSpPr/>
          <p:nvPr/>
        </p:nvSpPr>
        <p:spPr>
          <a:xfrm>
            <a:off x="274320" y="137160"/>
            <a:ext cx="959760" cy="32868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EDA 9</a:t>
            </a:r>
            <a:endParaRPr b="0" lang="en-US" sz="1000" spc="-1" strike="noStrike">
              <a:solidFill>
                <a:srgbClr val="ffffff"/>
              </a:solidFill>
              <a:latin typeface="Arial"/>
            </a:endParaRPr>
          </a:p>
        </p:txBody>
      </p:sp>
      <p:sp>
        <p:nvSpPr>
          <p:cNvPr id="147" name="Text 3"/>
          <p:cNvSpPr/>
          <p:nvPr/>
        </p:nvSpPr>
        <p:spPr>
          <a:xfrm>
            <a:off x="1371600" y="128160"/>
            <a:ext cx="74977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libri"/>
              </a:rPr>
              <a:t>Pipeline Stock Already In Transit — What is locked in before week 1?</a:t>
            </a:r>
            <a:endParaRPr b="0" lang="en-US" sz="1600" spc="-1" strike="noStrike">
              <a:solidFill>
                <a:srgbClr val="ffffff"/>
              </a:solidFill>
              <a:latin typeface="Arial"/>
            </a:endParaRPr>
          </a:p>
        </p:txBody>
      </p:sp>
      <p:sp>
        <p:nvSpPr>
          <p:cNvPr id="148" name="Shape 4"/>
          <p:cNvSpPr/>
          <p:nvPr/>
        </p:nvSpPr>
        <p:spPr>
          <a:xfrm>
            <a:off x="255960" y="749880"/>
            <a:ext cx="8631720" cy="347040"/>
          </a:xfrm>
          <a:prstGeom prst="rect">
            <a:avLst/>
          </a:prstGeom>
          <a:solidFill>
            <a:srgbClr val="162032"/>
          </a:solidFill>
          <a:ln w="1397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Text 5"/>
          <p:cNvSpPr/>
          <p:nvPr/>
        </p:nvSpPr>
        <p:spPr>
          <a:xfrm>
            <a:off x="384120" y="749880"/>
            <a:ext cx="84121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d4a843"/>
                </a:solidFill>
                <a:latin typeface="Calibri"/>
              </a:rPr>
              <a:t>Manager asks:  </a:t>
            </a:r>
            <a:r>
              <a:rPr b="0" i="1" lang="en-US" sz="1000" spc="-1" strike="noStrike">
                <a:solidFill>
                  <a:srgbClr val="ffffff"/>
                </a:solidFill>
                <a:latin typeface="Calibri"/>
              </a:rPr>
              <a:t>Before period 1 even starts, how much stock is already committed and moving through our supply routes?</a:t>
            </a:r>
            <a:endParaRPr b="0" lang="en-US" sz="1000" spc="-1" strike="noStrike">
              <a:solidFill>
                <a:srgbClr val="ffffff"/>
              </a:solidFill>
              <a:latin typeface="Arial"/>
            </a:endParaRPr>
          </a:p>
        </p:txBody>
      </p:sp>
      <p:sp>
        <p:nvSpPr>
          <p:cNvPr id="150" name="Shape 6"/>
          <p:cNvSpPr/>
          <p:nvPr/>
        </p:nvSpPr>
        <p:spPr>
          <a:xfrm>
            <a:off x="5559480" y="1536120"/>
            <a:ext cx="3328200" cy="31068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1" name="Text 7"/>
          <p:cNvSpPr/>
          <p:nvPr/>
        </p:nvSpPr>
        <p:spPr>
          <a:xfrm>
            <a:off x="5559480" y="1536120"/>
            <a:ext cx="3328200" cy="31068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100" spc="-1" strike="noStrike">
                <a:solidFill>
                  <a:srgbClr val="ffffff"/>
                </a:solidFill>
                <a:latin typeface="Calibri"/>
              </a:rPr>
              <a:t>Key Findings</a:t>
            </a:r>
            <a:endParaRPr b="0" lang="en-US" sz="1100" spc="-1" strike="noStrike">
              <a:solidFill>
                <a:srgbClr val="ffffff"/>
              </a:solidFill>
              <a:latin typeface="Arial"/>
            </a:endParaRPr>
          </a:p>
        </p:txBody>
      </p:sp>
      <p:sp>
        <p:nvSpPr>
          <p:cNvPr id="152" name="Shape 8"/>
          <p:cNvSpPr/>
          <p:nvPr/>
        </p:nvSpPr>
        <p:spPr>
          <a:xfrm>
            <a:off x="5559480" y="1847160"/>
            <a:ext cx="3328200" cy="1828440"/>
          </a:xfrm>
          <a:prstGeom prst="rect">
            <a:avLst/>
          </a:prstGeom>
          <a:solidFill>
            <a:srgbClr val="1a2e44"/>
          </a:solidFill>
          <a:ln w="12700">
            <a:solidFill>
              <a:srgbClr val="1a2e4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3" name="Shape 9"/>
          <p:cNvSpPr/>
          <p:nvPr/>
        </p:nvSpPr>
        <p:spPr>
          <a:xfrm>
            <a:off x="5632560" y="195696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154" name="Text 10"/>
          <p:cNvSpPr/>
          <p:nvPr/>
        </p:nvSpPr>
        <p:spPr>
          <a:xfrm>
            <a:off x="5815440" y="190188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seat-supplier_trans → seat-supplier_prod: 56,000 units in transit — ordered up to 23 weeks ago</a:t>
            </a:r>
            <a:endParaRPr b="0" lang="en-US" sz="950" spc="-1" strike="noStrike">
              <a:solidFill>
                <a:srgbClr val="ffffff"/>
              </a:solidFill>
              <a:latin typeface="Arial"/>
            </a:endParaRPr>
          </a:p>
        </p:txBody>
      </p:sp>
      <p:sp>
        <p:nvSpPr>
          <p:cNvPr id="155" name="Shape 11"/>
          <p:cNvSpPr/>
          <p:nvPr/>
        </p:nvSpPr>
        <p:spPr>
          <a:xfrm>
            <a:off x="5632560" y="239580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156" name="Text 12"/>
          <p:cNvSpPr/>
          <p:nvPr/>
        </p:nvSpPr>
        <p:spPr>
          <a:xfrm>
            <a:off x="5815440" y="234072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battery-supplier_trans → battery-supplier_prod: 35,860 units locked in pipeline</a:t>
            </a:r>
            <a:endParaRPr b="0" lang="en-US" sz="950" spc="-1" strike="noStrike">
              <a:solidFill>
                <a:srgbClr val="ffffff"/>
              </a:solidFill>
              <a:latin typeface="Arial"/>
            </a:endParaRPr>
          </a:p>
        </p:txBody>
      </p:sp>
      <p:sp>
        <p:nvSpPr>
          <p:cNvPr id="157" name="Shape 13"/>
          <p:cNvSpPr/>
          <p:nvPr/>
        </p:nvSpPr>
        <p:spPr>
          <a:xfrm>
            <a:off x="5632560" y="283464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158" name="Text 14"/>
          <p:cNvSpPr/>
          <p:nvPr/>
        </p:nvSpPr>
        <p:spPr>
          <a:xfrm>
            <a:off x="5815440" y="277992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gear and engine corridors: 4,000 and 2,000 units each already in motion</a:t>
            </a:r>
            <a:endParaRPr b="0" lang="en-US" sz="950" spc="-1" strike="noStrike">
              <a:solidFill>
                <a:srgbClr val="ffffff"/>
              </a:solidFill>
              <a:latin typeface="Arial"/>
            </a:endParaRPr>
          </a:p>
        </p:txBody>
      </p:sp>
      <p:sp>
        <p:nvSpPr>
          <p:cNvPr id="159" name="Shape 15"/>
          <p:cNvSpPr/>
          <p:nvPr/>
        </p:nvSpPr>
        <p:spPr>
          <a:xfrm>
            <a:off x="5632560" y="327348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160" name="Text 16"/>
          <p:cNvSpPr/>
          <p:nvPr/>
        </p:nvSpPr>
        <p:spPr>
          <a:xfrm>
            <a:off x="5815440" y="321876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These orders cannot be changed, redirected or cancelled — they are autopilot stock</a:t>
            </a:r>
            <a:endParaRPr b="0" lang="en-US" sz="950" spc="-1" strike="noStrike">
              <a:solidFill>
                <a:srgbClr val="ffffff"/>
              </a:solidFill>
              <a:latin typeface="Arial"/>
            </a:endParaRPr>
          </a:p>
        </p:txBody>
      </p:sp>
      <p:sp>
        <p:nvSpPr>
          <p:cNvPr id="161" name="Shape 17"/>
          <p:cNvSpPr/>
          <p:nvPr/>
        </p:nvSpPr>
        <p:spPr>
          <a:xfrm>
            <a:off x="5559480" y="3712320"/>
            <a:ext cx="3328200" cy="255600"/>
          </a:xfrm>
          <a:prstGeom prst="rect">
            <a:avLst/>
          </a:prstGeom>
          <a:solidFill>
            <a:srgbClr val="122030"/>
          </a:solidFill>
          <a:ln w="1270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Text 18"/>
          <p:cNvSpPr/>
          <p:nvPr/>
        </p:nvSpPr>
        <p:spPr>
          <a:xfrm>
            <a:off x="5632560" y="3712320"/>
            <a:ext cx="3200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d4a843"/>
                </a:solidFill>
                <a:latin typeface="Calibri"/>
              </a:rPr>
              <a:t>Story insight</a:t>
            </a:r>
            <a:endParaRPr b="0" lang="en-US" sz="900" spc="-1" strike="noStrike">
              <a:solidFill>
                <a:srgbClr val="ffffff"/>
              </a:solidFill>
              <a:latin typeface="Arial"/>
            </a:endParaRPr>
          </a:p>
        </p:txBody>
      </p:sp>
      <p:sp>
        <p:nvSpPr>
          <p:cNvPr id="163" name="Shape 19"/>
          <p:cNvSpPr/>
          <p:nvPr/>
        </p:nvSpPr>
        <p:spPr>
          <a:xfrm>
            <a:off x="5559480" y="3968640"/>
            <a:ext cx="3328200" cy="914040"/>
          </a:xfrm>
          <a:prstGeom prst="rect">
            <a:avLst/>
          </a:prstGeom>
          <a:solidFill>
            <a:srgbClr val="0f1e2e"/>
          </a:solidFill>
          <a:ln w="12700">
            <a:solidFill>
              <a:srgbClr val="0f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4" name="Text 20"/>
          <p:cNvSpPr/>
          <p:nvPr/>
        </p:nvSpPr>
        <p:spPr>
          <a:xfrm>
            <a:off x="5632560" y="3986640"/>
            <a:ext cx="3200040" cy="877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e2e8f0"/>
                </a:solidFill>
                <a:latin typeface="Calibri"/>
              </a:rPr>
              <a:t>The supply chain for weeks 1–4 is effectively on autopilot. Every unit arriving was committed before the planning window opened. If that stock is wrong in quantity or timing, there is no lever to pull. This is the operational consequence of 20–23  lead times.</a:t>
            </a:r>
            <a:endParaRPr b="0" lang="en-US" sz="900" spc="-1" strike="noStrike">
              <a:solidFill>
                <a:srgbClr val="ffffff"/>
              </a:solidFill>
              <a:latin typeface="Arial"/>
            </a:endParaRPr>
          </a:p>
        </p:txBody>
      </p:sp>
      <p:sp>
        <p:nvSpPr>
          <p:cNvPr id="165" name="Text 21"/>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
        <p:nvSpPr>
          <p:cNvPr id="166" name="Shape 22"/>
          <p:cNvSpPr/>
          <p:nvPr/>
        </p:nvSpPr>
        <p:spPr>
          <a:xfrm>
            <a:off x="255960" y="1207080"/>
            <a:ext cx="5120280" cy="3346200"/>
          </a:xfrm>
          <a:prstGeom prst="rect">
            <a:avLst/>
          </a:prstGeom>
          <a:solidFill>
            <a:srgbClr val="0f2030"/>
          </a:solidFill>
          <a:ln w="1016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7" name="Text 23"/>
          <p:cNvSpPr/>
          <p:nvPr/>
        </p:nvSpPr>
        <p:spPr>
          <a:xfrm>
            <a:off x="347400" y="1261800"/>
            <a:ext cx="169128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50" spc="-1" strike="noStrike">
                <a:solidFill>
                  <a:srgbClr val="f6ad55"/>
                </a:solidFill>
                <a:latin typeface="Calibri"/>
              </a:rPr>
              <a:t>From Facility</a:t>
            </a:r>
            <a:endParaRPr b="0" lang="en-US" sz="850" spc="-1" strike="noStrike">
              <a:solidFill>
                <a:srgbClr val="ffffff"/>
              </a:solidFill>
              <a:latin typeface="Arial"/>
            </a:endParaRPr>
          </a:p>
        </p:txBody>
      </p:sp>
      <p:sp>
        <p:nvSpPr>
          <p:cNvPr id="168" name="Text 24"/>
          <p:cNvSpPr/>
          <p:nvPr/>
        </p:nvSpPr>
        <p:spPr>
          <a:xfrm>
            <a:off x="2084760" y="1261800"/>
            <a:ext cx="169128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50" spc="-1" strike="noStrike">
                <a:solidFill>
                  <a:srgbClr val="f6ad55"/>
                </a:solidFill>
                <a:latin typeface="Calibri"/>
              </a:rPr>
              <a:t>To Facility</a:t>
            </a:r>
            <a:endParaRPr b="0" lang="en-US" sz="850" spc="-1" strike="noStrike">
              <a:solidFill>
                <a:srgbClr val="ffffff"/>
              </a:solidFill>
              <a:latin typeface="Arial"/>
            </a:endParaRPr>
          </a:p>
        </p:txBody>
      </p:sp>
      <p:sp>
        <p:nvSpPr>
          <p:cNvPr id="169" name="Text 25"/>
          <p:cNvSpPr/>
          <p:nvPr/>
        </p:nvSpPr>
        <p:spPr>
          <a:xfrm>
            <a:off x="3822120" y="1261800"/>
            <a:ext cx="1462680" cy="237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50" spc="-1" strike="noStrike">
                <a:solidFill>
                  <a:srgbClr val="f6ad55"/>
                </a:solidFill>
                <a:latin typeface="Calibri"/>
              </a:rPr>
              <a:t>Units In Transit</a:t>
            </a:r>
            <a:endParaRPr b="0" lang="en-US" sz="850" spc="-1" strike="noStrike">
              <a:solidFill>
                <a:srgbClr val="ffffff"/>
              </a:solidFill>
              <a:latin typeface="Arial"/>
            </a:endParaRPr>
          </a:p>
        </p:txBody>
      </p:sp>
      <p:sp>
        <p:nvSpPr>
          <p:cNvPr id="170" name="Shape 26"/>
          <p:cNvSpPr/>
          <p:nvPr/>
        </p:nvSpPr>
        <p:spPr>
          <a:xfrm>
            <a:off x="274320" y="153612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1" name="Text 27"/>
          <p:cNvSpPr/>
          <p:nvPr/>
        </p:nvSpPr>
        <p:spPr>
          <a:xfrm>
            <a:off x="347400" y="153612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seat-supplier_trans</a:t>
            </a:r>
            <a:endParaRPr b="0" lang="en-US" sz="850" spc="-1" strike="noStrike">
              <a:solidFill>
                <a:srgbClr val="ffffff"/>
              </a:solidFill>
              <a:latin typeface="Arial"/>
            </a:endParaRPr>
          </a:p>
        </p:txBody>
      </p:sp>
      <p:sp>
        <p:nvSpPr>
          <p:cNvPr id="172" name="Text 28"/>
          <p:cNvSpPr/>
          <p:nvPr/>
        </p:nvSpPr>
        <p:spPr>
          <a:xfrm>
            <a:off x="2084760" y="153612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seat-supplier_prod</a:t>
            </a:r>
            <a:endParaRPr b="0" lang="en-US" sz="850" spc="-1" strike="noStrike">
              <a:solidFill>
                <a:srgbClr val="ffffff"/>
              </a:solidFill>
              <a:latin typeface="Arial"/>
            </a:endParaRPr>
          </a:p>
        </p:txBody>
      </p:sp>
      <p:sp>
        <p:nvSpPr>
          <p:cNvPr id="173" name="Text 29"/>
          <p:cNvSpPr/>
          <p:nvPr/>
        </p:nvSpPr>
        <p:spPr>
          <a:xfrm>
            <a:off x="3822120" y="1536120"/>
            <a:ext cx="14626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f97316"/>
                </a:solidFill>
                <a:latin typeface="Calibri"/>
              </a:rPr>
              <a:t>56,000</a:t>
            </a:r>
            <a:endParaRPr b="0" lang="en-US" sz="850" spc="-1" strike="noStrike">
              <a:solidFill>
                <a:srgbClr val="ffffff"/>
              </a:solidFill>
              <a:latin typeface="Arial"/>
            </a:endParaRPr>
          </a:p>
        </p:txBody>
      </p:sp>
      <p:sp>
        <p:nvSpPr>
          <p:cNvPr id="174" name="Shape 30"/>
          <p:cNvSpPr/>
          <p:nvPr/>
        </p:nvSpPr>
        <p:spPr>
          <a:xfrm>
            <a:off x="274320" y="1856160"/>
            <a:ext cx="5083560" cy="292320"/>
          </a:xfrm>
          <a:prstGeom prst="rect">
            <a:avLst/>
          </a:prstGeom>
          <a:solidFill>
            <a:srgbClr val="0f2438"/>
          </a:solidFill>
          <a:ln w="12700">
            <a:solidFill>
              <a:srgbClr val="0f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5" name="Text 31"/>
          <p:cNvSpPr/>
          <p:nvPr/>
        </p:nvSpPr>
        <p:spPr>
          <a:xfrm>
            <a:off x="347400" y="185616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battery-supplier_trans</a:t>
            </a:r>
            <a:endParaRPr b="0" lang="en-US" sz="850" spc="-1" strike="noStrike">
              <a:solidFill>
                <a:srgbClr val="ffffff"/>
              </a:solidFill>
              <a:latin typeface="Arial"/>
            </a:endParaRPr>
          </a:p>
        </p:txBody>
      </p:sp>
      <p:sp>
        <p:nvSpPr>
          <p:cNvPr id="176" name="Text 32"/>
          <p:cNvSpPr/>
          <p:nvPr/>
        </p:nvSpPr>
        <p:spPr>
          <a:xfrm>
            <a:off x="2084760" y="185616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battery-supplier_prod</a:t>
            </a:r>
            <a:endParaRPr b="0" lang="en-US" sz="850" spc="-1" strike="noStrike">
              <a:solidFill>
                <a:srgbClr val="ffffff"/>
              </a:solidFill>
              <a:latin typeface="Arial"/>
            </a:endParaRPr>
          </a:p>
        </p:txBody>
      </p:sp>
      <p:sp>
        <p:nvSpPr>
          <p:cNvPr id="177" name="Text 33"/>
          <p:cNvSpPr/>
          <p:nvPr/>
        </p:nvSpPr>
        <p:spPr>
          <a:xfrm>
            <a:off x="3822120" y="1856160"/>
            <a:ext cx="14626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pc="-1" strike="noStrike">
                <a:solidFill>
                  <a:srgbClr val="f97316"/>
                </a:solidFill>
                <a:latin typeface="Calibri"/>
              </a:rPr>
              <a:t>35,860</a:t>
            </a:r>
            <a:endParaRPr b="0" lang="en-US" sz="850" spc="-1" strike="noStrike">
              <a:solidFill>
                <a:srgbClr val="ffffff"/>
              </a:solidFill>
              <a:latin typeface="Arial"/>
            </a:endParaRPr>
          </a:p>
        </p:txBody>
      </p:sp>
      <p:sp>
        <p:nvSpPr>
          <p:cNvPr id="178" name="Shape 34"/>
          <p:cNvSpPr/>
          <p:nvPr/>
        </p:nvSpPr>
        <p:spPr>
          <a:xfrm>
            <a:off x="274320" y="217620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Text 35"/>
          <p:cNvSpPr/>
          <p:nvPr/>
        </p:nvSpPr>
        <p:spPr>
          <a:xfrm>
            <a:off x="347400" y="217620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gear-supplier_inv</a:t>
            </a:r>
            <a:endParaRPr b="0" lang="en-US" sz="850" spc="-1" strike="noStrike">
              <a:solidFill>
                <a:srgbClr val="ffffff"/>
              </a:solidFill>
              <a:latin typeface="Arial"/>
            </a:endParaRPr>
          </a:p>
        </p:txBody>
      </p:sp>
      <p:sp>
        <p:nvSpPr>
          <p:cNvPr id="180" name="Text 36"/>
          <p:cNvSpPr/>
          <p:nvPr/>
        </p:nvSpPr>
        <p:spPr>
          <a:xfrm>
            <a:off x="2084760" y="217620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zp7</a:t>
            </a:r>
            <a:endParaRPr b="0" lang="en-US" sz="850" spc="-1" strike="noStrike">
              <a:solidFill>
                <a:srgbClr val="ffffff"/>
              </a:solidFill>
              <a:latin typeface="Arial"/>
            </a:endParaRPr>
          </a:p>
        </p:txBody>
      </p:sp>
      <p:sp>
        <p:nvSpPr>
          <p:cNvPr id="181" name="Text 37"/>
          <p:cNvSpPr/>
          <p:nvPr/>
        </p:nvSpPr>
        <p:spPr>
          <a:xfrm>
            <a:off x="3822120" y="2176200"/>
            <a:ext cx="14626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4,000</a:t>
            </a:r>
            <a:endParaRPr b="0" lang="en-US" sz="850" spc="-1" strike="noStrike">
              <a:solidFill>
                <a:srgbClr val="ffffff"/>
              </a:solidFill>
              <a:latin typeface="Arial"/>
            </a:endParaRPr>
          </a:p>
        </p:txBody>
      </p:sp>
      <p:sp>
        <p:nvSpPr>
          <p:cNvPr id="182" name="Shape 38"/>
          <p:cNvSpPr/>
          <p:nvPr/>
        </p:nvSpPr>
        <p:spPr>
          <a:xfrm>
            <a:off x="274320" y="2496240"/>
            <a:ext cx="5083560" cy="292320"/>
          </a:xfrm>
          <a:prstGeom prst="rect">
            <a:avLst/>
          </a:prstGeom>
          <a:solidFill>
            <a:srgbClr val="0f2438"/>
          </a:solidFill>
          <a:ln w="12700">
            <a:solidFill>
              <a:srgbClr val="0f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Text 39"/>
          <p:cNvSpPr/>
          <p:nvPr/>
        </p:nvSpPr>
        <p:spPr>
          <a:xfrm>
            <a:off x="347400" y="249624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gear-supplier_prod</a:t>
            </a:r>
            <a:endParaRPr b="0" lang="en-US" sz="850" spc="-1" strike="noStrike">
              <a:solidFill>
                <a:srgbClr val="ffffff"/>
              </a:solidFill>
              <a:latin typeface="Arial"/>
            </a:endParaRPr>
          </a:p>
        </p:txBody>
      </p:sp>
      <p:sp>
        <p:nvSpPr>
          <p:cNvPr id="184" name="Text 40"/>
          <p:cNvSpPr/>
          <p:nvPr/>
        </p:nvSpPr>
        <p:spPr>
          <a:xfrm>
            <a:off x="2084760" y="249624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gear-supplier_inv</a:t>
            </a:r>
            <a:endParaRPr b="0" lang="en-US" sz="850" spc="-1" strike="noStrike">
              <a:solidFill>
                <a:srgbClr val="ffffff"/>
              </a:solidFill>
              <a:latin typeface="Arial"/>
            </a:endParaRPr>
          </a:p>
        </p:txBody>
      </p:sp>
      <p:sp>
        <p:nvSpPr>
          <p:cNvPr id="185" name="Text 41"/>
          <p:cNvSpPr/>
          <p:nvPr/>
        </p:nvSpPr>
        <p:spPr>
          <a:xfrm>
            <a:off x="3822120" y="2496240"/>
            <a:ext cx="14626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4,000</a:t>
            </a:r>
            <a:endParaRPr b="0" lang="en-US" sz="850" spc="-1" strike="noStrike">
              <a:solidFill>
                <a:srgbClr val="ffffff"/>
              </a:solidFill>
              <a:latin typeface="Arial"/>
            </a:endParaRPr>
          </a:p>
        </p:txBody>
      </p:sp>
      <p:sp>
        <p:nvSpPr>
          <p:cNvPr id="186" name="Shape 42"/>
          <p:cNvSpPr/>
          <p:nvPr/>
        </p:nvSpPr>
        <p:spPr>
          <a:xfrm>
            <a:off x="274320" y="281628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7" name="Text 43"/>
          <p:cNvSpPr/>
          <p:nvPr/>
        </p:nvSpPr>
        <p:spPr>
          <a:xfrm>
            <a:off x="347400" y="281628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engine-supplier_inv</a:t>
            </a:r>
            <a:endParaRPr b="0" lang="en-US" sz="850" spc="-1" strike="noStrike">
              <a:solidFill>
                <a:srgbClr val="ffffff"/>
              </a:solidFill>
              <a:latin typeface="Arial"/>
            </a:endParaRPr>
          </a:p>
        </p:txBody>
      </p:sp>
      <p:sp>
        <p:nvSpPr>
          <p:cNvPr id="188" name="Text 44"/>
          <p:cNvSpPr/>
          <p:nvPr/>
        </p:nvSpPr>
        <p:spPr>
          <a:xfrm>
            <a:off x="2084760" y="281628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zp7</a:t>
            </a:r>
            <a:endParaRPr b="0" lang="en-US" sz="850" spc="-1" strike="noStrike">
              <a:solidFill>
                <a:srgbClr val="ffffff"/>
              </a:solidFill>
              <a:latin typeface="Arial"/>
            </a:endParaRPr>
          </a:p>
        </p:txBody>
      </p:sp>
      <p:sp>
        <p:nvSpPr>
          <p:cNvPr id="189" name="Text 45"/>
          <p:cNvSpPr/>
          <p:nvPr/>
        </p:nvSpPr>
        <p:spPr>
          <a:xfrm>
            <a:off x="3822120" y="2816280"/>
            <a:ext cx="14626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2,000</a:t>
            </a:r>
            <a:endParaRPr b="0" lang="en-US" sz="850" spc="-1" strike="noStrike">
              <a:solidFill>
                <a:srgbClr val="ffffff"/>
              </a:solidFill>
              <a:latin typeface="Arial"/>
            </a:endParaRPr>
          </a:p>
        </p:txBody>
      </p:sp>
      <p:sp>
        <p:nvSpPr>
          <p:cNvPr id="190" name="Shape 46"/>
          <p:cNvSpPr/>
          <p:nvPr/>
        </p:nvSpPr>
        <p:spPr>
          <a:xfrm>
            <a:off x="274320" y="3136320"/>
            <a:ext cx="5083560" cy="292320"/>
          </a:xfrm>
          <a:prstGeom prst="rect">
            <a:avLst/>
          </a:prstGeom>
          <a:solidFill>
            <a:srgbClr val="0f2438"/>
          </a:solidFill>
          <a:ln w="12700">
            <a:solidFill>
              <a:srgbClr val="0f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Text 47"/>
          <p:cNvSpPr/>
          <p:nvPr/>
        </p:nvSpPr>
        <p:spPr>
          <a:xfrm>
            <a:off x="347400" y="313632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engine-supplier_prod</a:t>
            </a:r>
            <a:endParaRPr b="0" lang="en-US" sz="850" spc="-1" strike="noStrike">
              <a:solidFill>
                <a:srgbClr val="ffffff"/>
              </a:solidFill>
              <a:latin typeface="Arial"/>
            </a:endParaRPr>
          </a:p>
        </p:txBody>
      </p:sp>
      <p:sp>
        <p:nvSpPr>
          <p:cNvPr id="192" name="Text 48"/>
          <p:cNvSpPr/>
          <p:nvPr/>
        </p:nvSpPr>
        <p:spPr>
          <a:xfrm>
            <a:off x="2084760" y="313632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engine-supplier_inv</a:t>
            </a:r>
            <a:endParaRPr b="0" lang="en-US" sz="850" spc="-1" strike="noStrike">
              <a:solidFill>
                <a:srgbClr val="ffffff"/>
              </a:solidFill>
              <a:latin typeface="Arial"/>
            </a:endParaRPr>
          </a:p>
        </p:txBody>
      </p:sp>
      <p:sp>
        <p:nvSpPr>
          <p:cNvPr id="193" name="Text 49"/>
          <p:cNvSpPr/>
          <p:nvPr/>
        </p:nvSpPr>
        <p:spPr>
          <a:xfrm>
            <a:off x="3822120" y="3136320"/>
            <a:ext cx="14626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2,000</a:t>
            </a:r>
            <a:endParaRPr b="0" lang="en-US" sz="850" spc="-1" strike="noStrike">
              <a:solidFill>
                <a:srgbClr val="ffffff"/>
              </a:solidFill>
              <a:latin typeface="Arial"/>
            </a:endParaRPr>
          </a:p>
        </p:txBody>
      </p:sp>
      <p:sp>
        <p:nvSpPr>
          <p:cNvPr id="194" name="Shape 50"/>
          <p:cNvSpPr/>
          <p:nvPr/>
        </p:nvSpPr>
        <p:spPr>
          <a:xfrm>
            <a:off x="274320" y="3456360"/>
            <a:ext cx="5083560" cy="292320"/>
          </a:xfrm>
          <a:prstGeom prst="rect">
            <a:avLst/>
          </a:prstGeom>
          <a:solidFill>
            <a:srgbClr val="0d1e2e"/>
          </a:solidFill>
          <a:ln w="12700">
            <a:solidFill>
              <a:srgbClr val="0d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Text 51"/>
          <p:cNvSpPr/>
          <p:nvPr/>
        </p:nvSpPr>
        <p:spPr>
          <a:xfrm>
            <a:off x="347400" y="345636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battery-supplier_inv</a:t>
            </a:r>
            <a:endParaRPr b="0" lang="en-US" sz="850" spc="-1" strike="noStrike">
              <a:solidFill>
                <a:srgbClr val="ffffff"/>
              </a:solidFill>
              <a:latin typeface="Arial"/>
            </a:endParaRPr>
          </a:p>
        </p:txBody>
      </p:sp>
      <p:sp>
        <p:nvSpPr>
          <p:cNvPr id="196" name="Text 52"/>
          <p:cNvSpPr/>
          <p:nvPr/>
        </p:nvSpPr>
        <p:spPr>
          <a:xfrm>
            <a:off x="2084760" y="345636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zp7</a:t>
            </a:r>
            <a:endParaRPr b="0" lang="en-US" sz="850" spc="-1" strike="noStrike">
              <a:solidFill>
                <a:srgbClr val="ffffff"/>
              </a:solidFill>
              <a:latin typeface="Arial"/>
            </a:endParaRPr>
          </a:p>
        </p:txBody>
      </p:sp>
      <p:sp>
        <p:nvSpPr>
          <p:cNvPr id="197" name="Text 53"/>
          <p:cNvSpPr/>
          <p:nvPr/>
        </p:nvSpPr>
        <p:spPr>
          <a:xfrm>
            <a:off x="3822120" y="3456360"/>
            <a:ext cx="14626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200</a:t>
            </a:r>
            <a:endParaRPr b="0" lang="en-US" sz="850" spc="-1" strike="noStrike">
              <a:solidFill>
                <a:srgbClr val="ffffff"/>
              </a:solidFill>
              <a:latin typeface="Arial"/>
            </a:endParaRPr>
          </a:p>
        </p:txBody>
      </p:sp>
      <p:sp>
        <p:nvSpPr>
          <p:cNvPr id="198" name="Shape 54"/>
          <p:cNvSpPr/>
          <p:nvPr/>
        </p:nvSpPr>
        <p:spPr>
          <a:xfrm>
            <a:off x="274320" y="3776400"/>
            <a:ext cx="5083560" cy="292320"/>
          </a:xfrm>
          <a:prstGeom prst="rect">
            <a:avLst/>
          </a:prstGeom>
          <a:solidFill>
            <a:srgbClr val="0f2438"/>
          </a:solidFill>
          <a:ln w="12700">
            <a:solidFill>
              <a:srgbClr val="0f243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9" name="Text 55"/>
          <p:cNvSpPr/>
          <p:nvPr/>
        </p:nvSpPr>
        <p:spPr>
          <a:xfrm>
            <a:off x="347400" y="377640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battery-supplier_prod</a:t>
            </a:r>
            <a:endParaRPr b="0" lang="en-US" sz="850" spc="-1" strike="noStrike">
              <a:solidFill>
                <a:srgbClr val="ffffff"/>
              </a:solidFill>
              <a:latin typeface="Arial"/>
            </a:endParaRPr>
          </a:p>
        </p:txBody>
      </p:sp>
      <p:sp>
        <p:nvSpPr>
          <p:cNvPr id="200" name="Text 56"/>
          <p:cNvSpPr/>
          <p:nvPr/>
        </p:nvSpPr>
        <p:spPr>
          <a:xfrm>
            <a:off x="2084760" y="3776400"/>
            <a:ext cx="16912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battery-supplier_inv</a:t>
            </a:r>
            <a:endParaRPr b="0" lang="en-US" sz="850" spc="-1" strike="noStrike">
              <a:solidFill>
                <a:srgbClr val="ffffff"/>
              </a:solidFill>
              <a:latin typeface="Arial"/>
            </a:endParaRPr>
          </a:p>
        </p:txBody>
      </p:sp>
      <p:sp>
        <p:nvSpPr>
          <p:cNvPr id="201" name="Text 57"/>
          <p:cNvSpPr/>
          <p:nvPr/>
        </p:nvSpPr>
        <p:spPr>
          <a:xfrm>
            <a:off x="3822120" y="3776400"/>
            <a:ext cx="146268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pc="-1" strike="noStrike">
                <a:solidFill>
                  <a:srgbClr val="e2e8f0"/>
                </a:solidFill>
                <a:latin typeface="Calibri"/>
              </a:rPr>
              <a:t>159</a:t>
            </a:r>
            <a:endParaRPr b="0" lang="en-US" sz="8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02" name="Text 0"/>
          <p:cNvSpPr/>
          <p:nvPr/>
        </p:nvSpPr>
        <p:spPr>
          <a:xfrm>
            <a:off x="5943600" y="274320"/>
            <a:ext cx="2925720" cy="41144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18000" spc="-1" strike="noStrike">
                <a:solidFill>
                  <a:srgbClr val="1a3a5c">
                    <a:alpha val="30000"/>
                  </a:srgbClr>
                </a:solidFill>
                <a:latin typeface="Calibri"/>
              </a:rPr>
              <a:t>06</a:t>
            </a:r>
            <a:endParaRPr b="0" lang="en-US" sz="18000" spc="-1" strike="noStrike">
              <a:solidFill>
                <a:srgbClr val="ffffff"/>
              </a:solidFill>
              <a:latin typeface="Arial"/>
            </a:endParaRPr>
          </a:p>
        </p:txBody>
      </p:sp>
      <p:sp>
        <p:nvSpPr>
          <p:cNvPr id="203" name="Shape 1"/>
          <p:cNvSpPr/>
          <p:nvPr/>
        </p:nvSpPr>
        <p:spPr>
          <a:xfrm>
            <a:off x="457200" y="548640"/>
            <a:ext cx="1371240" cy="292320"/>
          </a:xfrm>
          <a:prstGeom prst="rect">
            <a:avLst/>
          </a:prstGeom>
          <a:solidFill>
            <a:srgbClr val="c0392b"/>
          </a:solidFill>
          <a:ln w="12700">
            <a:solidFill>
              <a:srgbClr val="c0392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4" name="Text 2"/>
          <p:cNvSpPr/>
          <p:nvPr/>
        </p:nvSpPr>
        <p:spPr>
          <a:xfrm>
            <a:off x="457200" y="548640"/>
            <a:ext cx="137124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CHAPTER 6</a:t>
            </a:r>
            <a:endParaRPr b="0" lang="en-US" sz="900" spc="-1" strike="noStrike">
              <a:solidFill>
                <a:srgbClr val="ffffff"/>
              </a:solidFill>
              <a:latin typeface="Arial"/>
            </a:endParaRPr>
          </a:p>
        </p:txBody>
      </p:sp>
      <p:sp>
        <p:nvSpPr>
          <p:cNvPr id="205" name="Text 3"/>
          <p:cNvSpPr/>
          <p:nvPr/>
        </p:nvSpPr>
        <p:spPr>
          <a:xfrm>
            <a:off x="457200" y="960120"/>
            <a:ext cx="548604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Calibri"/>
              </a:rPr>
              <a:t>The Blast Radius</a:t>
            </a:r>
            <a:endParaRPr b="0" lang="en-US" sz="3200" spc="-1" strike="noStrike">
              <a:solidFill>
                <a:srgbClr val="ffffff"/>
              </a:solidFill>
              <a:latin typeface="Arial"/>
            </a:endParaRPr>
          </a:p>
        </p:txBody>
      </p:sp>
      <p:sp>
        <p:nvSpPr>
          <p:cNvPr id="206" name="Text 4"/>
          <p:cNvSpPr/>
          <p:nvPr/>
        </p:nvSpPr>
        <p:spPr>
          <a:xfrm>
            <a:off x="457200" y="1737360"/>
            <a:ext cx="5486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400" spc="-1" strike="noStrike">
                <a:solidFill>
                  <a:srgbClr val="c0392b"/>
                </a:solidFill>
                <a:latin typeface="Calibri"/>
              </a:rPr>
              <a:t>If one component disappears — how many cars stop?</a:t>
            </a:r>
            <a:endParaRPr b="0" lang="en-US" sz="1400" spc="-1" strike="noStrike">
              <a:solidFill>
                <a:srgbClr val="ffffff"/>
              </a:solidFill>
              <a:latin typeface="Arial"/>
            </a:endParaRPr>
          </a:p>
        </p:txBody>
      </p:sp>
      <p:sp>
        <p:nvSpPr>
          <p:cNvPr id="207" name="Shape 5"/>
          <p:cNvSpPr/>
          <p:nvPr/>
        </p:nvSpPr>
        <p:spPr>
          <a:xfrm>
            <a:off x="457200" y="2286000"/>
            <a:ext cx="5120280" cy="36360"/>
          </a:xfrm>
          <a:prstGeom prst="rect">
            <a:avLst/>
          </a:prstGeom>
          <a:solidFill>
            <a:srgbClr val="c0392b"/>
          </a:solidFill>
          <a:ln w="12700">
            <a:solidFill>
              <a:srgbClr val="c0392b"/>
            </a:solidFill>
            <a:round/>
          </a:ln>
        </p:spPr>
        <p:style>
          <a:lnRef idx="0"/>
          <a:fillRef idx="0"/>
          <a:effectRef idx="0"/>
          <a:fontRef idx="minor"/>
        </p:style>
        <p:txBody>
          <a:bodyPr lIns="90000" rIns="90000" tIns="-8280" bIns="-8280" anchor="t">
            <a:noAutofit/>
          </a:bodyPr>
          <a:p>
            <a:endParaRPr b="0" lang="en-US" sz="1800" spc="-1" strike="noStrike">
              <a:solidFill>
                <a:srgbClr val="ffffff"/>
              </a:solidFill>
              <a:latin typeface="Arial"/>
            </a:endParaRPr>
          </a:p>
        </p:txBody>
      </p:sp>
      <p:sp>
        <p:nvSpPr>
          <p:cNvPr id="208" name="Text 6"/>
          <p:cNvSpPr/>
          <p:nvPr/>
        </p:nvSpPr>
        <p:spPr>
          <a:xfrm>
            <a:off x="457200" y="2423160"/>
            <a:ext cx="51202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d4a843"/>
                </a:solidFill>
                <a:latin typeface="Calibri"/>
              </a:rPr>
              <a:t>What the operations team is asking:</a:t>
            </a:r>
            <a:endParaRPr b="0" lang="en-US" sz="1000" spc="-1" strike="noStrike">
              <a:solidFill>
                <a:srgbClr val="ffffff"/>
              </a:solidFill>
              <a:latin typeface="Arial"/>
            </a:endParaRPr>
          </a:p>
        </p:txBody>
      </p:sp>
      <p:sp>
        <p:nvSpPr>
          <p:cNvPr id="209" name="Text 7"/>
          <p:cNvSpPr/>
          <p:nvPr/>
        </p:nvSpPr>
        <p:spPr>
          <a:xfrm>
            <a:off x="457200" y="2724840"/>
            <a:ext cx="5120280" cy="1645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e2e8f0"/>
                </a:solidFill>
                <a:latin typeface="Calibri"/>
              </a:rPr>
              <a:t>We now know the structure, the complexity, the flow, the timeline and the buffers. The final question is the most operationally critical: which specific components, if disrupted, would cascade failure across the largest share of our finished vehicle portfolio? This is where graph traversal gives us answers spreadsheets cannot.</a:t>
            </a:r>
            <a:endParaRPr b="0" lang="en-US" sz="1100" spc="-1" strike="noStrike">
              <a:solidFill>
                <a:srgbClr val="ffffff"/>
              </a:solidFill>
              <a:latin typeface="Arial"/>
            </a:endParaRPr>
          </a:p>
        </p:txBody>
      </p:sp>
      <p:sp>
        <p:nvSpPr>
          <p:cNvPr id="210" name="Text 8"/>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11"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Shape 1"/>
          <p:cNvSpPr/>
          <p:nvPr/>
        </p:nvSpPr>
        <p:spPr>
          <a:xfrm>
            <a:off x="274320" y="137160"/>
            <a:ext cx="959760" cy="328680"/>
          </a:xfrm>
          <a:prstGeom prst="rect">
            <a:avLst/>
          </a:prstGeom>
          <a:solidFill>
            <a:srgbClr val="c0392b"/>
          </a:solidFill>
          <a:ln w="12700">
            <a:solidFill>
              <a:srgbClr val="c0392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Text 2"/>
          <p:cNvSpPr/>
          <p:nvPr/>
        </p:nvSpPr>
        <p:spPr>
          <a:xfrm>
            <a:off x="274320" y="137160"/>
            <a:ext cx="959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pc="-1" strike="noStrike">
                <a:solidFill>
                  <a:srgbClr val="ffffff"/>
                </a:solidFill>
                <a:latin typeface="Calibri"/>
              </a:rPr>
              <a:t>EDA 10</a:t>
            </a:r>
            <a:endParaRPr b="0" lang="en-US" sz="1000" spc="-1" strike="noStrike">
              <a:solidFill>
                <a:srgbClr val="ffffff"/>
              </a:solidFill>
              <a:latin typeface="Arial"/>
            </a:endParaRPr>
          </a:p>
        </p:txBody>
      </p:sp>
      <p:sp>
        <p:nvSpPr>
          <p:cNvPr id="214" name="Text 3"/>
          <p:cNvSpPr/>
          <p:nvPr/>
        </p:nvSpPr>
        <p:spPr>
          <a:xfrm>
            <a:off x="1371600" y="128160"/>
            <a:ext cx="74977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libri"/>
              </a:rPr>
              <a:t>Downstream Component Impact — Which parts, if lost, take down the entire fleet?</a:t>
            </a:r>
            <a:endParaRPr b="0" lang="en-US" sz="1600" spc="-1" strike="noStrike">
              <a:solidFill>
                <a:srgbClr val="ffffff"/>
              </a:solidFill>
              <a:latin typeface="Arial"/>
            </a:endParaRPr>
          </a:p>
        </p:txBody>
      </p:sp>
      <p:sp>
        <p:nvSpPr>
          <p:cNvPr id="215" name="Shape 4"/>
          <p:cNvSpPr/>
          <p:nvPr/>
        </p:nvSpPr>
        <p:spPr>
          <a:xfrm>
            <a:off x="255960" y="749880"/>
            <a:ext cx="8631720" cy="347040"/>
          </a:xfrm>
          <a:prstGeom prst="rect">
            <a:avLst/>
          </a:prstGeom>
          <a:solidFill>
            <a:srgbClr val="162032"/>
          </a:solidFill>
          <a:ln w="1397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Text 5"/>
          <p:cNvSpPr/>
          <p:nvPr/>
        </p:nvSpPr>
        <p:spPr>
          <a:xfrm>
            <a:off x="384120" y="749880"/>
            <a:ext cx="84121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d4a843"/>
                </a:solidFill>
                <a:latin typeface="Calibri"/>
              </a:rPr>
              <a:t>Manager asks:  </a:t>
            </a:r>
            <a:r>
              <a:rPr b="0" i="1" lang="en-US" sz="1000" spc="-1" strike="noStrike">
                <a:solidFill>
                  <a:srgbClr val="ffffff"/>
                </a:solidFill>
                <a:latin typeface="Calibri"/>
              </a:rPr>
              <a:t>If supplier X stops tomorrow, which car models can we still build — and which ones cannot?</a:t>
            </a:r>
            <a:endParaRPr b="0" lang="en-US" sz="1000" spc="-1" strike="noStrike">
              <a:solidFill>
                <a:srgbClr val="ffffff"/>
              </a:solidFill>
              <a:latin typeface="Arial"/>
            </a:endParaRPr>
          </a:p>
        </p:txBody>
      </p:sp>
      <p:sp>
        <p:nvSpPr>
          <p:cNvPr id="217" name="Shape 6"/>
          <p:cNvSpPr/>
          <p:nvPr/>
        </p:nvSpPr>
        <p:spPr>
          <a:xfrm>
            <a:off x="5559480" y="1536120"/>
            <a:ext cx="3328200" cy="310680"/>
          </a:xfrm>
          <a:prstGeom prst="rect">
            <a:avLst/>
          </a:prstGeom>
          <a:solidFill>
            <a:srgbClr val="c0392b"/>
          </a:solidFill>
          <a:ln w="12700">
            <a:solidFill>
              <a:srgbClr val="c0392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Text 7"/>
          <p:cNvSpPr/>
          <p:nvPr/>
        </p:nvSpPr>
        <p:spPr>
          <a:xfrm>
            <a:off x="5559480" y="1536120"/>
            <a:ext cx="3328200" cy="31068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100" spc="-1" strike="noStrike">
                <a:solidFill>
                  <a:srgbClr val="ffffff"/>
                </a:solidFill>
                <a:latin typeface="Calibri"/>
              </a:rPr>
              <a:t>Key Findings</a:t>
            </a:r>
            <a:endParaRPr b="0" lang="en-US" sz="1100" spc="-1" strike="noStrike">
              <a:solidFill>
                <a:srgbClr val="ffffff"/>
              </a:solidFill>
              <a:latin typeface="Arial"/>
            </a:endParaRPr>
          </a:p>
        </p:txBody>
      </p:sp>
      <p:sp>
        <p:nvSpPr>
          <p:cNvPr id="219" name="Shape 8"/>
          <p:cNvSpPr/>
          <p:nvPr/>
        </p:nvSpPr>
        <p:spPr>
          <a:xfrm>
            <a:off x="5559480" y="1847160"/>
            <a:ext cx="3328200" cy="1828440"/>
          </a:xfrm>
          <a:prstGeom prst="rect">
            <a:avLst/>
          </a:prstGeom>
          <a:solidFill>
            <a:srgbClr val="1a2e44"/>
          </a:solidFill>
          <a:ln w="12700">
            <a:solidFill>
              <a:srgbClr val="1a2e4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0" name="Shape 9"/>
          <p:cNvSpPr/>
          <p:nvPr/>
        </p:nvSpPr>
        <p:spPr>
          <a:xfrm>
            <a:off x="5632560" y="195696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221" name="Text 10"/>
          <p:cNvSpPr/>
          <p:nvPr/>
        </p:nvSpPr>
        <p:spPr>
          <a:xfrm>
            <a:off x="5815440" y="190188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componment_seat2 and Q4H (seat): 42.99% of car portfolio — 12,038 cars affected</a:t>
            </a:r>
            <a:endParaRPr b="0" lang="en-US" sz="950" spc="-1" strike="noStrike">
              <a:solidFill>
                <a:srgbClr val="ffffff"/>
              </a:solidFill>
              <a:latin typeface="Arial"/>
            </a:endParaRPr>
          </a:p>
        </p:txBody>
      </p:sp>
      <p:sp>
        <p:nvSpPr>
          <p:cNvPr id="222" name="Shape 11"/>
          <p:cNvSpPr/>
          <p:nvPr/>
        </p:nvSpPr>
        <p:spPr>
          <a:xfrm>
            <a:off x="5632560" y="239580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223" name="Text 12"/>
          <p:cNvSpPr/>
          <p:nvPr/>
        </p:nvSpPr>
        <p:spPr>
          <a:xfrm>
            <a:off x="5815440" y="234072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componment_seat1 and Q2J (seat): 34.74% — 9,726 cars each</a:t>
            </a:r>
            <a:endParaRPr b="0" lang="en-US" sz="950" spc="-1" strike="noStrike">
              <a:solidFill>
                <a:srgbClr val="ffffff"/>
              </a:solidFill>
              <a:latin typeface="Arial"/>
            </a:endParaRPr>
          </a:p>
        </p:txBody>
      </p:sp>
      <p:sp>
        <p:nvSpPr>
          <p:cNvPr id="224" name="Shape 13"/>
          <p:cNvSpPr/>
          <p:nvPr/>
        </p:nvSpPr>
        <p:spPr>
          <a:xfrm>
            <a:off x="5632560" y="283464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225" name="Text 14"/>
          <p:cNvSpPr/>
          <p:nvPr/>
        </p:nvSpPr>
        <p:spPr>
          <a:xfrm>
            <a:off x="5815440" y="277992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G0K (gear): 30.69% — 8,592 cars depend on this single gear component</a:t>
            </a:r>
            <a:endParaRPr b="0" lang="en-US" sz="950" spc="-1" strike="noStrike">
              <a:solidFill>
                <a:srgbClr val="ffffff"/>
              </a:solidFill>
              <a:latin typeface="Arial"/>
            </a:endParaRPr>
          </a:p>
        </p:txBody>
      </p:sp>
      <p:sp>
        <p:nvSpPr>
          <p:cNvPr id="226" name="Shape 15"/>
          <p:cNvSpPr/>
          <p:nvPr/>
        </p:nvSpPr>
        <p:spPr>
          <a:xfrm>
            <a:off x="5632560" y="3273480"/>
            <a:ext cx="118440" cy="118440"/>
          </a:xfrm>
          <a:prstGeom prst="ellipse">
            <a:avLst/>
          </a:prstGeom>
          <a:solidFill>
            <a:srgbClr val="f6ad55"/>
          </a:solidFill>
          <a:ln w="12700">
            <a:solidFill>
              <a:srgbClr val="f6ad55"/>
            </a:solidFill>
            <a:round/>
          </a:ln>
        </p:spPr>
        <p:style>
          <a:lnRef idx="0"/>
          <a:fillRef idx="0"/>
          <a:effectRef idx="0"/>
          <a:fontRef idx="minor"/>
        </p:style>
        <p:txBody>
          <a:bodyPr lIns="90000" rIns="90000" tIns="38880" bIns="38880" anchor="t">
            <a:noAutofit/>
          </a:bodyPr>
          <a:p>
            <a:endParaRPr b="0" lang="en-US" sz="1800" spc="-1" strike="noStrike">
              <a:solidFill>
                <a:srgbClr val="000000"/>
              </a:solidFill>
              <a:latin typeface="Arial"/>
            </a:endParaRPr>
          </a:p>
        </p:txBody>
      </p:sp>
      <p:sp>
        <p:nvSpPr>
          <p:cNvPr id="227" name="Text 16"/>
          <p:cNvSpPr/>
          <p:nvPr/>
        </p:nvSpPr>
        <p:spPr>
          <a:xfrm>
            <a:off x="5815440" y="3218760"/>
            <a:ext cx="2998800" cy="402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Engine, gear and seat components collectively affect 100% of all 28,000 car SKUs</a:t>
            </a:r>
            <a:endParaRPr b="0" lang="en-US" sz="950" spc="-1" strike="noStrike">
              <a:solidFill>
                <a:srgbClr val="ffffff"/>
              </a:solidFill>
              <a:latin typeface="Arial"/>
            </a:endParaRPr>
          </a:p>
        </p:txBody>
      </p:sp>
      <p:sp>
        <p:nvSpPr>
          <p:cNvPr id="228" name="Shape 17"/>
          <p:cNvSpPr/>
          <p:nvPr/>
        </p:nvSpPr>
        <p:spPr>
          <a:xfrm>
            <a:off x="5559480" y="3712320"/>
            <a:ext cx="3328200" cy="255600"/>
          </a:xfrm>
          <a:prstGeom prst="rect">
            <a:avLst/>
          </a:prstGeom>
          <a:solidFill>
            <a:srgbClr val="122030"/>
          </a:solidFill>
          <a:ln w="1270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9" name="Text 18"/>
          <p:cNvSpPr/>
          <p:nvPr/>
        </p:nvSpPr>
        <p:spPr>
          <a:xfrm>
            <a:off x="5632560" y="3712320"/>
            <a:ext cx="32000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d4a843"/>
                </a:solidFill>
                <a:latin typeface="Calibri"/>
              </a:rPr>
              <a:t>Story insight</a:t>
            </a:r>
            <a:endParaRPr b="0" lang="en-US" sz="900" spc="-1" strike="noStrike">
              <a:solidFill>
                <a:srgbClr val="ffffff"/>
              </a:solidFill>
              <a:latin typeface="Arial"/>
            </a:endParaRPr>
          </a:p>
        </p:txBody>
      </p:sp>
      <p:sp>
        <p:nvSpPr>
          <p:cNvPr id="230" name="Shape 19"/>
          <p:cNvSpPr/>
          <p:nvPr/>
        </p:nvSpPr>
        <p:spPr>
          <a:xfrm>
            <a:off x="5559480" y="3968640"/>
            <a:ext cx="3328200" cy="914040"/>
          </a:xfrm>
          <a:prstGeom prst="rect">
            <a:avLst/>
          </a:prstGeom>
          <a:solidFill>
            <a:srgbClr val="0f1e2e"/>
          </a:solidFill>
          <a:ln w="12700">
            <a:solidFill>
              <a:srgbClr val="0f1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Text 20"/>
          <p:cNvSpPr/>
          <p:nvPr/>
        </p:nvSpPr>
        <p:spPr>
          <a:xfrm>
            <a:off x="5632560" y="3986640"/>
            <a:ext cx="3200040" cy="877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00" spc="-1" strike="noStrike">
                <a:solidFill>
                  <a:srgbClr val="e2e8f0"/>
                </a:solidFill>
                <a:latin typeface="Calibri"/>
              </a:rPr>
              <a:t>This is the answer to the original question. The seat family is the most concentrated blast-radius risk — a single seat sub-component affects over 42% of the entire car portfolio. Engine, gear and seat together represent fleet-wide existential risk. There is no safe production subset if these fail.</a:t>
            </a:r>
            <a:endParaRPr b="0" lang="en-US" sz="900" spc="-1" strike="noStrike">
              <a:solidFill>
                <a:srgbClr val="ffffff"/>
              </a:solidFill>
              <a:latin typeface="Arial"/>
            </a:endParaRPr>
          </a:p>
        </p:txBody>
      </p:sp>
      <p:sp>
        <p:nvSpPr>
          <p:cNvPr id="232" name="Text 21"/>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graphicFrame>
        <p:nvGraphicFramePr>
          <p:cNvPr id="233" name="Chart 0"/>
          <p:cNvGraphicFramePr/>
          <p:nvPr/>
        </p:nvGraphicFramePr>
        <p:xfrm>
          <a:off x="255960" y="1207080"/>
          <a:ext cx="5120280" cy="334620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0b20"/>
        </a:solidFill>
      </p:bgPr>
    </p:bg>
    <p:spTree>
      <p:nvGrpSpPr>
        <p:cNvPr id="1" name=""/>
        <p:cNvGrpSpPr/>
        <p:nvPr/>
      </p:nvGrpSpPr>
      <p:grpSpPr>
        <a:xfrm>
          <a:off x="0" y="0"/>
          <a:ext cx="0" cy="0"/>
          <a:chOff x="0" y="0"/>
          <a:chExt cx="0" cy="0"/>
        </a:xfrm>
      </p:grpSpPr>
      <p:sp>
        <p:nvSpPr>
          <p:cNvPr id="234" name="Text 0"/>
          <p:cNvSpPr/>
          <p:nvPr/>
        </p:nvSpPr>
        <p:spPr>
          <a:xfrm>
            <a:off x="5943600" y="274320"/>
            <a:ext cx="2925720" cy="41144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18000" spc="-1" strike="noStrike">
                <a:solidFill>
                  <a:srgbClr val="1a1640">
                    <a:alpha val="30000"/>
                  </a:srgbClr>
                </a:solidFill>
                <a:latin typeface="Calibri"/>
              </a:rPr>
              <a:t>07</a:t>
            </a:r>
            <a:endParaRPr b="0" lang="en-US" sz="18000" spc="-1" strike="noStrike">
              <a:solidFill>
                <a:srgbClr val="ffffff"/>
              </a:solidFill>
              <a:latin typeface="Arial"/>
            </a:endParaRPr>
          </a:p>
        </p:txBody>
      </p:sp>
      <p:sp>
        <p:nvSpPr>
          <p:cNvPr id="235" name="Shape 1"/>
          <p:cNvSpPr/>
          <p:nvPr/>
        </p:nvSpPr>
        <p:spPr>
          <a:xfrm>
            <a:off x="457200" y="548640"/>
            <a:ext cx="2285640" cy="29232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6" name="Text 2"/>
          <p:cNvSpPr/>
          <p:nvPr/>
        </p:nvSpPr>
        <p:spPr>
          <a:xfrm>
            <a:off x="457200" y="548640"/>
            <a:ext cx="228564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DEEPER ANALYTICS</a:t>
            </a:r>
            <a:endParaRPr b="0" lang="en-US" sz="900" spc="-1" strike="noStrike">
              <a:solidFill>
                <a:srgbClr val="ffffff"/>
              </a:solidFill>
              <a:latin typeface="Arial"/>
            </a:endParaRPr>
          </a:p>
        </p:txBody>
      </p:sp>
      <p:sp>
        <p:nvSpPr>
          <p:cNvPr id="237" name="Text 3"/>
          <p:cNvSpPr/>
          <p:nvPr/>
        </p:nvSpPr>
        <p:spPr>
          <a:xfrm>
            <a:off x="457200" y="960120"/>
            <a:ext cx="548604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fffff"/>
                </a:solidFill>
                <a:latin typeface="Calibri"/>
              </a:rPr>
              <a:t>Strategic Analytical Questions</a:t>
            </a:r>
            <a:endParaRPr b="0" lang="en-US" sz="2800" spc="-1" strike="noStrike">
              <a:solidFill>
                <a:srgbClr val="ffffff"/>
              </a:solidFill>
              <a:latin typeface="Arial"/>
            </a:endParaRPr>
          </a:p>
        </p:txBody>
      </p:sp>
      <p:sp>
        <p:nvSpPr>
          <p:cNvPr id="238" name="Text 4"/>
          <p:cNvSpPr/>
          <p:nvPr/>
        </p:nvSpPr>
        <p:spPr>
          <a:xfrm>
            <a:off x="457200" y="1737360"/>
            <a:ext cx="5486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6c5ce7"/>
                </a:solidFill>
                <a:latin typeface="Calibri"/>
              </a:rPr>
              <a:t>Going beyond EDA to answer operational risk questions</a:t>
            </a:r>
            <a:endParaRPr b="0" lang="en-US" sz="1300" spc="-1" strike="noStrike">
              <a:solidFill>
                <a:srgbClr val="ffffff"/>
              </a:solidFill>
              <a:latin typeface="Arial"/>
            </a:endParaRPr>
          </a:p>
        </p:txBody>
      </p:sp>
      <p:sp>
        <p:nvSpPr>
          <p:cNvPr id="239" name="Shape 5"/>
          <p:cNvSpPr/>
          <p:nvPr/>
        </p:nvSpPr>
        <p:spPr>
          <a:xfrm>
            <a:off x="457200" y="2286000"/>
            <a:ext cx="5120280" cy="36360"/>
          </a:xfrm>
          <a:prstGeom prst="rect">
            <a:avLst/>
          </a:prstGeom>
          <a:solidFill>
            <a:srgbClr val="6c5ce7"/>
          </a:solidFill>
          <a:ln w="12700">
            <a:solidFill>
              <a:srgbClr val="6c5ce7"/>
            </a:solidFill>
            <a:round/>
          </a:ln>
        </p:spPr>
        <p:style>
          <a:lnRef idx="0"/>
          <a:fillRef idx="0"/>
          <a:effectRef idx="0"/>
          <a:fontRef idx="minor"/>
        </p:style>
        <p:txBody>
          <a:bodyPr lIns="90000" rIns="90000" tIns="-8280" bIns="-8280" anchor="t">
            <a:noAutofit/>
          </a:bodyPr>
          <a:p>
            <a:endParaRPr b="0" lang="en-US" sz="1800" spc="-1" strike="noStrike">
              <a:solidFill>
                <a:srgbClr val="ffffff"/>
              </a:solidFill>
              <a:latin typeface="Arial"/>
            </a:endParaRPr>
          </a:p>
        </p:txBody>
      </p:sp>
      <p:sp>
        <p:nvSpPr>
          <p:cNvPr id="240" name="Text 6"/>
          <p:cNvSpPr/>
          <p:nvPr/>
        </p:nvSpPr>
        <p:spPr>
          <a:xfrm>
            <a:off x="457200" y="2423160"/>
            <a:ext cx="51202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rPr>
              <a:t>Three strategic questions:</a:t>
            </a:r>
            <a:endParaRPr b="0" lang="en-US" sz="1000" spc="-1" strike="noStrike">
              <a:solidFill>
                <a:srgbClr val="ffffff"/>
              </a:solidFill>
              <a:latin typeface="Arial"/>
            </a:endParaRPr>
          </a:p>
        </p:txBody>
      </p:sp>
      <p:sp>
        <p:nvSpPr>
          <p:cNvPr id="241" name="Shape 7"/>
          <p:cNvSpPr/>
          <p:nvPr/>
        </p:nvSpPr>
        <p:spPr>
          <a:xfrm>
            <a:off x="457200" y="2853000"/>
            <a:ext cx="127800" cy="127800"/>
          </a:xfrm>
          <a:prstGeom prst="ellipse">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Text 8"/>
          <p:cNvSpPr/>
          <p:nvPr/>
        </p:nvSpPr>
        <p:spPr>
          <a:xfrm>
            <a:off x="658440" y="2788920"/>
            <a:ext cx="47545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e2e8f0"/>
                </a:solidFill>
                <a:latin typeface="Calibri"/>
              </a:rPr>
              <a:t>AQ1: Component Concentration Risk Map — which BOM hubs have the largest blast radius?</a:t>
            </a:r>
            <a:endParaRPr b="0" lang="en-US" sz="1050" spc="-1" strike="noStrike">
              <a:solidFill>
                <a:srgbClr val="ffffff"/>
              </a:solidFill>
              <a:latin typeface="Arial"/>
            </a:endParaRPr>
          </a:p>
        </p:txBody>
      </p:sp>
      <p:sp>
        <p:nvSpPr>
          <p:cNvPr id="243" name="Shape 9"/>
          <p:cNvSpPr/>
          <p:nvPr/>
        </p:nvSpPr>
        <p:spPr>
          <a:xfrm>
            <a:off x="457200" y="3237120"/>
            <a:ext cx="127800" cy="127800"/>
          </a:xfrm>
          <a:prstGeom prst="ellipse">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4" name="Text 10"/>
          <p:cNvSpPr/>
          <p:nvPr/>
        </p:nvSpPr>
        <p:spPr>
          <a:xfrm>
            <a:off x="658440" y="3173040"/>
            <a:ext cx="47545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e2e8f0"/>
                </a:solidFill>
                <a:latin typeface="Calibri"/>
              </a:rPr>
              <a:t>AQ2: Arc Structural Fragility — which supply routes are most exposed to disruption?</a:t>
            </a:r>
            <a:endParaRPr b="0" lang="en-US" sz="1050" spc="-1" strike="noStrike">
              <a:solidFill>
                <a:srgbClr val="ffffff"/>
              </a:solidFill>
              <a:latin typeface="Arial"/>
            </a:endParaRPr>
          </a:p>
        </p:txBody>
      </p:sp>
      <p:sp>
        <p:nvSpPr>
          <p:cNvPr id="245" name="Shape 11"/>
          <p:cNvSpPr/>
          <p:nvPr/>
        </p:nvSpPr>
        <p:spPr>
          <a:xfrm>
            <a:off x="457200" y="3620880"/>
            <a:ext cx="127800" cy="127800"/>
          </a:xfrm>
          <a:prstGeom prst="ellipse">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Text 12"/>
          <p:cNvSpPr/>
          <p:nvPr/>
        </p:nvSpPr>
        <p:spPr>
          <a:xfrm>
            <a:off x="658440" y="3557160"/>
            <a:ext cx="47545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e2e8f0"/>
                </a:solidFill>
                <a:latin typeface="Calibri"/>
              </a:rPr>
              <a:t>AQ3: Risk-Adjusted Component Priority — which parts need mitigation first?</a:t>
            </a:r>
            <a:endParaRPr b="0" lang="en-US" sz="1050" spc="-1" strike="noStrike">
              <a:solidFill>
                <a:srgbClr val="ffffff"/>
              </a:solidFill>
              <a:latin typeface="Arial"/>
            </a:endParaRPr>
          </a:p>
        </p:txBody>
      </p:sp>
      <p:sp>
        <p:nvSpPr>
          <p:cNvPr id="247" name="Text 13"/>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48" name="Shape 0"/>
          <p:cNvSpPr/>
          <p:nvPr/>
        </p:nvSpPr>
        <p:spPr>
          <a:xfrm>
            <a:off x="0" y="0"/>
            <a:ext cx="9143640" cy="658080"/>
          </a:xfrm>
          <a:prstGeom prst="rect">
            <a:avLst/>
          </a:prstGeom>
          <a:solidFill>
            <a:srgbClr val="1a1040"/>
          </a:solidFill>
          <a:ln w="12700">
            <a:solidFill>
              <a:srgbClr val="1a104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9" name="Shape 1"/>
          <p:cNvSpPr/>
          <p:nvPr/>
        </p:nvSpPr>
        <p:spPr>
          <a:xfrm>
            <a:off x="274320" y="137160"/>
            <a:ext cx="1188360" cy="32868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Text 2"/>
          <p:cNvSpPr/>
          <p:nvPr/>
        </p:nvSpPr>
        <p:spPr>
          <a:xfrm>
            <a:off x="274320" y="137160"/>
            <a:ext cx="11883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AQ 1</a:t>
            </a:r>
            <a:endParaRPr b="0" lang="en-US" sz="900" spc="-1" strike="noStrike">
              <a:solidFill>
                <a:srgbClr val="ffffff"/>
              </a:solidFill>
              <a:latin typeface="Arial"/>
            </a:endParaRPr>
          </a:p>
        </p:txBody>
      </p:sp>
      <p:sp>
        <p:nvSpPr>
          <p:cNvPr id="251" name="Text 3"/>
          <p:cNvSpPr/>
          <p:nvPr/>
        </p:nvSpPr>
        <p:spPr>
          <a:xfrm>
            <a:off x="1600200" y="128160"/>
            <a:ext cx="7314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rPr>
              <a:t>Component Concentration Risk Map</a:t>
            </a:r>
            <a:endParaRPr b="0" lang="en-US" sz="1500" spc="-1" strike="noStrike">
              <a:solidFill>
                <a:srgbClr val="ffffff"/>
              </a:solidFill>
              <a:latin typeface="Arial"/>
            </a:endParaRPr>
          </a:p>
        </p:txBody>
      </p:sp>
      <p:sp>
        <p:nvSpPr>
          <p:cNvPr id="252" name="Shape 4"/>
          <p:cNvSpPr/>
          <p:nvPr/>
        </p:nvSpPr>
        <p:spPr>
          <a:xfrm>
            <a:off x="255960" y="749880"/>
            <a:ext cx="8631720" cy="347040"/>
          </a:xfrm>
          <a:prstGeom prst="rect">
            <a:avLst/>
          </a:prstGeom>
          <a:solidFill>
            <a:srgbClr val="1a1040"/>
          </a:solidFill>
          <a:ln w="1397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3" name="Text 5"/>
          <p:cNvSpPr/>
          <p:nvPr/>
        </p:nvSpPr>
        <p:spPr>
          <a:xfrm>
            <a:off x="384120" y="749880"/>
            <a:ext cx="84121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6c5ce7"/>
                </a:solidFill>
                <a:latin typeface="Calibri"/>
              </a:rPr>
              <a:t>Business question:  </a:t>
            </a:r>
            <a:r>
              <a:rPr b="0" i="1" lang="en-US" sz="1000" spc="-1" strike="noStrike">
                <a:solidFill>
                  <a:srgbClr val="ffffff"/>
                </a:solidFill>
                <a:latin typeface="Calibri"/>
              </a:rPr>
              <a:t>Which components are the strongest shared dependency hubs in the BOM — the ones with the largest structural blast-radius if disrupted?</a:t>
            </a:r>
            <a:endParaRPr b="0" lang="en-US" sz="1000" spc="-1" strike="noStrike">
              <a:solidFill>
                <a:srgbClr val="ffffff"/>
              </a:solidFill>
              <a:latin typeface="Arial"/>
            </a:endParaRPr>
          </a:p>
        </p:txBody>
      </p:sp>
      <p:sp>
        <p:nvSpPr>
          <p:cNvPr id="254" name="Shape 6"/>
          <p:cNvSpPr/>
          <p:nvPr/>
        </p:nvSpPr>
        <p:spPr>
          <a:xfrm>
            <a:off x="255960" y="1207080"/>
            <a:ext cx="5120280" cy="27396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5" name="Text 7"/>
          <p:cNvSpPr/>
          <p:nvPr/>
        </p:nvSpPr>
        <p:spPr>
          <a:xfrm>
            <a:off x="329040" y="1207080"/>
            <a:ext cx="4974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fffff"/>
                </a:solidFill>
                <a:latin typeface="Calibri"/>
              </a:rPr>
              <a:t>Operational Context</a:t>
            </a:r>
            <a:endParaRPr b="0" lang="en-US" sz="1000" spc="-1" strike="noStrike">
              <a:solidFill>
                <a:srgbClr val="ffffff"/>
              </a:solidFill>
              <a:latin typeface="Arial"/>
            </a:endParaRPr>
          </a:p>
        </p:txBody>
      </p:sp>
      <p:sp>
        <p:nvSpPr>
          <p:cNvPr id="256" name="Shape 8"/>
          <p:cNvSpPr/>
          <p:nvPr/>
        </p:nvSpPr>
        <p:spPr>
          <a:xfrm>
            <a:off x="255960" y="1481400"/>
            <a:ext cx="5120280" cy="2468520"/>
          </a:xfrm>
          <a:prstGeom prst="rect">
            <a:avLst/>
          </a:prstGeom>
          <a:solidFill>
            <a:srgbClr val="110e2a"/>
          </a:solidFill>
          <a:ln w="12700">
            <a:solidFill>
              <a:srgbClr val="110e2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7" name="Text 9"/>
          <p:cNvSpPr/>
          <p:nvPr/>
        </p:nvSpPr>
        <p:spPr>
          <a:xfrm>
            <a:off x="347400" y="1536120"/>
            <a:ext cx="4937400" cy="23770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e2e8f0"/>
                </a:solidFill>
                <a:latin typeface="Calibri"/>
              </a:rPr>
              <a:t>Systemic BOM risk is concentrated in a small set of reused components. A disruption in one high-concentration component propagates across large portions of the product portfolio. This query traverses the full transitive BOM — not just tier-1 — to find every component that is an indirect dependency of the maximum number of finished products.</a:t>
            </a:r>
            <a:endParaRPr b="0" lang="en-US" sz="1000" spc="-1" strike="noStrike">
              <a:solidFill>
                <a:srgbClr val="ffffff"/>
              </a:solidFill>
              <a:latin typeface="Arial"/>
            </a:endParaRPr>
          </a:p>
          <a:p>
            <a:pPr defTabSz="914400">
              <a:lnSpc>
                <a:spcPct val="100000"/>
              </a:lnSpc>
              <a:tabLst>
                <a:tab algn="l" pos="0"/>
              </a:tabLst>
            </a:pPr>
            <a:endParaRPr b="0" lang="en-US" sz="1000" spc="-1" strike="noStrike">
              <a:solidFill>
                <a:srgbClr val="ffffff"/>
              </a:solidFill>
              <a:latin typeface="Arial"/>
            </a:endParaRPr>
          </a:p>
          <a:p>
            <a:pPr defTabSz="914400">
              <a:lnSpc>
                <a:spcPct val="100000"/>
              </a:lnSpc>
              <a:tabLst>
                <a:tab algn="l" pos="0"/>
              </a:tabLst>
            </a:pPr>
            <a:r>
              <a:rPr b="0" lang="en-US" sz="1000" spc="-1" strike="noStrike">
                <a:solidFill>
                  <a:srgbClr val="e2e8f0"/>
                </a:solidFill>
                <a:latin typeface="Calibri"/>
              </a:rPr>
              <a:t>The fragility score combines: (1) how many upstream products depend on the component, and (2) how many distinct dependency paths connect those products to it.</a:t>
            </a:r>
            <a:endParaRPr b="0" lang="en-US" sz="1000" spc="-1" strike="noStrike">
              <a:solidFill>
                <a:srgbClr val="ffffff"/>
              </a:solidFill>
              <a:latin typeface="Arial"/>
            </a:endParaRPr>
          </a:p>
        </p:txBody>
      </p:sp>
      <p:sp>
        <p:nvSpPr>
          <p:cNvPr id="258" name="Shape 10"/>
          <p:cNvSpPr/>
          <p:nvPr/>
        </p:nvSpPr>
        <p:spPr>
          <a:xfrm>
            <a:off x="5559480" y="1207080"/>
            <a:ext cx="3328200" cy="27396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Text 11"/>
          <p:cNvSpPr/>
          <p:nvPr/>
        </p:nvSpPr>
        <p:spPr>
          <a:xfrm>
            <a:off x="5559480" y="1207080"/>
            <a:ext cx="3328200" cy="27396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000" spc="-1" strike="noStrike">
                <a:solidFill>
                  <a:srgbClr val="ffffff"/>
                </a:solidFill>
                <a:latin typeface="Calibri"/>
              </a:rPr>
              <a:t>Key Findings</a:t>
            </a:r>
            <a:endParaRPr b="0" lang="en-US" sz="1000" spc="-1" strike="noStrike">
              <a:solidFill>
                <a:srgbClr val="ffffff"/>
              </a:solidFill>
              <a:latin typeface="Arial"/>
            </a:endParaRPr>
          </a:p>
        </p:txBody>
      </p:sp>
      <p:sp>
        <p:nvSpPr>
          <p:cNvPr id="260" name="Shape 12"/>
          <p:cNvSpPr/>
          <p:nvPr/>
        </p:nvSpPr>
        <p:spPr>
          <a:xfrm>
            <a:off x="5559480" y="1481400"/>
            <a:ext cx="3328200" cy="1956600"/>
          </a:xfrm>
          <a:prstGeom prst="rect">
            <a:avLst/>
          </a:prstGeom>
          <a:solidFill>
            <a:srgbClr val="1a2e44"/>
          </a:solidFill>
          <a:ln w="12700">
            <a:solidFill>
              <a:srgbClr val="1a2e4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1" name="Shape 13"/>
          <p:cNvSpPr/>
          <p:nvPr/>
        </p:nvSpPr>
        <p:spPr>
          <a:xfrm>
            <a:off x="5632560" y="16002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262" name="Text 14"/>
          <p:cNvSpPr/>
          <p:nvPr/>
        </p:nvSpPr>
        <p:spPr>
          <a:xfrm>
            <a:off x="5815440" y="15361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componment_seat2: 12,039 upstream products, 48,156 dependency paths — largest BOM hub</a:t>
            </a:r>
            <a:endParaRPr b="0" lang="en-US" sz="950" spc="-1" strike="noStrike">
              <a:solidFill>
                <a:srgbClr val="ffffff"/>
              </a:solidFill>
              <a:latin typeface="Arial"/>
            </a:endParaRPr>
          </a:p>
        </p:txBody>
      </p:sp>
      <p:sp>
        <p:nvSpPr>
          <p:cNvPr id="263" name="Shape 15"/>
          <p:cNvSpPr/>
          <p:nvPr/>
        </p:nvSpPr>
        <p:spPr>
          <a:xfrm>
            <a:off x="5632560" y="20574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264" name="Text 16"/>
          <p:cNvSpPr/>
          <p:nvPr/>
        </p:nvSpPr>
        <p:spPr>
          <a:xfrm>
            <a:off x="5815440" y="19933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Q4H (seat): 12,038 products, 24,076 paths — second largest</a:t>
            </a:r>
            <a:endParaRPr b="0" lang="en-US" sz="950" spc="-1" strike="noStrike">
              <a:solidFill>
                <a:srgbClr val="ffffff"/>
              </a:solidFill>
              <a:latin typeface="Arial"/>
            </a:endParaRPr>
          </a:p>
        </p:txBody>
      </p:sp>
      <p:sp>
        <p:nvSpPr>
          <p:cNvPr id="265" name="Shape 17"/>
          <p:cNvSpPr/>
          <p:nvPr/>
        </p:nvSpPr>
        <p:spPr>
          <a:xfrm>
            <a:off x="5632560" y="25146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266" name="Text 18"/>
          <p:cNvSpPr/>
          <p:nvPr/>
        </p:nvSpPr>
        <p:spPr>
          <a:xfrm>
            <a:off x="5815440" y="24505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componment_seat1 &amp; Q2J: ~9,726 each — seat family dominates top 4</a:t>
            </a:r>
            <a:endParaRPr b="0" lang="en-US" sz="950" spc="-1" strike="noStrike">
              <a:solidFill>
                <a:srgbClr val="ffffff"/>
              </a:solidFill>
              <a:latin typeface="Arial"/>
            </a:endParaRPr>
          </a:p>
        </p:txBody>
      </p:sp>
      <p:sp>
        <p:nvSpPr>
          <p:cNvPr id="267" name="Shape 19"/>
          <p:cNvSpPr/>
          <p:nvPr/>
        </p:nvSpPr>
        <p:spPr>
          <a:xfrm>
            <a:off x="5632560" y="29718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268" name="Text 20"/>
          <p:cNvSpPr/>
          <p:nvPr/>
        </p:nvSpPr>
        <p:spPr>
          <a:xfrm>
            <a:off x="5815440" y="29077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Gear components (G0K, G1C, G1D) appear in top-10 — broad but lower than seat</a:t>
            </a:r>
            <a:endParaRPr b="0" lang="en-US" sz="950" spc="-1" strike="noStrike">
              <a:solidFill>
                <a:srgbClr val="ffffff"/>
              </a:solidFill>
              <a:latin typeface="Arial"/>
            </a:endParaRPr>
          </a:p>
        </p:txBody>
      </p:sp>
      <p:sp>
        <p:nvSpPr>
          <p:cNvPr id="269" name="Shape 21"/>
          <p:cNvSpPr/>
          <p:nvPr/>
        </p:nvSpPr>
        <p:spPr>
          <a:xfrm>
            <a:off x="255960" y="4005000"/>
            <a:ext cx="8631720" cy="237240"/>
          </a:xfrm>
          <a:prstGeom prst="rect">
            <a:avLst/>
          </a:prstGeom>
          <a:solidFill>
            <a:srgbClr val="110e2a"/>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0" name="Text 22"/>
          <p:cNvSpPr/>
          <p:nvPr/>
        </p:nvSpPr>
        <p:spPr>
          <a:xfrm>
            <a:off x="347400" y="4005000"/>
            <a:ext cx="84121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6c5ce7"/>
                </a:solidFill>
                <a:latin typeface="Calibri"/>
              </a:rPr>
              <a:t>Story insight</a:t>
            </a:r>
            <a:endParaRPr b="0" lang="en-US" sz="900" spc="-1" strike="noStrike">
              <a:solidFill>
                <a:srgbClr val="ffffff"/>
              </a:solidFill>
              <a:latin typeface="Arial"/>
            </a:endParaRPr>
          </a:p>
        </p:txBody>
      </p:sp>
      <p:sp>
        <p:nvSpPr>
          <p:cNvPr id="271" name="Shape 23"/>
          <p:cNvSpPr/>
          <p:nvPr/>
        </p:nvSpPr>
        <p:spPr>
          <a:xfrm>
            <a:off x="255960" y="4242960"/>
            <a:ext cx="8631720" cy="658080"/>
          </a:xfrm>
          <a:prstGeom prst="rect">
            <a:avLst/>
          </a:prstGeom>
          <a:solidFill>
            <a:srgbClr val="0d0b1e"/>
          </a:solidFill>
          <a:ln w="12700">
            <a:solidFill>
              <a:srgbClr val="0d0b1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2" name="Text 24"/>
          <p:cNvSpPr/>
          <p:nvPr/>
        </p:nvSpPr>
        <p:spPr>
          <a:xfrm>
            <a:off x="347400" y="4260960"/>
            <a:ext cx="8412120" cy="621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Concentration is not evenly distributed. The seat and seat-component family dominates the BOM hub rankings by a significant margin, followed by gear. This means a seat sub-component failure propagates through more dependency chains than any other disruption scenario in this network.</a:t>
            </a:r>
            <a:endParaRPr b="0" lang="en-US" sz="950" spc="-1" strike="noStrike">
              <a:solidFill>
                <a:srgbClr val="ffffff"/>
              </a:solidFill>
              <a:latin typeface="Arial"/>
            </a:endParaRPr>
          </a:p>
        </p:txBody>
      </p:sp>
      <p:sp>
        <p:nvSpPr>
          <p:cNvPr id="273" name="Text 25"/>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274" name="Shape 0"/>
          <p:cNvSpPr/>
          <p:nvPr/>
        </p:nvSpPr>
        <p:spPr>
          <a:xfrm>
            <a:off x="0" y="0"/>
            <a:ext cx="9143640" cy="658080"/>
          </a:xfrm>
          <a:prstGeom prst="rect">
            <a:avLst/>
          </a:prstGeom>
          <a:solidFill>
            <a:srgbClr val="1a1040"/>
          </a:solidFill>
          <a:ln w="12700">
            <a:solidFill>
              <a:srgbClr val="1a104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5" name="Shape 1"/>
          <p:cNvSpPr/>
          <p:nvPr/>
        </p:nvSpPr>
        <p:spPr>
          <a:xfrm>
            <a:off x="274320" y="137160"/>
            <a:ext cx="1188360" cy="32868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6" name="Text 2"/>
          <p:cNvSpPr/>
          <p:nvPr/>
        </p:nvSpPr>
        <p:spPr>
          <a:xfrm>
            <a:off x="274320" y="137160"/>
            <a:ext cx="11883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AQ 2</a:t>
            </a:r>
            <a:endParaRPr b="0" lang="en-US" sz="900" spc="-1" strike="noStrike">
              <a:solidFill>
                <a:srgbClr val="ffffff"/>
              </a:solidFill>
              <a:latin typeface="Arial"/>
            </a:endParaRPr>
          </a:p>
        </p:txBody>
      </p:sp>
      <p:sp>
        <p:nvSpPr>
          <p:cNvPr id="277" name="Text 3"/>
          <p:cNvSpPr/>
          <p:nvPr/>
        </p:nvSpPr>
        <p:spPr>
          <a:xfrm>
            <a:off x="1600200" y="128160"/>
            <a:ext cx="7314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rPr>
              <a:t>Arc Structural Fragility Score</a:t>
            </a:r>
            <a:endParaRPr b="0" lang="en-US" sz="1500" spc="-1" strike="noStrike">
              <a:solidFill>
                <a:srgbClr val="ffffff"/>
              </a:solidFill>
              <a:latin typeface="Arial"/>
            </a:endParaRPr>
          </a:p>
        </p:txBody>
      </p:sp>
      <p:sp>
        <p:nvSpPr>
          <p:cNvPr id="278" name="Shape 4"/>
          <p:cNvSpPr/>
          <p:nvPr/>
        </p:nvSpPr>
        <p:spPr>
          <a:xfrm>
            <a:off x="255960" y="749880"/>
            <a:ext cx="8631720" cy="347040"/>
          </a:xfrm>
          <a:prstGeom prst="rect">
            <a:avLst/>
          </a:prstGeom>
          <a:solidFill>
            <a:srgbClr val="1a1040"/>
          </a:solidFill>
          <a:ln w="1397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Text 5"/>
          <p:cNvSpPr/>
          <p:nvPr/>
        </p:nvSpPr>
        <p:spPr>
          <a:xfrm>
            <a:off x="384120" y="749880"/>
            <a:ext cx="84121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6c5ce7"/>
                </a:solidFill>
                <a:latin typeface="Calibri"/>
              </a:rPr>
              <a:t>Business question:  </a:t>
            </a:r>
            <a:r>
              <a:rPr b="0" i="1" lang="en-US" sz="1000" spc="-1" strike="noStrike">
                <a:solidFill>
                  <a:srgbClr val="ffffff"/>
                </a:solidFill>
                <a:latin typeface="Calibri"/>
              </a:rPr>
              <a:t>Which logistics routes are structurally fragile based on long lead times, low installed capacity, and weak destination opening stock?</a:t>
            </a:r>
            <a:endParaRPr b="0" lang="en-US" sz="1000" spc="-1" strike="noStrike">
              <a:solidFill>
                <a:srgbClr val="ffffff"/>
              </a:solidFill>
              <a:latin typeface="Arial"/>
            </a:endParaRPr>
          </a:p>
        </p:txBody>
      </p:sp>
      <p:sp>
        <p:nvSpPr>
          <p:cNvPr id="280" name="Shape 6"/>
          <p:cNvSpPr/>
          <p:nvPr/>
        </p:nvSpPr>
        <p:spPr>
          <a:xfrm>
            <a:off x="255960" y="1207080"/>
            <a:ext cx="5120280" cy="27396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Text 7"/>
          <p:cNvSpPr/>
          <p:nvPr/>
        </p:nvSpPr>
        <p:spPr>
          <a:xfrm>
            <a:off x="329040" y="1207080"/>
            <a:ext cx="4974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fffff"/>
                </a:solidFill>
                <a:latin typeface="Calibri"/>
              </a:rPr>
              <a:t>Operational Context</a:t>
            </a:r>
            <a:endParaRPr b="0" lang="en-US" sz="1000" spc="-1" strike="noStrike">
              <a:solidFill>
                <a:srgbClr val="ffffff"/>
              </a:solidFill>
              <a:latin typeface="Arial"/>
            </a:endParaRPr>
          </a:p>
        </p:txBody>
      </p:sp>
      <p:sp>
        <p:nvSpPr>
          <p:cNvPr id="282" name="Shape 8"/>
          <p:cNvSpPr/>
          <p:nvPr/>
        </p:nvSpPr>
        <p:spPr>
          <a:xfrm>
            <a:off x="255960" y="1481400"/>
            <a:ext cx="5120280" cy="2468520"/>
          </a:xfrm>
          <a:prstGeom prst="rect">
            <a:avLst/>
          </a:prstGeom>
          <a:solidFill>
            <a:srgbClr val="110e2a"/>
          </a:solidFill>
          <a:ln w="12700">
            <a:solidFill>
              <a:srgbClr val="110e2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3" name="Text 9"/>
          <p:cNvSpPr/>
          <p:nvPr/>
        </p:nvSpPr>
        <p:spPr>
          <a:xfrm>
            <a:off x="347400" y="1536120"/>
            <a:ext cx="4937400" cy="23770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pc="-1" strike="noStrike">
                <a:solidFill>
                  <a:srgbClr val="e2e8f0"/>
                </a:solidFill>
                <a:latin typeface="Calibri"/>
              </a:rPr>
              <a:t>Planned flow data is sparsely populated, so utilisation-based scoring is unreliable. Instead this analysis builds a structural fragility score from three consistently available signals:</a:t>
            </a:r>
            <a:endParaRPr b="0" lang="en-US" sz="1000" spc="-1" strike="noStrike">
              <a:solidFill>
                <a:srgbClr val="ffffff"/>
              </a:solidFill>
              <a:latin typeface="Arial"/>
            </a:endParaRPr>
          </a:p>
          <a:p>
            <a:pPr defTabSz="914400">
              <a:lnSpc>
                <a:spcPct val="100000"/>
              </a:lnSpc>
              <a:tabLst>
                <a:tab algn="l" pos="0"/>
              </a:tabLst>
            </a:pPr>
            <a:endParaRPr b="0" lang="en-US" sz="1000" spc="-1" strike="noStrike">
              <a:solidFill>
                <a:srgbClr val="ffffff"/>
              </a:solidFill>
              <a:latin typeface="Arial"/>
            </a:endParaRPr>
          </a:p>
          <a:p>
            <a:pPr defTabSz="914400">
              <a:lnSpc>
                <a:spcPct val="100000"/>
              </a:lnSpc>
              <a:tabLst>
                <a:tab algn="l" pos="0"/>
              </a:tabLst>
            </a:pPr>
            <a:r>
              <a:rPr b="0" lang="en-US" sz="1000" spc="-1" strike="noStrike">
                <a:solidFill>
                  <a:srgbClr val="e2e8f0"/>
                </a:solidFill>
                <a:latin typeface="Calibri"/>
              </a:rPr>
              <a:t>1. Lead time (weeks) — longer delay = less ability to react</a:t>
            </a:r>
            <a:endParaRPr b="0" lang="en-US" sz="1000" spc="-1" strike="noStrike">
              <a:solidFill>
                <a:srgbClr val="ffffff"/>
              </a:solidFill>
              <a:latin typeface="Arial"/>
            </a:endParaRPr>
          </a:p>
          <a:p>
            <a:pPr defTabSz="914400">
              <a:lnSpc>
                <a:spcPct val="100000"/>
              </a:lnSpc>
              <a:tabLst>
                <a:tab algn="l" pos="0"/>
              </a:tabLst>
            </a:pPr>
            <a:r>
              <a:rPr b="0" lang="en-US" sz="1000" spc="-1" strike="noStrike">
                <a:solidFill>
                  <a:srgbClr val="e2e8f0"/>
                </a:solidFill>
                <a:latin typeface="Calibri"/>
              </a:rPr>
              <a:t>2. Minimum installed capacity across weeks 1–14 — structural ceiling</a:t>
            </a:r>
            <a:endParaRPr b="0" lang="en-US" sz="1000" spc="-1" strike="noStrike">
              <a:solidFill>
                <a:srgbClr val="ffffff"/>
              </a:solidFill>
              <a:latin typeface="Arial"/>
            </a:endParaRPr>
          </a:p>
          <a:p>
            <a:pPr defTabSz="914400">
              <a:lnSpc>
                <a:spcPct val="100000"/>
              </a:lnSpc>
              <a:tabLst>
                <a:tab algn="l" pos="0"/>
              </a:tabLst>
            </a:pPr>
            <a:r>
              <a:rPr b="0" lang="en-US" sz="1000" spc="-1" strike="noStrike">
                <a:solidFill>
                  <a:srgbClr val="e2e8f0"/>
                </a:solidFill>
                <a:latin typeface="Calibri"/>
              </a:rPr>
              <a:t>3. Destination opening stock at week 0 — buffer available before the route matters</a:t>
            </a:r>
            <a:endParaRPr b="0" lang="en-US" sz="1000" spc="-1" strike="noStrike">
              <a:solidFill>
                <a:srgbClr val="ffffff"/>
              </a:solidFill>
              <a:latin typeface="Arial"/>
            </a:endParaRPr>
          </a:p>
          <a:p>
            <a:pPr defTabSz="914400">
              <a:lnSpc>
                <a:spcPct val="100000"/>
              </a:lnSpc>
              <a:tabLst>
                <a:tab algn="l" pos="0"/>
              </a:tabLst>
            </a:pPr>
            <a:endParaRPr b="0" lang="en-US" sz="1000" spc="-1" strike="noStrike">
              <a:solidFill>
                <a:srgbClr val="ffffff"/>
              </a:solidFill>
              <a:latin typeface="Arial"/>
            </a:endParaRPr>
          </a:p>
          <a:p>
            <a:pPr defTabSz="914400">
              <a:lnSpc>
                <a:spcPct val="100000"/>
              </a:lnSpc>
              <a:tabLst>
                <a:tab algn="l" pos="0"/>
              </a:tabLst>
            </a:pPr>
            <a:r>
              <a:rPr b="0" lang="en-US" sz="1000" spc="-1" strike="noStrike">
                <a:solidFill>
                  <a:srgbClr val="e2e8f0"/>
                </a:solidFill>
                <a:latin typeface="Calibri"/>
              </a:rPr>
              <a:t>The composite score surfaces routes that combine all three risk factors simultaneously.</a:t>
            </a:r>
            <a:endParaRPr b="0" lang="en-US" sz="1000" spc="-1" strike="noStrike">
              <a:solidFill>
                <a:srgbClr val="ffffff"/>
              </a:solidFill>
              <a:latin typeface="Arial"/>
            </a:endParaRPr>
          </a:p>
        </p:txBody>
      </p:sp>
      <p:sp>
        <p:nvSpPr>
          <p:cNvPr id="284" name="Shape 10"/>
          <p:cNvSpPr/>
          <p:nvPr/>
        </p:nvSpPr>
        <p:spPr>
          <a:xfrm>
            <a:off x="5559480" y="1207080"/>
            <a:ext cx="3328200" cy="27396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5" name="Text 11"/>
          <p:cNvSpPr/>
          <p:nvPr/>
        </p:nvSpPr>
        <p:spPr>
          <a:xfrm>
            <a:off x="5559480" y="1207080"/>
            <a:ext cx="3328200" cy="27396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000" spc="-1" strike="noStrike">
                <a:solidFill>
                  <a:srgbClr val="ffffff"/>
                </a:solidFill>
                <a:latin typeface="Calibri"/>
              </a:rPr>
              <a:t>Key Findings</a:t>
            </a:r>
            <a:endParaRPr b="0" lang="en-US" sz="1000" spc="-1" strike="noStrike">
              <a:solidFill>
                <a:srgbClr val="ffffff"/>
              </a:solidFill>
              <a:latin typeface="Arial"/>
            </a:endParaRPr>
          </a:p>
        </p:txBody>
      </p:sp>
      <p:sp>
        <p:nvSpPr>
          <p:cNvPr id="286" name="Shape 12"/>
          <p:cNvSpPr/>
          <p:nvPr/>
        </p:nvSpPr>
        <p:spPr>
          <a:xfrm>
            <a:off x="5559480" y="1481400"/>
            <a:ext cx="3328200" cy="1956600"/>
          </a:xfrm>
          <a:prstGeom prst="rect">
            <a:avLst/>
          </a:prstGeom>
          <a:solidFill>
            <a:srgbClr val="1a2e44"/>
          </a:solidFill>
          <a:ln w="12700">
            <a:solidFill>
              <a:srgbClr val="1a2e4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7" name="Shape 13"/>
          <p:cNvSpPr/>
          <p:nvPr/>
        </p:nvSpPr>
        <p:spPr>
          <a:xfrm>
            <a:off x="5632560" y="16002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288" name="Text 14"/>
          <p:cNvSpPr/>
          <p:nvPr/>
        </p:nvSpPr>
        <p:spPr>
          <a:xfrm>
            <a:off x="5815440" y="15361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seat-supplier_trans → seat-supplier_prod: top fragility — lead time 23 leads, zero active buffer</a:t>
            </a:r>
            <a:endParaRPr b="0" lang="en-US" sz="950" spc="-1" strike="noStrike">
              <a:solidFill>
                <a:srgbClr val="ffffff"/>
              </a:solidFill>
              <a:latin typeface="Arial"/>
            </a:endParaRPr>
          </a:p>
        </p:txBody>
      </p:sp>
      <p:sp>
        <p:nvSpPr>
          <p:cNvPr id="289" name="Shape 15"/>
          <p:cNvSpPr/>
          <p:nvPr/>
        </p:nvSpPr>
        <p:spPr>
          <a:xfrm>
            <a:off x="5632560" y="20574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290" name="Text 16"/>
          <p:cNvSpPr/>
          <p:nvPr/>
        </p:nvSpPr>
        <p:spPr>
          <a:xfrm>
            <a:off x="5815440" y="19933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battery-supplier_trans → battery-supplier_prod: second — lead time 20 leads, only 294 units/week capacity</a:t>
            </a:r>
            <a:endParaRPr b="0" lang="en-US" sz="950" spc="-1" strike="noStrike">
              <a:solidFill>
                <a:srgbClr val="ffffff"/>
              </a:solidFill>
              <a:latin typeface="Arial"/>
            </a:endParaRPr>
          </a:p>
        </p:txBody>
      </p:sp>
      <p:sp>
        <p:nvSpPr>
          <p:cNvPr id="291" name="Shape 17"/>
          <p:cNvSpPr/>
          <p:nvPr/>
        </p:nvSpPr>
        <p:spPr>
          <a:xfrm>
            <a:off x="5632560" y="25146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292" name="Text 18"/>
          <p:cNvSpPr/>
          <p:nvPr/>
        </p:nvSpPr>
        <p:spPr>
          <a:xfrm>
            <a:off x="5815440" y="24505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gear and battery transfer arcs: mid-tier fragility — lower lead times but smaller capacities</a:t>
            </a:r>
            <a:endParaRPr b="0" lang="en-US" sz="950" spc="-1" strike="noStrike">
              <a:solidFill>
                <a:srgbClr val="ffffff"/>
              </a:solidFill>
              <a:latin typeface="Arial"/>
            </a:endParaRPr>
          </a:p>
        </p:txBody>
      </p:sp>
      <p:sp>
        <p:nvSpPr>
          <p:cNvPr id="293" name="Shape 19"/>
          <p:cNvSpPr/>
          <p:nvPr/>
        </p:nvSpPr>
        <p:spPr>
          <a:xfrm>
            <a:off x="5632560" y="29718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294" name="Text 20"/>
          <p:cNvSpPr/>
          <p:nvPr/>
        </p:nvSpPr>
        <p:spPr>
          <a:xfrm>
            <a:off x="5815440" y="29077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Short lead-time arcs with large capacity rank lowest — structurally resilient</a:t>
            </a:r>
            <a:endParaRPr b="0" lang="en-US" sz="950" spc="-1" strike="noStrike">
              <a:solidFill>
                <a:srgbClr val="ffffff"/>
              </a:solidFill>
              <a:latin typeface="Arial"/>
            </a:endParaRPr>
          </a:p>
        </p:txBody>
      </p:sp>
      <p:sp>
        <p:nvSpPr>
          <p:cNvPr id="295" name="Shape 21"/>
          <p:cNvSpPr/>
          <p:nvPr/>
        </p:nvSpPr>
        <p:spPr>
          <a:xfrm>
            <a:off x="255960" y="4005000"/>
            <a:ext cx="8631720" cy="237240"/>
          </a:xfrm>
          <a:prstGeom prst="rect">
            <a:avLst/>
          </a:prstGeom>
          <a:solidFill>
            <a:srgbClr val="110e2a"/>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6" name="Text 22"/>
          <p:cNvSpPr/>
          <p:nvPr/>
        </p:nvSpPr>
        <p:spPr>
          <a:xfrm>
            <a:off x="347400" y="4005000"/>
            <a:ext cx="84121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6c5ce7"/>
                </a:solidFill>
                <a:latin typeface="Calibri"/>
              </a:rPr>
              <a:t>Story insight</a:t>
            </a:r>
            <a:endParaRPr b="0" lang="en-US" sz="900" spc="-1" strike="noStrike">
              <a:solidFill>
                <a:srgbClr val="ffffff"/>
              </a:solidFill>
              <a:latin typeface="Arial"/>
            </a:endParaRPr>
          </a:p>
        </p:txBody>
      </p:sp>
      <p:sp>
        <p:nvSpPr>
          <p:cNvPr id="297" name="Shape 23"/>
          <p:cNvSpPr/>
          <p:nvPr/>
        </p:nvSpPr>
        <p:spPr>
          <a:xfrm>
            <a:off x="255960" y="4242960"/>
            <a:ext cx="8631720" cy="658080"/>
          </a:xfrm>
          <a:prstGeom prst="rect">
            <a:avLst/>
          </a:prstGeom>
          <a:solidFill>
            <a:srgbClr val="0d0b1e"/>
          </a:solidFill>
          <a:ln w="12700">
            <a:solidFill>
              <a:srgbClr val="0d0b1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Text 24"/>
          <p:cNvSpPr/>
          <p:nvPr/>
        </p:nvSpPr>
        <p:spPr>
          <a:xfrm>
            <a:off x="347400" y="4260960"/>
            <a:ext cx="8412120" cy="621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The fragility ranking confirms what EDA 5 suggested: the two transit arcs for seat and battery components are the most structurally exposed routes in the network. A disruption on either cannot be corrected for 20–23 leadtime — and the destination buffers at those nodes are already thin.</a:t>
            </a:r>
            <a:endParaRPr b="0" lang="en-US" sz="950" spc="-1" strike="noStrike">
              <a:solidFill>
                <a:srgbClr val="ffffff"/>
              </a:solidFill>
              <a:latin typeface="Arial"/>
            </a:endParaRPr>
          </a:p>
        </p:txBody>
      </p:sp>
      <p:sp>
        <p:nvSpPr>
          <p:cNvPr id="299" name="Text 25"/>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pic>
        <p:nvPicPr>
          <p:cNvPr id="300" name="AQ2Chart" descr="Arc Structural Fragility Chart"/>
          <p:cNvPicPr/>
          <p:nvPr/>
        </p:nvPicPr>
        <p:blipFill>
          <a:blip r:embed="rId1"/>
          <a:stretch/>
        </p:blipFill>
        <p:spPr>
          <a:xfrm>
            <a:off x="255960" y="1481400"/>
            <a:ext cx="5120280" cy="27428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01" name="Shape 0"/>
          <p:cNvSpPr/>
          <p:nvPr/>
        </p:nvSpPr>
        <p:spPr>
          <a:xfrm>
            <a:off x="0" y="0"/>
            <a:ext cx="9143640" cy="658080"/>
          </a:xfrm>
          <a:prstGeom prst="rect">
            <a:avLst/>
          </a:prstGeom>
          <a:solidFill>
            <a:srgbClr val="1a1040"/>
          </a:solidFill>
          <a:ln w="12700">
            <a:solidFill>
              <a:srgbClr val="1a104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2" name="Shape 1"/>
          <p:cNvSpPr/>
          <p:nvPr/>
        </p:nvSpPr>
        <p:spPr>
          <a:xfrm>
            <a:off x="274320" y="137160"/>
            <a:ext cx="1188360" cy="32868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3" name="Text 2"/>
          <p:cNvSpPr/>
          <p:nvPr/>
        </p:nvSpPr>
        <p:spPr>
          <a:xfrm>
            <a:off x="274320" y="137160"/>
            <a:ext cx="11883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AQ 3</a:t>
            </a:r>
            <a:endParaRPr b="0" lang="en-US" sz="900" spc="-1" strike="noStrike">
              <a:solidFill>
                <a:srgbClr val="ffffff"/>
              </a:solidFill>
              <a:latin typeface="Arial"/>
            </a:endParaRPr>
          </a:p>
        </p:txBody>
      </p:sp>
      <p:sp>
        <p:nvSpPr>
          <p:cNvPr id="304" name="Text 3"/>
          <p:cNvSpPr/>
          <p:nvPr/>
        </p:nvSpPr>
        <p:spPr>
          <a:xfrm>
            <a:off x="1600200" y="128160"/>
            <a:ext cx="731484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rPr>
              <a:t>Risk-Adjusted Component Priority</a:t>
            </a:r>
            <a:endParaRPr b="0" lang="en-US" sz="1500" spc="-1" strike="noStrike">
              <a:solidFill>
                <a:srgbClr val="ffffff"/>
              </a:solidFill>
              <a:latin typeface="Arial"/>
            </a:endParaRPr>
          </a:p>
        </p:txBody>
      </p:sp>
      <p:sp>
        <p:nvSpPr>
          <p:cNvPr id="305" name="Shape 4"/>
          <p:cNvSpPr/>
          <p:nvPr/>
        </p:nvSpPr>
        <p:spPr>
          <a:xfrm>
            <a:off x="255960" y="749880"/>
            <a:ext cx="8631720" cy="347040"/>
          </a:xfrm>
          <a:prstGeom prst="rect">
            <a:avLst/>
          </a:prstGeom>
          <a:solidFill>
            <a:srgbClr val="1a1040"/>
          </a:solidFill>
          <a:ln w="1397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6" name="Text 5"/>
          <p:cNvSpPr/>
          <p:nvPr/>
        </p:nvSpPr>
        <p:spPr>
          <a:xfrm>
            <a:off x="384120" y="749880"/>
            <a:ext cx="84121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6c5ce7"/>
                </a:solidFill>
                <a:latin typeface="Calibri"/>
              </a:rPr>
              <a:t>Business question:  </a:t>
            </a:r>
            <a:r>
              <a:rPr b="0" i="1" lang="en-US" sz="1000" spc="-1" strike="noStrike">
                <a:solidFill>
                  <a:srgbClr val="ffffff"/>
                </a:solidFill>
                <a:latin typeface="Calibri"/>
              </a:rPr>
              <a:t>Which components should be prioritised first for mitigation — considering BOM centrality, supplier redundancy, and logistics fragility together?</a:t>
            </a:r>
            <a:endParaRPr b="0" lang="en-US" sz="1000" spc="-1" strike="noStrike">
              <a:solidFill>
                <a:srgbClr val="ffffff"/>
              </a:solidFill>
              <a:latin typeface="Arial"/>
            </a:endParaRPr>
          </a:p>
        </p:txBody>
      </p:sp>
      <p:sp>
        <p:nvSpPr>
          <p:cNvPr id="307" name="Shape 6"/>
          <p:cNvSpPr/>
          <p:nvPr/>
        </p:nvSpPr>
        <p:spPr>
          <a:xfrm>
            <a:off x="255960" y="1207080"/>
            <a:ext cx="5120280" cy="27396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8" name="Text 7"/>
          <p:cNvSpPr/>
          <p:nvPr/>
        </p:nvSpPr>
        <p:spPr>
          <a:xfrm>
            <a:off x="329040" y="1207080"/>
            <a:ext cx="4974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fffff"/>
                </a:solidFill>
                <a:latin typeface="Calibri"/>
              </a:rPr>
              <a:t>Operational Context</a:t>
            </a:r>
            <a:endParaRPr b="0" lang="en-US" sz="1000" spc="-1" strike="noStrike">
              <a:solidFill>
                <a:srgbClr val="ffffff"/>
              </a:solidFill>
              <a:latin typeface="Arial"/>
            </a:endParaRPr>
          </a:p>
        </p:txBody>
      </p:sp>
      <p:sp>
        <p:nvSpPr>
          <p:cNvPr id="309" name="Text 9"/>
          <p:cNvSpPr/>
          <p:nvPr/>
        </p:nvSpPr>
        <p:spPr>
          <a:xfrm>
            <a:off x="347400" y="1536120"/>
            <a:ext cx="4937400" cy="2377080"/>
          </a:xfrm>
          <a:prstGeom prst="rect">
            <a:avLst/>
          </a:prstGeom>
          <a:noFill/>
          <a:ln w="0">
            <a:noFill/>
          </a:ln>
        </p:spPr>
        <p:style>
          <a:lnRef idx="0"/>
          <a:fillRef idx="0"/>
          <a:effectRef idx="0"/>
          <a:fontRef idx="minor"/>
        </p:style>
        <p:txBody>
          <a:bodyPr lIns="0" rIns="0" tIns="0" bIns="0" anchor="t">
            <a:noAutofit/>
          </a:bodyPr>
          <a:p>
            <a:pPr defTabSz="914400">
              <a:lnSpc>
                <a:spcPct val="100000"/>
              </a:lnSpc>
              <a:spcBef>
                <a:spcPts val="1191"/>
              </a:spcBef>
              <a:spcAft>
                <a:spcPts val="992"/>
              </a:spcAft>
              <a:tabLst>
                <a:tab algn="l" pos="0"/>
              </a:tabLst>
            </a:pPr>
            <a:endParaRPr b="0" lang="en-US" sz="1800" spc="-1" strike="noStrike">
              <a:solidFill>
                <a:srgbClr val="ffffff"/>
              </a:solidFill>
              <a:latin typeface="Arial"/>
            </a:endParaRPr>
          </a:p>
        </p:txBody>
      </p:sp>
      <p:sp>
        <p:nvSpPr>
          <p:cNvPr id="310" name="Shape 10"/>
          <p:cNvSpPr/>
          <p:nvPr/>
        </p:nvSpPr>
        <p:spPr>
          <a:xfrm>
            <a:off x="5559480" y="1207080"/>
            <a:ext cx="3328200" cy="27396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1" name="Text 11"/>
          <p:cNvSpPr/>
          <p:nvPr/>
        </p:nvSpPr>
        <p:spPr>
          <a:xfrm>
            <a:off x="5559480" y="1207080"/>
            <a:ext cx="3328200" cy="27396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000" spc="-1" strike="noStrike">
                <a:solidFill>
                  <a:srgbClr val="ffffff"/>
                </a:solidFill>
                <a:latin typeface="Calibri"/>
              </a:rPr>
              <a:t>Key Findings</a:t>
            </a:r>
            <a:endParaRPr b="0" lang="en-US" sz="1000" spc="-1" strike="noStrike">
              <a:solidFill>
                <a:srgbClr val="ffffff"/>
              </a:solidFill>
              <a:latin typeface="Arial"/>
            </a:endParaRPr>
          </a:p>
        </p:txBody>
      </p:sp>
      <p:sp>
        <p:nvSpPr>
          <p:cNvPr id="312" name="Shape 12"/>
          <p:cNvSpPr/>
          <p:nvPr/>
        </p:nvSpPr>
        <p:spPr>
          <a:xfrm>
            <a:off x="5559480" y="1481400"/>
            <a:ext cx="3328200" cy="1956600"/>
          </a:xfrm>
          <a:prstGeom prst="rect">
            <a:avLst/>
          </a:prstGeom>
          <a:solidFill>
            <a:srgbClr val="1a2e44"/>
          </a:solidFill>
          <a:ln w="12700">
            <a:solidFill>
              <a:srgbClr val="1a2e4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3" name="Shape 13"/>
          <p:cNvSpPr/>
          <p:nvPr/>
        </p:nvSpPr>
        <p:spPr>
          <a:xfrm>
            <a:off x="5632560" y="16002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14" name="Text 14"/>
          <p:cNvSpPr/>
          <p:nvPr/>
        </p:nvSpPr>
        <p:spPr>
          <a:xfrm>
            <a:off x="5815440" y="15361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Single-sourced seat sub-components rank highest — maximum BOM reach + zero supplier redundancy</a:t>
            </a:r>
            <a:endParaRPr b="0" lang="en-US" sz="950" spc="-1" strike="noStrike">
              <a:solidFill>
                <a:srgbClr val="ffffff"/>
              </a:solidFill>
              <a:latin typeface="Arial"/>
            </a:endParaRPr>
          </a:p>
        </p:txBody>
      </p:sp>
      <p:sp>
        <p:nvSpPr>
          <p:cNvPr id="315" name="Shape 15"/>
          <p:cNvSpPr/>
          <p:nvPr/>
        </p:nvSpPr>
        <p:spPr>
          <a:xfrm>
            <a:off x="5632560" y="20574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16" name="Text 16"/>
          <p:cNvSpPr/>
          <p:nvPr/>
        </p:nvSpPr>
        <p:spPr>
          <a:xfrm>
            <a:off x="5815440" y="19933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Battery components: moderate BOM reach but 294-unit/week capacity ceiling makes them critical</a:t>
            </a:r>
            <a:endParaRPr b="0" lang="en-US" sz="950" spc="-1" strike="noStrike">
              <a:solidFill>
                <a:srgbClr val="ffffff"/>
              </a:solidFill>
              <a:latin typeface="Arial"/>
            </a:endParaRPr>
          </a:p>
        </p:txBody>
      </p:sp>
      <p:sp>
        <p:nvSpPr>
          <p:cNvPr id="317" name="Shape 17"/>
          <p:cNvSpPr/>
          <p:nvPr/>
        </p:nvSpPr>
        <p:spPr>
          <a:xfrm>
            <a:off x="5632560" y="25146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18" name="Text 18"/>
          <p:cNvSpPr/>
          <p:nvPr/>
        </p:nvSpPr>
        <p:spPr>
          <a:xfrm>
            <a:off x="5815440" y="24505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Gear components: strong BOM presence but multi-sourced reduces priority vs seat</a:t>
            </a:r>
            <a:endParaRPr b="0" lang="en-US" sz="950" spc="-1" strike="noStrike">
              <a:solidFill>
                <a:srgbClr val="ffffff"/>
              </a:solidFill>
              <a:latin typeface="Arial"/>
            </a:endParaRPr>
          </a:p>
        </p:txBody>
      </p:sp>
      <p:sp>
        <p:nvSpPr>
          <p:cNvPr id="319" name="Shape 19"/>
          <p:cNvSpPr/>
          <p:nvPr/>
        </p:nvSpPr>
        <p:spPr>
          <a:xfrm>
            <a:off x="5632560" y="2971800"/>
            <a:ext cx="118440" cy="118440"/>
          </a:xfrm>
          <a:prstGeom prst="ellipse">
            <a:avLst/>
          </a:prstGeom>
          <a:solidFill>
            <a:srgbClr val="6c5ce7"/>
          </a:solidFill>
          <a:ln w="12700">
            <a:solidFill>
              <a:srgbClr val="6c5ce7"/>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20" name="Text 20"/>
          <p:cNvSpPr/>
          <p:nvPr/>
        </p:nvSpPr>
        <p:spPr>
          <a:xfrm>
            <a:off x="5815440" y="2907720"/>
            <a:ext cx="2998800" cy="420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Engine components: broad BOM reach but redundant sourcing keeps risk lower than seat</a:t>
            </a:r>
            <a:endParaRPr b="0" lang="en-US" sz="950" spc="-1" strike="noStrike">
              <a:solidFill>
                <a:srgbClr val="ffffff"/>
              </a:solidFill>
              <a:latin typeface="Arial"/>
            </a:endParaRPr>
          </a:p>
        </p:txBody>
      </p:sp>
      <p:sp>
        <p:nvSpPr>
          <p:cNvPr id="321" name="Shape 21"/>
          <p:cNvSpPr/>
          <p:nvPr/>
        </p:nvSpPr>
        <p:spPr>
          <a:xfrm>
            <a:off x="255960" y="4005000"/>
            <a:ext cx="8631720" cy="237240"/>
          </a:xfrm>
          <a:prstGeom prst="rect">
            <a:avLst/>
          </a:prstGeom>
          <a:solidFill>
            <a:srgbClr val="110e2a"/>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2" name="Text 22"/>
          <p:cNvSpPr/>
          <p:nvPr/>
        </p:nvSpPr>
        <p:spPr>
          <a:xfrm>
            <a:off x="347400" y="4005000"/>
            <a:ext cx="84121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6c5ce7"/>
                </a:solidFill>
                <a:latin typeface="Calibri"/>
              </a:rPr>
              <a:t>Story insight</a:t>
            </a:r>
            <a:endParaRPr b="0" lang="en-US" sz="900" spc="-1" strike="noStrike">
              <a:solidFill>
                <a:srgbClr val="ffffff"/>
              </a:solidFill>
              <a:latin typeface="Arial"/>
            </a:endParaRPr>
          </a:p>
        </p:txBody>
      </p:sp>
      <p:sp>
        <p:nvSpPr>
          <p:cNvPr id="323" name="Shape 23"/>
          <p:cNvSpPr/>
          <p:nvPr/>
        </p:nvSpPr>
        <p:spPr>
          <a:xfrm>
            <a:off x="255960" y="4242960"/>
            <a:ext cx="8631720" cy="658080"/>
          </a:xfrm>
          <a:prstGeom prst="rect">
            <a:avLst/>
          </a:prstGeom>
          <a:solidFill>
            <a:srgbClr val="0d0b1e"/>
          </a:solidFill>
          <a:ln w="12700">
            <a:solidFill>
              <a:srgbClr val="0d0b1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4" name="Text 24"/>
          <p:cNvSpPr/>
          <p:nvPr/>
        </p:nvSpPr>
        <p:spPr>
          <a:xfrm>
            <a:off x="347400" y="4260960"/>
            <a:ext cx="8412120" cy="621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The risk-adjusted view changes the priority order vs raw BOM concentration alone. Seat sub-components remain top priority due to combined single-sourcing + fragile logistics. Battery moves up the priority list disproportionate to its BOM weight because of the 294-unit structural capacity ceiling — a ceiling no planning decision can raise without capital investment.</a:t>
            </a:r>
            <a:endParaRPr b="0" lang="en-US" sz="950" spc="-1" strike="noStrike">
              <a:solidFill>
                <a:srgbClr val="ffffff"/>
              </a:solidFill>
              <a:latin typeface="Arial"/>
            </a:endParaRPr>
          </a:p>
        </p:txBody>
      </p:sp>
      <p:sp>
        <p:nvSpPr>
          <p:cNvPr id="325" name="Text 25"/>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pic>
        <p:nvPicPr>
          <p:cNvPr id="326" name="" descr=""/>
          <p:cNvPicPr/>
          <p:nvPr/>
        </p:nvPicPr>
        <p:blipFill>
          <a:blip r:embed="rId1"/>
          <a:stretch/>
        </p:blipFill>
        <p:spPr>
          <a:xfrm>
            <a:off x="228600" y="1207080"/>
            <a:ext cx="5257800" cy="27838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60e0a"/>
        </a:solidFill>
      </p:bgPr>
    </p:bg>
    <p:spTree>
      <p:nvGrpSpPr>
        <p:cNvPr id="1" name=""/>
        <p:cNvGrpSpPr/>
        <p:nvPr/>
      </p:nvGrpSpPr>
      <p:grpSpPr>
        <a:xfrm>
          <a:off x="0" y="0"/>
          <a:ext cx="0" cy="0"/>
          <a:chOff x="0" y="0"/>
          <a:chExt cx="0" cy="0"/>
        </a:xfrm>
      </p:grpSpPr>
      <p:sp>
        <p:nvSpPr>
          <p:cNvPr id="327" name="Text 0"/>
          <p:cNvSpPr/>
          <p:nvPr/>
        </p:nvSpPr>
        <p:spPr>
          <a:xfrm>
            <a:off x="5943600" y="274320"/>
            <a:ext cx="2925720" cy="41144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18000" spc="-1" strike="noStrike">
                <a:solidFill>
                  <a:srgbClr val="091a10">
                    <a:alpha val="30000"/>
                  </a:srgbClr>
                </a:solidFill>
                <a:latin typeface="Calibri"/>
              </a:rPr>
              <a:t>08</a:t>
            </a:r>
            <a:endParaRPr b="0" lang="en-US" sz="18000" spc="-1" strike="noStrike">
              <a:solidFill>
                <a:srgbClr val="ffffff"/>
              </a:solidFill>
              <a:latin typeface="Arial"/>
            </a:endParaRPr>
          </a:p>
        </p:txBody>
      </p:sp>
      <p:sp>
        <p:nvSpPr>
          <p:cNvPr id="328" name="Shape 1"/>
          <p:cNvSpPr/>
          <p:nvPr/>
        </p:nvSpPr>
        <p:spPr>
          <a:xfrm>
            <a:off x="457200" y="548640"/>
            <a:ext cx="2559960" cy="292320"/>
          </a:xfrm>
          <a:prstGeom prst="rect">
            <a:avLst/>
          </a:prstGeom>
          <a:solidFill>
            <a:srgbClr val="00b894"/>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9" name="Text 2"/>
          <p:cNvSpPr/>
          <p:nvPr/>
        </p:nvSpPr>
        <p:spPr>
          <a:xfrm>
            <a:off x="457200" y="548640"/>
            <a:ext cx="25599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GRAPH DATA SCIENCE</a:t>
            </a:r>
            <a:endParaRPr b="0" lang="en-US" sz="900" spc="-1" strike="noStrike">
              <a:solidFill>
                <a:srgbClr val="ffffff"/>
              </a:solidFill>
              <a:latin typeface="Arial"/>
            </a:endParaRPr>
          </a:p>
        </p:txBody>
      </p:sp>
      <p:sp>
        <p:nvSpPr>
          <p:cNvPr id="330" name="Text 3"/>
          <p:cNvSpPr/>
          <p:nvPr/>
        </p:nvSpPr>
        <p:spPr>
          <a:xfrm>
            <a:off x="457200" y="960120"/>
            <a:ext cx="5486040" cy="731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pc="-1" strike="noStrike">
                <a:solidFill>
                  <a:srgbClr val="ffffff"/>
                </a:solidFill>
                <a:latin typeface="Calibri"/>
              </a:rPr>
              <a:t>GDS Algorithms</a:t>
            </a:r>
            <a:endParaRPr b="0" lang="en-US" sz="3200" spc="-1" strike="noStrike">
              <a:solidFill>
                <a:srgbClr val="ffffff"/>
              </a:solidFill>
              <a:latin typeface="Arial"/>
            </a:endParaRPr>
          </a:p>
        </p:txBody>
      </p:sp>
      <p:sp>
        <p:nvSpPr>
          <p:cNvPr id="331" name="Text 4"/>
          <p:cNvSpPr/>
          <p:nvPr/>
        </p:nvSpPr>
        <p:spPr>
          <a:xfrm>
            <a:off x="457200" y="1737360"/>
            <a:ext cx="5943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00b894"/>
                </a:solidFill>
                <a:latin typeface="Calibri"/>
              </a:rPr>
              <a:t>PageRank centrality + Louvain community detection</a:t>
            </a:r>
            <a:endParaRPr b="0" lang="en-US" sz="1300" spc="-1" strike="noStrike">
              <a:solidFill>
                <a:srgbClr val="ffffff"/>
              </a:solidFill>
              <a:latin typeface="Arial"/>
            </a:endParaRPr>
          </a:p>
        </p:txBody>
      </p:sp>
      <p:sp>
        <p:nvSpPr>
          <p:cNvPr id="332" name="Shape 5"/>
          <p:cNvSpPr/>
          <p:nvPr/>
        </p:nvSpPr>
        <p:spPr>
          <a:xfrm>
            <a:off x="457200" y="2286000"/>
            <a:ext cx="5120280" cy="36360"/>
          </a:xfrm>
          <a:prstGeom prst="rect">
            <a:avLst/>
          </a:prstGeom>
          <a:solidFill>
            <a:srgbClr val="00b894"/>
          </a:solidFill>
          <a:ln w="12700">
            <a:solidFill>
              <a:srgbClr val="00b894"/>
            </a:solidFill>
            <a:round/>
          </a:ln>
        </p:spPr>
        <p:style>
          <a:lnRef idx="0"/>
          <a:fillRef idx="0"/>
          <a:effectRef idx="0"/>
          <a:fontRef idx="minor"/>
        </p:style>
        <p:txBody>
          <a:bodyPr lIns="90000" rIns="90000" tIns="-8280" bIns="-8280" anchor="t">
            <a:noAutofit/>
          </a:bodyPr>
          <a:p>
            <a:endParaRPr b="0" lang="en-US" sz="1800" spc="-1" strike="noStrike">
              <a:solidFill>
                <a:srgbClr val="ffffff"/>
              </a:solidFill>
              <a:latin typeface="Arial"/>
            </a:endParaRPr>
          </a:p>
        </p:txBody>
      </p:sp>
      <p:sp>
        <p:nvSpPr>
          <p:cNvPr id="333" name="Text 6"/>
          <p:cNvSpPr/>
          <p:nvPr/>
        </p:nvSpPr>
        <p:spPr>
          <a:xfrm>
            <a:off x="457200" y="2423160"/>
            <a:ext cx="512028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6ad55"/>
                </a:solidFill>
                <a:latin typeface="Calibri"/>
              </a:rPr>
              <a:t>Why graph algorithms?</a:t>
            </a:r>
            <a:endParaRPr b="0" lang="en-US" sz="1000" spc="-1" strike="noStrike">
              <a:solidFill>
                <a:srgbClr val="ffffff"/>
              </a:solidFill>
              <a:latin typeface="Arial"/>
            </a:endParaRPr>
          </a:p>
        </p:txBody>
      </p:sp>
      <p:sp>
        <p:nvSpPr>
          <p:cNvPr id="334" name="Text 7"/>
          <p:cNvSpPr/>
          <p:nvPr/>
        </p:nvSpPr>
        <p:spPr>
          <a:xfrm>
            <a:off x="457200" y="2724840"/>
            <a:ext cx="5120280" cy="1188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e2e8f0"/>
                </a:solidFill>
                <a:latin typeface="Calibri"/>
              </a:rPr>
              <a:t>Cypher queries answer questions about specific nodes and paths. GDS algorithms score every node simultaneously — surfacing structural importance that no single query can reveal. We project the full network into memory and run two algorithms that have proven value in supply chain risk analysis.</a:t>
            </a:r>
            <a:endParaRPr b="0" lang="en-US" sz="1100" spc="-1" strike="noStrike">
              <a:solidFill>
                <a:srgbClr val="ffffff"/>
              </a:solidFill>
              <a:latin typeface="Arial"/>
            </a:endParaRPr>
          </a:p>
        </p:txBody>
      </p:sp>
      <p:sp>
        <p:nvSpPr>
          <p:cNvPr id="335" name="Text 8"/>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36" name="Shape 0"/>
          <p:cNvSpPr/>
          <p:nvPr/>
        </p:nvSpPr>
        <p:spPr>
          <a:xfrm>
            <a:off x="0" y="0"/>
            <a:ext cx="9143640" cy="658080"/>
          </a:xfrm>
          <a:prstGeom prst="rect">
            <a:avLst/>
          </a:prstGeom>
          <a:solidFill>
            <a:srgbClr val="0a2018"/>
          </a:solidFill>
          <a:ln w="12700">
            <a:solidFill>
              <a:srgbClr val="0a201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7" name="Shape 1"/>
          <p:cNvSpPr/>
          <p:nvPr/>
        </p:nvSpPr>
        <p:spPr>
          <a:xfrm>
            <a:off x="274320" y="137160"/>
            <a:ext cx="1005480" cy="328680"/>
          </a:xfrm>
          <a:prstGeom prst="rect">
            <a:avLst/>
          </a:prstGeom>
          <a:solidFill>
            <a:srgbClr val="00b894"/>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8" name="Text 2"/>
          <p:cNvSpPr/>
          <p:nvPr/>
        </p:nvSpPr>
        <p:spPr>
          <a:xfrm>
            <a:off x="274320" y="137160"/>
            <a:ext cx="10054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GDS 1</a:t>
            </a:r>
            <a:endParaRPr b="0" lang="en-US" sz="900" spc="-1" strike="noStrike">
              <a:solidFill>
                <a:srgbClr val="ffffff"/>
              </a:solidFill>
              <a:latin typeface="Arial"/>
            </a:endParaRPr>
          </a:p>
        </p:txBody>
      </p:sp>
      <p:sp>
        <p:nvSpPr>
          <p:cNvPr id="339" name="Text 3"/>
          <p:cNvSpPr/>
          <p:nvPr/>
        </p:nvSpPr>
        <p:spPr>
          <a:xfrm>
            <a:off x="1417320" y="128160"/>
            <a:ext cx="74977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rPr>
              <a:t>PageRank — Critical Node Identification</a:t>
            </a:r>
            <a:endParaRPr b="0" lang="en-US" sz="1500" spc="-1" strike="noStrike">
              <a:solidFill>
                <a:srgbClr val="ffffff"/>
              </a:solidFill>
              <a:latin typeface="Arial"/>
            </a:endParaRPr>
          </a:p>
        </p:txBody>
      </p:sp>
      <p:sp>
        <p:nvSpPr>
          <p:cNvPr id="340" name="Shape 4"/>
          <p:cNvSpPr/>
          <p:nvPr/>
        </p:nvSpPr>
        <p:spPr>
          <a:xfrm>
            <a:off x="255960" y="768240"/>
            <a:ext cx="5120280" cy="273960"/>
          </a:xfrm>
          <a:prstGeom prst="rect">
            <a:avLst/>
          </a:prstGeom>
          <a:solidFill>
            <a:srgbClr val="00b894"/>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1" name="Text 5"/>
          <p:cNvSpPr/>
          <p:nvPr/>
        </p:nvSpPr>
        <p:spPr>
          <a:xfrm>
            <a:off x="329040" y="768240"/>
            <a:ext cx="4974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fffff"/>
                </a:solidFill>
                <a:latin typeface="Calibri"/>
              </a:rPr>
              <a:t>Algorithm Theory</a:t>
            </a:r>
            <a:endParaRPr b="0" lang="en-US" sz="1000" spc="-1" strike="noStrike">
              <a:solidFill>
                <a:srgbClr val="ffffff"/>
              </a:solidFill>
              <a:latin typeface="Arial"/>
            </a:endParaRPr>
          </a:p>
        </p:txBody>
      </p:sp>
      <p:sp>
        <p:nvSpPr>
          <p:cNvPr id="342" name="Shape 6"/>
          <p:cNvSpPr/>
          <p:nvPr/>
        </p:nvSpPr>
        <p:spPr>
          <a:xfrm>
            <a:off x="255960" y="1042560"/>
            <a:ext cx="5120280" cy="2944080"/>
          </a:xfrm>
          <a:prstGeom prst="rect">
            <a:avLst/>
          </a:prstGeom>
          <a:solidFill>
            <a:srgbClr val="091a10"/>
          </a:solidFill>
          <a:ln w="12700">
            <a:solidFill>
              <a:srgbClr val="091a1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3" name="Text 7"/>
          <p:cNvSpPr/>
          <p:nvPr/>
        </p:nvSpPr>
        <p:spPr>
          <a:xfrm>
            <a:off x="347400" y="1097280"/>
            <a:ext cx="4937400" cy="2834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PageRank is an iterative eigenvector centrality algorithm developed by Page et al. (1999). It measures node influence by iteratively distributing rank from nodes to their neighbours:</a:t>
            </a:r>
            <a:endParaRPr b="0" lang="en-US" sz="950" spc="-1" strike="noStrike">
              <a:solidFill>
                <a:srgbClr val="ffffff"/>
              </a:solidFill>
              <a:latin typeface="Arial"/>
            </a:endParaRPr>
          </a:p>
          <a:p>
            <a:pPr defTabSz="914400">
              <a:lnSpc>
                <a:spcPct val="100000"/>
              </a:lnSpc>
              <a:tabLst>
                <a:tab algn="l" pos="0"/>
              </a:tabLst>
            </a:pPr>
            <a:endParaRPr b="0" lang="en-US" sz="950" spc="-1" strike="noStrike">
              <a:solidFill>
                <a:srgbClr val="ffffff"/>
              </a:solidFill>
              <a:latin typeface="Arial"/>
            </a:endParaRPr>
          </a:p>
          <a:p>
            <a:pPr defTabSz="914400">
              <a:lnSpc>
                <a:spcPct val="100000"/>
              </a:lnSpc>
              <a:tabLst>
                <a:tab algn="l" pos="0"/>
              </a:tabLst>
            </a:pPr>
            <a:r>
              <a:rPr b="0" lang="en-US" sz="950" spc="-1" strike="noStrike">
                <a:solidFill>
                  <a:srgbClr val="e2e8f0"/>
                </a:solidFill>
                <a:latin typeface="Calibri"/>
              </a:rPr>
              <a:t>PR(n) = (1-d)/N + d × Σ(PR(m)/L(m))</a:t>
            </a:r>
            <a:endParaRPr b="0" lang="en-US" sz="950" spc="-1" strike="noStrike">
              <a:solidFill>
                <a:srgbClr val="ffffff"/>
              </a:solidFill>
              <a:latin typeface="Arial"/>
            </a:endParaRPr>
          </a:p>
          <a:p>
            <a:pPr defTabSz="914400">
              <a:lnSpc>
                <a:spcPct val="100000"/>
              </a:lnSpc>
              <a:tabLst>
                <a:tab algn="l" pos="0"/>
              </a:tabLst>
            </a:pPr>
            <a:endParaRPr b="0" lang="en-US" sz="950" spc="-1" strike="noStrike">
              <a:solidFill>
                <a:srgbClr val="ffffff"/>
              </a:solidFill>
              <a:latin typeface="Arial"/>
            </a:endParaRPr>
          </a:p>
          <a:p>
            <a:pPr defTabSz="914400">
              <a:lnSpc>
                <a:spcPct val="100000"/>
              </a:lnSpc>
              <a:tabLst>
                <a:tab algn="l" pos="0"/>
              </a:tabLst>
            </a:pPr>
            <a:r>
              <a:rPr b="0" lang="en-US" sz="950" spc="-1" strike="noStrike">
                <a:solidFill>
                  <a:srgbClr val="e2e8f0"/>
                </a:solidFill>
                <a:latin typeface="Calibri"/>
              </a:rPr>
              <a:t>Where d = 0.85 damping factor, N = total nodes, m = nodes pointing to n, L(m) = outbound degree of m.</a:t>
            </a:r>
            <a:endParaRPr b="0" lang="en-US" sz="950" spc="-1" strike="noStrike">
              <a:solidFill>
                <a:srgbClr val="ffffff"/>
              </a:solidFill>
              <a:latin typeface="Arial"/>
            </a:endParaRPr>
          </a:p>
          <a:p>
            <a:pPr defTabSz="914400">
              <a:lnSpc>
                <a:spcPct val="100000"/>
              </a:lnSpc>
              <a:tabLst>
                <a:tab algn="l" pos="0"/>
              </a:tabLst>
            </a:pPr>
            <a:endParaRPr b="0" lang="en-US" sz="950" spc="-1" strike="noStrike">
              <a:solidFill>
                <a:srgbClr val="ffffff"/>
              </a:solidFill>
              <a:latin typeface="Arial"/>
            </a:endParaRPr>
          </a:p>
          <a:p>
            <a:pPr defTabSz="914400">
              <a:lnSpc>
                <a:spcPct val="100000"/>
              </a:lnSpc>
              <a:tabLst>
                <a:tab algn="l" pos="0"/>
              </a:tabLst>
            </a:pPr>
            <a:r>
              <a:rPr b="0" lang="en-US" sz="950" spc="-1" strike="noStrike">
                <a:solidFill>
                  <a:srgbClr val="e2e8f0"/>
                </a:solidFill>
                <a:latin typeface="Calibri"/>
              </a:rPr>
              <a:t>In supply chain context: a facility that receives flow from many high-influence suppliers accumulates high PageRank — meaning its failure would cascade broadly. We run 50 iterations on the full projected network.</a:t>
            </a:r>
            <a:endParaRPr b="0" lang="en-US" sz="950" spc="-1" strike="noStrike">
              <a:solidFill>
                <a:srgbClr val="ffffff"/>
              </a:solidFill>
              <a:latin typeface="Arial"/>
            </a:endParaRPr>
          </a:p>
        </p:txBody>
      </p:sp>
      <p:sp>
        <p:nvSpPr>
          <p:cNvPr id="344" name="Shape 8"/>
          <p:cNvSpPr/>
          <p:nvPr/>
        </p:nvSpPr>
        <p:spPr>
          <a:xfrm>
            <a:off x="5559480" y="768240"/>
            <a:ext cx="3328200" cy="273960"/>
          </a:xfrm>
          <a:prstGeom prst="rect">
            <a:avLst/>
          </a:prstGeom>
          <a:solidFill>
            <a:srgbClr val="00b894"/>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Text 9"/>
          <p:cNvSpPr/>
          <p:nvPr/>
        </p:nvSpPr>
        <p:spPr>
          <a:xfrm>
            <a:off x="5559480" y="768240"/>
            <a:ext cx="3328200" cy="27396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000" spc="-1" strike="noStrike">
                <a:solidFill>
                  <a:srgbClr val="ffffff"/>
                </a:solidFill>
                <a:latin typeface="Calibri"/>
              </a:rPr>
              <a:t>Key Results</a:t>
            </a:r>
            <a:endParaRPr b="0" lang="en-US" sz="1000" spc="-1" strike="noStrike">
              <a:solidFill>
                <a:srgbClr val="ffffff"/>
              </a:solidFill>
              <a:latin typeface="Arial"/>
            </a:endParaRPr>
          </a:p>
        </p:txBody>
      </p:sp>
      <p:sp>
        <p:nvSpPr>
          <p:cNvPr id="346" name="Shape 10"/>
          <p:cNvSpPr/>
          <p:nvPr/>
        </p:nvSpPr>
        <p:spPr>
          <a:xfrm>
            <a:off x="5559480" y="1042560"/>
            <a:ext cx="3328200" cy="2944080"/>
          </a:xfrm>
          <a:prstGeom prst="rect">
            <a:avLst/>
          </a:prstGeom>
          <a:solidFill>
            <a:srgbClr val="091a10"/>
          </a:solidFill>
          <a:ln w="12700">
            <a:solidFill>
              <a:srgbClr val="091a1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7" name="Shape 11"/>
          <p:cNvSpPr/>
          <p:nvPr/>
        </p:nvSpPr>
        <p:spPr>
          <a:xfrm>
            <a:off x="5632560" y="1170360"/>
            <a:ext cx="118440" cy="118440"/>
          </a:xfrm>
          <a:prstGeom prst="ellipse">
            <a:avLst/>
          </a:prstGeom>
          <a:solidFill>
            <a:srgbClr val="00b894"/>
          </a:solidFill>
          <a:ln w="12700">
            <a:solidFill>
              <a:srgbClr val="00b894"/>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48" name="Text 12"/>
          <p:cNvSpPr/>
          <p:nvPr/>
        </p:nvSpPr>
        <p:spPr>
          <a:xfrm>
            <a:off x="5815440" y="1097280"/>
            <a:ext cx="2998800" cy="475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engine-supplier_inv and gear-supplier_inv: highest-scoring facilities — critical Tier-1 consolidation points</a:t>
            </a:r>
            <a:endParaRPr b="0" lang="en-US" sz="950" spc="-1" strike="noStrike">
              <a:solidFill>
                <a:srgbClr val="ffffff"/>
              </a:solidFill>
              <a:latin typeface="Arial"/>
            </a:endParaRPr>
          </a:p>
        </p:txBody>
      </p:sp>
      <p:sp>
        <p:nvSpPr>
          <p:cNvPr id="349" name="Shape 13"/>
          <p:cNvSpPr/>
          <p:nvPr/>
        </p:nvSpPr>
        <p:spPr>
          <a:xfrm>
            <a:off x="5632560" y="1700640"/>
            <a:ext cx="118440" cy="118440"/>
          </a:xfrm>
          <a:prstGeom prst="ellipse">
            <a:avLst/>
          </a:prstGeom>
          <a:solidFill>
            <a:srgbClr val="00b894"/>
          </a:solidFill>
          <a:ln w="12700">
            <a:solidFill>
              <a:srgbClr val="00b894"/>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50" name="Text 14"/>
          <p:cNvSpPr/>
          <p:nvPr/>
        </p:nvSpPr>
        <p:spPr>
          <a:xfrm>
            <a:off x="5815440" y="1627560"/>
            <a:ext cx="2998800" cy="475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ZP7 and ZP8 (OEM plants): elevated scores — all component flows converge here before reaching customers</a:t>
            </a:r>
            <a:endParaRPr b="0" lang="en-US" sz="950" spc="-1" strike="noStrike">
              <a:solidFill>
                <a:srgbClr val="ffffff"/>
              </a:solidFill>
              <a:latin typeface="Arial"/>
            </a:endParaRPr>
          </a:p>
        </p:txBody>
      </p:sp>
      <p:sp>
        <p:nvSpPr>
          <p:cNvPr id="351" name="Shape 15"/>
          <p:cNvSpPr/>
          <p:nvPr/>
        </p:nvSpPr>
        <p:spPr>
          <a:xfrm>
            <a:off x="5632560" y="2231280"/>
            <a:ext cx="118440" cy="118440"/>
          </a:xfrm>
          <a:prstGeom prst="ellipse">
            <a:avLst/>
          </a:prstGeom>
          <a:solidFill>
            <a:srgbClr val="00b894"/>
          </a:solidFill>
          <a:ln w="12700">
            <a:solidFill>
              <a:srgbClr val="00b894"/>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52" name="Text 16"/>
          <p:cNvSpPr/>
          <p:nvPr/>
        </p:nvSpPr>
        <p:spPr>
          <a:xfrm>
            <a:off x="5815440" y="2157840"/>
            <a:ext cx="2998800" cy="475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Tier-2 production facilities: lower scores — upstream but one hop removed from convergence</a:t>
            </a:r>
            <a:endParaRPr b="0" lang="en-US" sz="950" spc="-1" strike="noStrike">
              <a:solidFill>
                <a:srgbClr val="ffffff"/>
              </a:solidFill>
              <a:latin typeface="Arial"/>
            </a:endParaRPr>
          </a:p>
        </p:txBody>
      </p:sp>
      <p:sp>
        <p:nvSpPr>
          <p:cNvPr id="353" name="Shape 17"/>
          <p:cNvSpPr/>
          <p:nvPr/>
        </p:nvSpPr>
        <p:spPr>
          <a:xfrm>
            <a:off x="5632560" y="2761560"/>
            <a:ext cx="118440" cy="118440"/>
          </a:xfrm>
          <a:prstGeom prst="ellipse">
            <a:avLst/>
          </a:prstGeom>
          <a:solidFill>
            <a:srgbClr val="00b894"/>
          </a:solidFill>
          <a:ln w="12700">
            <a:solidFill>
              <a:srgbClr val="00b894"/>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54" name="Text 18"/>
          <p:cNvSpPr/>
          <p:nvPr/>
        </p:nvSpPr>
        <p:spPr>
          <a:xfrm>
            <a:off x="5815440" y="2688480"/>
            <a:ext cx="2998800" cy="475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Transit nodes: lowest scores — pass-through, not consolidation points</a:t>
            </a:r>
            <a:endParaRPr b="0" lang="en-US" sz="950" spc="-1" strike="noStrike">
              <a:solidFill>
                <a:srgbClr val="ffffff"/>
              </a:solidFill>
              <a:latin typeface="Arial"/>
            </a:endParaRPr>
          </a:p>
        </p:txBody>
      </p:sp>
      <p:sp>
        <p:nvSpPr>
          <p:cNvPr id="355" name="Shape 19"/>
          <p:cNvSpPr/>
          <p:nvPr/>
        </p:nvSpPr>
        <p:spPr>
          <a:xfrm>
            <a:off x="255960" y="4041720"/>
            <a:ext cx="8631720" cy="237240"/>
          </a:xfrm>
          <a:prstGeom prst="rect">
            <a:avLst/>
          </a:prstGeom>
          <a:solidFill>
            <a:srgbClr val="091a10"/>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6" name="Text 20"/>
          <p:cNvSpPr/>
          <p:nvPr/>
        </p:nvSpPr>
        <p:spPr>
          <a:xfrm>
            <a:off x="347400" y="4041720"/>
            <a:ext cx="84121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00b894"/>
                </a:solidFill>
                <a:latin typeface="Calibri"/>
              </a:rPr>
              <a:t>Story insight</a:t>
            </a:r>
            <a:endParaRPr b="0" lang="en-US" sz="900" spc="-1" strike="noStrike">
              <a:solidFill>
                <a:srgbClr val="ffffff"/>
              </a:solidFill>
              <a:latin typeface="Arial"/>
            </a:endParaRPr>
          </a:p>
        </p:txBody>
      </p:sp>
      <p:sp>
        <p:nvSpPr>
          <p:cNvPr id="357" name="Shape 21"/>
          <p:cNvSpPr/>
          <p:nvPr/>
        </p:nvSpPr>
        <p:spPr>
          <a:xfrm>
            <a:off x="255960" y="4279320"/>
            <a:ext cx="8631720" cy="621360"/>
          </a:xfrm>
          <a:prstGeom prst="rect">
            <a:avLst/>
          </a:prstGeom>
          <a:solidFill>
            <a:srgbClr val="060e0a"/>
          </a:solidFill>
          <a:ln w="12700">
            <a:solidFill>
              <a:srgbClr val="060e0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8" name="Text 22"/>
          <p:cNvSpPr/>
          <p:nvPr/>
        </p:nvSpPr>
        <p:spPr>
          <a:xfrm>
            <a:off x="347400" y="4297680"/>
            <a:ext cx="8412120" cy="585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PageRank formally quantifies what EDA 5–9 suggested qualitatively. The Tier-1 inventory facilities — engine-supplier_inv and gear-supplier_inv — are the highest-influence nodes in the network. A disruption there cascades to every downstream path. This confirms they are the correct targets for buffer investment and redundancy planning.</a:t>
            </a:r>
            <a:endParaRPr b="0" lang="en-US" sz="950" spc="-1" strike="noStrike">
              <a:solidFill>
                <a:srgbClr val="ffffff"/>
              </a:solidFill>
              <a:latin typeface="Arial"/>
            </a:endParaRPr>
          </a:p>
        </p:txBody>
      </p:sp>
      <p:sp>
        <p:nvSpPr>
          <p:cNvPr id="359" name="Text 23"/>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2a"/>
        </a:solidFill>
      </p:bgPr>
    </p:bg>
    <p:spTree>
      <p:nvGrpSpPr>
        <p:cNvPr id="1" name=""/>
        <p:cNvGrpSpPr/>
        <p:nvPr/>
      </p:nvGrpSpPr>
      <p:grpSpPr>
        <a:xfrm>
          <a:off x="0" y="0"/>
          <a:ext cx="0" cy="0"/>
          <a:chOff x="0" y="0"/>
          <a:chExt cx="0" cy="0"/>
        </a:xfrm>
      </p:grpSpPr>
      <p:sp>
        <p:nvSpPr>
          <p:cNvPr id="360" name="Shape 0"/>
          <p:cNvSpPr/>
          <p:nvPr/>
        </p:nvSpPr>
        <p:spPr>
          <a:xfrm>
            <a:off x="0" y="0"/>
            <a:ext cx="9143640" cy="658080"/>
          </a:xfrm>
          <a:prstGeom prst="rect">
            <a:avLst/>
          </a:prstGeom>
          <a:solidFill>
            <a:srgbClr val="0a2018"/>
          </a:solidFill>
          <a:ln w="12700">
            <a:solidFill>
              <a:srgbClr val="0a201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1" name="Shape 1"/>
          <p:cNvSpPr/>
          <p:nvPr/>
        </p:nvSpPr>
        <p:spPr>
          <a:xfrm>
            <a:off x="274320" y="137160"/>
            <a:ext cx="1005480" cy="328680"/>
          </a:xfrm>
          <a:prstGeom prst="rect">
            <a:avLst/>
          </a:prstGeom>
          <a:solidFill>
            <a:srgbClr val="00b894"/>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2" name="Text 2"/>
          <p:cNvSpPr/>
          <p:nvPr/>
        </p:nvSpPr>
        <p:spPr>
          <a:xfrm>
            <a:off x="274320" y="137160"/>
            <a:ext cx="10054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GDS 2</a:t>
            </a:r>
            <a:endParaRPr b="0" lang="en-US" sz="900" spc="-1" strike="noStrike">
              <a:solidFill>
                <a:srgbClr val="ffffff"/>
              </a:solidFill>
              <a:latin typeface="Arial"/>
            </a:endParaRPr>
          </a:p>
        </p:txBody>
      </p:sp>
      <p:sp>
        <p:nvSpPr>
          <p:cNvPr id="363" name="Text 3"/>
          <p:cNvSpPr/>
          <p:nvPr/>
        </p:nvSpPr>
        <p:spPr>
          <a:xfrm>
            <a:off x="1417320" y="128160"/>
            <a:ext cx="749772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ffffff"/>
                </a:solidFill>
                <a:latin typeface="Calibri"/>
              </a:rPr>
              <a:t>Louvain Community Detection — Supply Chain Clusters</a:t>
            </a:r>
            <a:endParaRPr b="0" lang="en-US" sz="1500" spc="-1" strike="noStrike">
              <a:solidFill>
                <a:srgbClr val="ffffff"/>
              </a:solidFill>
              <a:latin typeface="Arial"/>
            </a:endParaRPr>
          </a:p>
        </p:txBody>
      </p:sp>
      <p:sp>
        <p:nvSpPr>
          <p:cNvPr id="364" name="Shape 4"/>
          <p:cNvSpPr/>
          <p:nvPr/>
        </p:nvSpPr>
        <p:spPr>
          <a:xfrm>
            <a:off x="255960" y="768240"/>
            <a:ext cx="5120280" cy="273960"/>
          </a:xfrm>
          <a:prstGeom prst="rect">
            <a:avLst/>
          </a:prstGeom>
          <a:solidFill>
            <a:srgbClr val="00b894"/>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5" name="Text 5"/>
          <p:cNvSpPr/>
          <p:nvPr/>
        </p:nvSpPr>
        <p:spPr>
          <a:xfrm>
            <a:off x="329040" y="768240"/>
            <a:ext cx="497412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pc="-1" strike="noStrike">
                <a:solidFill>
                  <a:srgbClr val="ffffff"/>
                </a:solidFill>
                <a:latin typeface="Calibri"/>
              </a:rPr>
              <a:t>Algorithm Theory</a:t>
            </a:r>
            <a:endParaRPr b="0" lang="en-US" sz="1000" spc="-1" strike="noStrike">
              <a:solidFill>
                <a:srgbClr val="ffffff"/>
              </a:solidFill>
              <a:latin typeface="Arial"/>
            </a:endParaRPr>
          </a:p>
        </p:txBody>
      </p:sp>
      <p:sp>
        <p:nvSpPr>
          <p:cNvPr id="366" name="Shape 6"/>
          <p:cNvSpPr/>
          <p:nvPr/>
        </p:nvSpPr>
        <p:spPr>
          <a:xfrm>
            <a:off x="255960" y="1042560"/>
            <a:ext cx="5120280" cy="2944080"/>
          </a:xfrm>
          <a:prstGeom prst="rect">
            <a:avLst/>
          </a:prstGeom>
          <a:solidFill>
            <a:srgbClr val="091a10"/>
          </a:solidFill>
          <a:ln w="12700">
            <a:solidFill>
              <a:srgbClr val="091a1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7" name="Text 7"/>
          <p:cNvSpPr/>
          <p:nvPr/>
        </p:nvSpPr>
        <p:spPr>
          <a:xfrm>
            <a:off x="347400" y="1097280"/>
            <a:ext cx="4937400" cy="2834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Louvain is a hierarchical modularity optimisation algorithm by Blondel et al. (2008). It maximises the modularity function:</a:t>
            </a:r>
            <a:endParaRPr b="0" lang="en-US" sz="950" spc="-1" strike="noStrike">
              <a:solidFill>
                <a:srgbClr val="ffffff"/>
              </a:solidFill>
              <a:latin typeface="Arial"/>
            </a:endParaRPr>
          </a:p>
          <a:p>
            <a:pPr defTabSz="914400">
              <a:lnSpc>
                <a:spcPct val="100000"/>
              </a:lnSpc>
              <a:tabLst>
                <a:tab algn="l" pos="0"/>
              </a:tabLst>
            </a:pPr>
            <a:endParaRPr b="0" lang="en-US" sz="950" spc="-1" strike="noStrike">
              <a:solidFill>
                <a:srgbClr val="ffffff"/>
              </a:solidFill>
              <a:latin typeface="Arial"/>
            </a:endParaRPr>
          </a:p>
          <a:p>
            <a:pPr defTabSz="914400">
              <a:lnSpc>
                <a:spcPct val="100000"/>
              </a:lnSpc>
              <a:tabLst>
                <a:tab algn="l" pos="0"/>
              </a:tabLst>
            </a:pPr>
            <a:r>
              <a:rPr b="0" lang="en-US" sz="950" spc="-1" strike="noStrike">
                <a:solidFill>
                  <a:srgbClr val="e2e8f0"/>
                </a:solidFill>
                <a:latin typeface="Calibri"/>
              </a:rPr>
              <a:t>Q = (1/2m) × Σ[Aᵢⱼ − (kᵢkⱼ/2m)] × δ(cᵢ, cⱼ)</a:t>
            </a:r>
            <a:endParaRPr b="0" lang="en-US" sz="950" spc="-1" strike="noStrike">
              <a:solidFill>
                <a:srgbClr val="ffffff"/>
              </a:solidFill>
              <a:latin typeface="Arial"/>
            </a:endParaRPr>
          </a:p>
          <a:p>
            <a:pPr defTabSz="914400">
              <a:lnSpc>
                <a:spcPct val="100000"/>
              </a:lnSpc>
              <a:tabLst>
                <a:tab algn="l" pos="0"/>
              </a:tabLst>
            </a:pPr>
            <a:endParaRPr b="0" lang="en-US" sz="950" spc="-1" strike="noStrike">
              <a:solidFill>
                <a:srgbClr val="ffffff"/>
              </a:solidFill>
              <a:latin typeface="Arial"/>
            </a:endParaRPr>
          </a:p>
          <a:p>
            <a:pPr defTabSz="914400">
              <a:lnSpc>
                <a:spcPct val="100000"/>
              </a:lnSpc>
              <a:tabLst>
                <a:tab algn="l" pos="0"/>
              </a:tabLst>
            </a:pPr>
            <a:r>
              <a:rPr b="0" lang="en-US" sz="950" spc="-1" strike="noStrike">
                <a:solidFill>
                  <a:srgbClr val="e2e8f0"/>
                </a:solidFill>
                <a:latin typeface="Calibri"/>
              </a:rPr>
              <a:t>Where m = total edges, Aᵢⱼ = adjacency matrix, kᵢ/kⱼ = node degrees, δ = 1 if same community.</a:t>
            </a:r>
            <a:endParaRPr b="0" lang="en-US" sz="950" spc="-1" strike="noStrike">
              <a:solidFill>
                <a:srgbClr val="ffffff"/>
              </a:solidFill>
              <a:latin typeface="Arial"/>
            </a:endParaRPr>
          </a:p>
          <a:p>
            <a:pPr defTabSz="914400">
              <a:lnSpc>
                <a:spcPct val="100000"/>
              </a:lnSpc>
              <a:tabLst>
                <a:tab algn="l" pos="0"/>
              </a:tabLst>
            </a:pPr>
            <a:endParaRPr b="0" lang="en-US" sz="950" spc="-1" strike="noStrike">
              <a:solidFill>
                <a:srgbClr val="ffffff"/>
              </a:solidFill>
              <a:latin typeface="Arial"/>
            </a:endParaRPr>
          </a:p>
          <a:p>
            <a:pPr defTabSz="914400">
              <a:lnSpc>
                <a:spcPct val="100000"/>
              </a:lnSpc>
              <a:tabLst>
                <a:tab algn="l" pos="0"/>
              </a:tabLst>
            </a:pPr>
            <a:r>
              <a:rPr b="0" lang="en-US" sz="950" spc="-1" strike="noStrike">
                <a:solidFill>
                  <a:srgbClr val="e2e8f0"/>
                </a:solidFill>
                <a:latin typeface="Calibri"/>
              </a:rPr>
              <a:t>The algorithm runs in two phases: (1) assign each node to its best neighbour community, (2) aggregate communities into super-nodes and repeat. This produces a hierarchical partition revealing natural clusters in the graph.</a:t>
            </a:r>
            <a:endParaRPr b="0" lang="en-US" sz="950" spc="-1" strike="noStrike">
              <a:solidFill>
                <a:srgbClr val="ffffff"/>
              </a:solidFill>
              <a:latin typeface="Arial"/>
            </a:endParaRPr>
          </a:p>
        </p:txBody>
      </p:sp>
      <p:sp>
        <p:nvSpPr>
          <p:cNvPr id="368" name="Shape 8"/>
          <p:cNvSpPr/>
          <p:nvPr/>
        </p:nvSpPr>
        <p:spPr>
          <a:xfrm>
            <a:off x="5559480" y="768240"/>
            <a:ext cx="3328200" cy="273960"/>
          </a:xfrm>
          <a:prstGeom prst="rect">
            <a:avLst/>
          </a:prstGeom>
          <a:solidFill>
            <a:srgbClr val="00b894"/>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9" name="Text 9"/>
          <p:cNvSpPr/>
          <p:nvPr/>
        </p:nvSpPr>
        <p:spPr>
          <a:xfrm>
            <a:off x="5559480" y="768240"/>
            <a:ext cx="3328200" cy="273960"/>
          </a:xfrm>
          <a:prstGeom prst="rect">
            <a:avLst/>
          </a:prstGeom>
          <a:noFill/>
          <a:ln w="0">
            <a:noFill/>
          </a:ln>
        </p:spPr>
        <p:style>
          <a:lnRef idx="0"/>
          <a:fillRef idx="0"/>
          <a:effectRef idx="0"/>
          <a:fontRef idx="minor"/>
        </p:style>
        <p:txBody>
          <a:bodyPr lIns="0" rIns="0" tIns="101520" bIns="0" anchor="ctr">
            <a:noAutofit/>
          </a:bodyPr>
          <a:p>
            <a:pPr defTabSz="914400">
              <a:lnSpc>
                <a:spcPct val="100000"/>
              </a:lnSpc>
              <a:tabLst>
                <a:tab algn="l" pos="0"/>
              </a:tabLst>
            </a:pPr>
            <a:r>
              <a:rPr b="1" lang="en-US" sz="1000" spc="-1" strike="noStrike">
                <a:solidFill>
                  <a:srgbClr val="ffffff"/>
                </a:solidFill>
                <a:latin typeface="Calibri"/>
              </a:rPr>
              <a:t>Key Results</a:t>
            </a:r>
            <a:endParaRPr b="0" lang="en-US" sz="1000" spc="-1" strike="noStrike">
              <a:solidFill>
                <a:srgbClr val="ffffff"/>
              </a:solidFill>
              <a:latin typeface="Arial"/>
            </a:endParaRPr>
          </a:p>
        </p:txBody>
      </p:sp>
      <p:sp>
        <p:nvSpPr>
          <p:cNvPr id="370" name="Shape 10"/>
          <p:cNvSpPr/>
          <p:nvPr/>
        </p:nvSpPr>
        <p:spPr>
          <a:xfrm>
            <a:off x="5559480" y="1042560"/>
            <a:ext cx="3328200" cy="2944080"/>
          </a:xfrm>
          <a:prstGeom prst="rect">
            <a:avLst/>
          </a:prstGeom>
          <a:solidFill>
            <a:srgbClr val="091a10"/>
          </a:solidFill>
          <a:ln w="12700">
            <a:solidFill>
              <a:srgbClr val="091a1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1" name="Shape 11"/>
          <p:cNvSpPr/>
          <p:nvPr/>
        </p:nvSpPr>
        <p:spPr>
          <a:xfrm>
            <a:off x="5632560" y="1170360"/>
            <a:ext cx="118440" cy="118440"/>
          </a:xfrm>
          <a:prstGeom prst="ellipse">
            <a:avLst/>
          </a:prstGeom>
          <a:solidFill>
            <a:srgbClr val="00b894"/>
          </a:solidFill>
          <a:ln w="12700">
            <a:solidFill>
              <a:srgbClr val="00b894"/>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72" name="Text 12"/>
          <p:cNvSpPr/>
          <p:nvPr/>
        </p:nvSpPr>
        <p:spPr>
          <a:xfrm>
            <a:off x="5815440" y="1097280"/>
            <a:ext cx="2998800" cy="475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Largest communities: major product families — all engine-related products and their dedicated suppliers</a:t>
            </a:r>
            <a:endParaRPr b="0" lang="en-US" sz="950" spc="-1" strike="noStrike">
              <a:solidFill>
                <a:srgbClr val="ffffff"/>
              </a:solidFill>
              <a:latin typeface="Arial"/>
            </a:endParaRPr>
          </a:p>
        </p:txBody>
      </p:sp>
      <p:sp>
        <p:nvSpPr>
          <p:cNvPr id="373" name="Shape 13"/>
          <p:cNvSpPr/>
          <p:nvPr/>
        </p:nvSpPr>
        <p:spPr>
          <a:xfrm>
            <a:off x="5632560" y="1700640"/>
            <a:ext cx="118440" cy="118440"/>
          </a:xfrm>
          <a:prstGeom prst="ellipse">
            <a:avLst/>
          </a:prstGeom>
          <a:solidFill>
            <a:srgbClr val="00b894"/>
          </a:solidFill>
          <a:ln w="12700">
            <a:solidFill>
              <a:srgbClr val="00b894"/>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74" name="Text 14"/>
          <p:cNvSpPr/>
          <p:nvPr/>
        </p:nvSpPr>
        <p:spPr>
          <a:xfrm>
            <a:off x="5815440" y="1627560"/>
            <a:ext cx="2998800" cy="475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Mid-size communities: complete assembly chains — Tier-2 production → Tier-1 inventory → OEM → specific car models</a:t>
            </a:r>
            <a:endParaRPr b="0" lang="en-US" sz="950" spc="-1" strike="noStrike">
              <a:solidFill>
                <a:srgbClr val="ffffff"/>
              </a:solidFill>
              <a:latin typeface="Arial"/>
            </a:endParaRPr>
          </a:p>
        </p:txBody>
      </p:sp>
      <p:sp>
        <p:nvSpPr>
          <p:cNvPr id="375" name="Shape 15"/>
          <p:cNvSpPr/>
          <p:nvPr/>
        </p:nvSpPr>
        <p:spPr>
          <a:xfrm>
            <a:off x="5632560" y="2231280"/>
            <a:ext cx="118440" cy="118440"/>
          </a:xfrm>
          <a:prstGeom prst="ellipse">
            <a:avLst/>
          </a:prstGeom>
          <a:solidFill>
            <a:srgbClr val="00b894"/>
          </a:solidFill>
          <a:ln w="12700">
            <a:solidFill>
              <a:srgbClr val="00b894"/>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76" name="Text 16"/>
          <p:cNvSpPr/>
          <p:nvPr/>
        </p:nvSpPr>
        <p:spPr>
          <a:xfrm>
            <a:off x="5815440" y="2157840"/>
            <a:ext cx="2998800" cy="475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Small communities: specialised component systems — seat assemblies and battery systems with dedicated supplier networks</a:t>
            </a:r>
            <a:endParaRPr b="0" lang="en-US" sz="950" spc="-1" strike="noStrike">
              <a:solidFill>
                <a:srgbClr val="ffffff"/>
              </a:solidFill>
              <a:latin typeface="Arial"/>
            </a:endParaRPr>
          </a:p>
        </p:txBody>
      </p:sp>
      <p:sp>
        <p:nvSpPr>
          <p:cNvPr id="377" name="Shape 17"/>
          <p:cNvSpPr/>
          <p:nvPr/>
        </p:nvSpPr>
        <p:spPr>
          <a:xfrm>
            <a:off x="5632560" y="2761560"/>
            <a:ext cx="118440" cy="118440"/>
          </a:xfrm>
          <a:prstGeom prst="ellipse">
            <a:avLst/>
          </a:prstGeom>
          <a:solidFill>
            <a:srgbClr val="00b894"/>
          </a:solidFill>
          <a:ln w="12700">
            <a:solidFill>
              <a:srgbClr val="00b894"/>
            </a:solidFill>
            <a:round/>
          </a:ln>
        </p:spPr>
        <p:style>
          <a:lnRef idx="0"/>
          <a:fillRef idx="0"/>
          <a:effectRef idx="0"/>
          <a:fontRef idx="minor"/>
        </p:style>
        <p:txBody>
          <a:bodyPr lIns="90000" rIns="90000" tIns="38880" bIns="38880" anchor="t">
            <a:noAutofit/>
          </a:bodyPr>
          <a:p>
            <a:endParaRPr b="0" lang="en-US" sz="1800" spc="-1" strike="noStrike">
              <a:solidFill>
                <a:srgbClr val="ffffff"/>
              </a:solidFill>
              <a:latin typeface="Arial"/>
            </a:endParaRPr>
          </a:p>
        </p:txBody>
      </p:sp>
      <p:sp>
        <p:nvSpPr>
          <p:cNvPr id="378" name="Text 18"/>
          <p:cNvSpPr/>
          <p:nvPr/>
        </p:nvSpPr>
        <p:spPr>
          <a:xfrm>
            <a:off x="5815440" y="2688480"/>
            <a:ext cx="2998800" cy="4752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Seat and battery communities are structurally isolated — disruption contained within community boundaries</a:t>
            </a:r>
            <a:endParaRPr b="0" lang="en-US" sz="950" spc="-1" strike="noStrike">
              <a:solidFill>
                <a:srgbClr val="ffffff"/>
              </a:solidFill>
              <a:latin typeface="Arial"/>
            </a:endParaRPr>
          </a:p>
        </p:txBody>
      </p:sp>
      <p:sp>
        <p:nvSpPr>
          <p:cNvPr id="379" name="Shape 19"/>
          <p:cNvSpPr/>
          <p:nvPr/>
        </p:nvSpPr>
        <p:spPr>
          <a:xfrm>
            <a:off x="255960" y="4041720"/>
            <a:ext cx="8631720" cy="237240"/>
          </a:xfrm>
          <a:prstGeom prst="rect">
            <a:avLst/>
          </a:prstGeom>
          <a:solidFill>
            <a:srgbClr val="091a10"/>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0" name="Text 20"/>
          <p:cNvSpPr/>
          <p:nvPr/>
        </p:nvSpPr>
        <p:spPr>
          <a:xfrm>
            <a:off x="347400" y="4041720"/>
            <a:ext cx="84121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pc="-1" strike="noStrike">
                <a:solidFill>
                  <a:srgbClr val="00b894"/>
                </a:solidFill>
                <a:latin typeface="Calibri"/>
              </a:rPr>
              <a:t>Story insight</a:t>
            </a:r>
            <a:endParaRPr b="0" lang="en-US" sz="900" spc="-1" strike="noStrike">
              <a:solidFill>
                <a:srgbClr val="ffffff"/>
              </a:solidFill>
              <a:latin typeface="Arial"/>
            </a:endParaRPr>
          </a:p>
        </p:txBody>
      </p:sp>
      <p:sp>
        <p:nvSpPr>
          <p:cNvPr id="381" name="Shape 21"/>
          <p:cNvSpPr/>
          <p:nvPr/>
        </p:nvSpPr>
        <p:spPr>
          <a:xfrm>
            <a:off x="255960" y="4279320"/>
            <a:ext cx="8631720" cy="621360"/>
          </a:xfrm>
          <a:prstGeom prst="rect">
            <a:avLst/>
          </a:prstGeom>
          <a:solidFill>
            <a:srgbClr val="060e0a"/>
          </a:solidFill>
          <a:ln w="12700">
            <a:solidFill>
              <a:srgbClr val="060e0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2" name="Text 22"/>
          <p:cNvSpPr/>
          <p:nvPr/>
        </p:nvSpPr>
        <p:spPr>
          <a:xfrm>
            <a:off x="347400" y="4297680"/>
            <a:ext cx="8412120" cy="5850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950" spc="-1" strike="noStrike">
                <a:solidFill>
                  <a:srgbClr val="e2e8f0"/>
                </a:solidFill>
                <a:latin typeface="Calibri"/>
              </a:rPr>
              <a:t>Community detection reveals that the supply network has natural modular structure. The seat and battery systems form distinct communities with limited cross-connections — meaning disruption in those communities does not easily spill over, but the community itself has no internal redundancy. This validates the risk-adjusted priority ranking from AQ3.</a:t>
            </a:r>
            <a:endParaRPr b="0" lang="en-US" sz="950" spc="-1" strike="noStrike">
              <a:solidFill>
                <a:srgbClr val="ffffff"/>
              </a:solidFill>
              <a:latin typeface="Arial"/>
            </a:endParaRPr>
          </a:p>
        </p:txBody>
      </p:sp>
      <p:sp>
        <p:nvSpPr>
          <p:cNvPr id="383" name="Text 23"/>
          <p:cNvSpPr/>
          <p:nvPr/>
        </p:nvSpPr>
        <p:spPr>
          <a:xfrm>
            <a:off x="0" y="4983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pc="-1" strike="noStrike">
                <a:solidFill>
                  <a:srgbClr val="94a3b8"/>
                </a:solidFill>
                <a:latin typeface="Calibri"/>
              </a:rPr>
              <a:t>Dataset: Moetz et al. (2020)  ·  Neo4j GDS  ·  Spring 2026 Capstone</a:t>
            </a:r>
            <a:endParaRPr b="0" lang="en-US" sz="7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384" name="Shape 0"/>
          <p:cNvSpPr/>
          <p:nvPr/>
        </p:nvSpPr>
        <p:spPr>
          <a:xfrm>
            <a:off x="0" y="0"/>
            <a:ext cx="9143640" cy="658080"/>
          </a:xfrm>
          <a:prstGeom prst="rect">
            <a:avLst/>
          </a:prstGeom>
          <a:solidFill>
            <a:srgbClr val="1e3a5f"/>
          </a:solidFill>
          <a:ln w="12700">
            <a:solidFill>
              <a:srgbClr val="1e3a5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5" name="Text 1"/>
          <p:cNvSpPr/>
          <p:nvPr/>
        </p:nvSpPr>
        <p:spPr>
          <a:xfrm>
            <a:off x="274320" y="137160"/>
            <a:ext cx="13712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CONCLUSIONS</a:t>
            </a:r>
            <a:endParaRPr b="0" lang="en-US" sz="900" spc="-1" strike="noStrike">
              <a:solidFill>
                <a:srgbClr val="ffffff"/>
              </a:solidFill>
              <a:latin typeface="Arial"/>
            </a:endParaRPr>
          </a:p>
        </p:txBody>
      </p:sp>
      <p:sp>
        <p:nvSpPr>
          <p:cNvPr id="386" name="Text 2"/>
          <p:cNvSpPr/>
          <p:nvPr/>
        </p:nvSpPr>
        <p:spPr>
          <a:xfrm>
            <a:off x="1783080" y="128160"/>
            <a:ext cx="7131960" cy="383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ffff"/>
                </a:solidFill>
                <a:latin typeface="Calibri"/>
              </a:rPr>
              <a:t>What the Graph Told Us — Complete Picture</a:t>
            </a:r>
            <a:endParaRPr b="0" lang="en-US" sz="1600" spc="-1" strike="noStrike">
              <a:solidFill>
                <a:srgbClr val="ffffff"/>
              </a:solidFill>
              <a:latin typeface="Arial"/>
            </a:endParaRPr>
          </a:p>
        </p:txBody>
      </p:sp>
      <p:sp>
        <p:nvSpPr>
          <p:cNvPr id="387" name="Shape 3"/>
          <p:cNvSpPr/>
          <p:nvPr/>
        </p:nvSpPr>
        <p:spPr>
          <a:xfrm>
            <a:off x="255960" y="786240"/>
            <a:ext cx="4278960" cy="1261440"/>
          </a:xfrm>
          <a:prstGeom prst="rect">
            <a:avLst/>
          </a:prstGeom>
          <a:solidFill>
            <a:srgbClr val="111e30"/>
          </a:solidFill>
          <a:ln w="1016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8" name="Shape 4"/>
          <p:cNvSpPr/>
          <p:nvPr/>
        </p:nvSpPr>
        <p:spPr>
          <a:xfrm>
            <a:off x="255960" y="786240"/>
            <a:ext cx="566640" cy="1261440"/>
          </a:xfrm>
          <a:prstGeom prst="rect">
            <a:avLst/>
          </a:prstGeom>
          <a:solidFill>
            <a:srgbClr val="5b8db8"/>
          </a:solidFill>
          <a:ln w="12700">
            <a:solidFill>
              <a:srgbClr val="5b8db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9" name="Text 5"/>
          <p:cNvSpPr/>
          <p:nvPr/>
        </p:nvSpPr>
        <p:spPr>
          <a:xfrm>
            <a:off x="255960" y="786240"/>
            <a:ext cx="566640" cy="12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Ch.5</a:t>
            </a:r>
            <a:endParaRPr b="0" lang="en-US" sz="900" spc="-1" strike="noStrike">
              <a:solidFill>
                <a:srgbClr val="ffffff"/>
              </a:solidFill>
              <a:latin typeface="Arial"/>
            </a:endParaRPr>
          </a:p>
        </p:txBody>
      </p:sp>
      <p:sp>
        <p:nvSpPr>
          <p:cNvPr id="390" name="Text 6"/>
          <p:cNvSpPr/>
          <p:nvPr/>
        </p:nvSpPr>
        <p:spPr>
          <a:xfrm>
            <a:off x="896040" y="859680"/>
            <a:ext cx="3565800" cy="1115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e2e8f0"/>
                </a:solidFill>
                <a:latin typeface="Calibri"/>
              </a:rPr>
              <a:t>Buffer Zone: Battery route capped at 294 units/week. ZP7 holds most opening stock. Seat and battery pipeline (56,000 + 35,860 units) locked in before week 1 — weeks 1–4 on autopilot.</a:t>
            </a:r>
            <a:endParaRPr b="0" lang="en-US" sz="850" spc="-1" strike="noStrike">
              <a:solidFill>
                <a:srgbClr val="ffffff"/>
              </a:solidFill>
              <a:latin typeface="Arial"/>
            </a:endParaRPr>
          </a:p>
        </p:txBody>
      </p:sp>
      <p:sp>
        <p:nvSpPr>
          <p:cNvPr id="391" name="Shape 7"/>
          <p:cNvSpPr/>
          <p:nvPr/>
        </p:nvSpPr>
        <p:spPr>
          <a:xfrm>
            <a:off x="255960" y="2121480"/>
            <a:ext cx="4278960" cy="1261440"/>
          </a:xfrm>
          <a:prstGeom prst="rect">
            <a:avLst/>
          </a:prstGeom>
          <a:solidFill>
            <a:srgbClr val="111e30"/>
          </a:solidFill>
          <a:ln w="10160">
            <a:solidFill>
              <a:srgbClr val="c0392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2" name="Shape 8"/>
          <p:cNvSpPr/>
          <p:nvPr/>
        </p:nvSpPr>
        <p:spPr>
          <a:xfrm>
            <a:off x="255960" y="2121480"/>
            <a:ext cx="566640" cy="1261440"/>
          </a:xfrm>
          <a:prstGeom prst="rect">
            <a:avLst/>
          </a:prstGeom>
          <a:solidFill>
            <a:srgbClr val="c0392b"/>
          </a:solidFill>
          <a:ln w="12700">
            <a:solidFill>
              <a:srgbClr val="c0392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3" name="Text 9"/>
          <p:cNvSpPr/>
          <p:nvPr/>
        </p:nvSpPr>
        <p:spPr>
          <a:xfrm>
            <a:off x="255960" y="2121480"/>
            <a:ext cx="566640" cy="12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Ch.6</a:t>
            </a:r>
            <a:endParaRPr b="0" lang="en-US" sz="900" spc="-1" strike="noStrike">
              <a:solidFill>
                <a:srgbClr val="ffffff"/>
              </a:solidFill>
              <a:latin typeface="Arial"/>
            </a:endParaRPr>
          </a:p>
        </p:txBody>
      </p:sp>
      <p:sp>
        <p:nvSpPr>
          <p:cNvPr id="394" name="Text 10"/>
          <p:cNvSpPr/>
          <p:nvPr/>
        </p:nvSpPr>
        <p:spPr>
          <a:xfrm>
            <a:off x="896040" y="2194560"/>
            <a:ext cx="3565800" cy="1115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e2e8f0"/>
                </a:solidFill>
                <a:latin typeface="Calibri"/>
              </a:rPr>
              <a:t>Blast Radius: Seat sub-components affect 42.99% of fleet per component. Engine, gear and seat together affect 100% of all 28,000 car SKUs — fleet-wide existential risk.</a:t>
            </a:r>
            <a:endParaRPr b="0" lang="en-US" sz="850" spc="-1" strike="noStrike">
              <a:solidFill>
                <a:srgbClr val="ffffff"/>
              </a:solidFill>
              <a:latin typeface="Arial"/>
            </a:endParaRPr>
          </a:p>
        </p:txBody>
      </p:sp>
      <p:sp>
        <p:nvSpPr>
          <p:cNvPr id="395" name="Shape 11"/>
          <p:cNvSpPr/>
          <p:nvPr/>
        </p:nvSpPr>
        <p:spPr>
          <a:xfrm>
            <a:off x="255960" y="3456360"/>
            <a:ext cx="4278960" cy="1261440"/>
          </a:xfrm>
          <a:prstGeom prst="rect">
            <a:avLst/>
          </a:prstGeom>
          <a:solidFill>
            <a:srgbClr val="111e30"/>
          </a:solidFill>
          <a:ln w="1016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6" name="Shape 12"/>
          <p:cNvSpPr/>
          <p:nvPr/>
        </p:nvSpPr>
        <p:spPr>
          <a:xfrm>
            <a:off x="255960" y="3456360"/>
            <a:ext cx="566640" cy="126144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Text 13"/>
          <p:cNvSpPr/>
          <p:nvPr/>
        </p:nvSpPr>
        <p:spPr>
          <a:xfrm>
            <a:off x="255960" y="3456360"/>
            <a:ext cx="566640" cy="12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AQ1</a:t>
            </a:r>
            <a:endParaRPr b="0" lang="en-US" sz="900" spc="-1" strike="noStrike">
              <a:solidFill>
                <a:srgbClr val="ffffff"/>
              </a:solidFill>
              <a:latin typeface="Arial"/>
            </a:endParaRPr>
          </a:p>
        </p:txBody>
      </p:sp>
      <p:sp>
        <p:nvSpPr>
          <p:cNvPr id="398" name="Text 14"/>
          <p:cNvSpPr/>
          <p:nvPr/>
        </p:nvSpPr>
        <p:spPr>
          <a:xfrm>
            <a:off x="896040" y="3529440"/>
            <a:ext cx="3565800" cy="1115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e2e8f0"/>
                </a:solidFill>
                <a:latin typeface="Calibri"/>
              </a:rPr>
              <a:t>Component Concentration: seat and seat-component family dominates BOM hub rankings. componment_seat2 has 12,039 upstream products and 48,156 dependency paths — the largest hub.</a:t>
            </a:r>
            <a:endParaRPr b="0" lang="en-US" sz="850" spc="-1" strike="noStrike">
              <a:solidFill>
                <a:srgbClr val="ffffff"/>
              </a:solidFill>
              <a:latin typeface="Arial"/>
            </a:endParaRPr>
          </a:p>
        </p:txBody>
      </p:sp>
      <p:sp>
        <p:nvSpPr>
          <p:cNvPr id="399" name="Shape 15"/>
          <p:cNvSpPr/>
          <p:nvPr/>
        </p:nvSpPr>
        <p:spPr>
          <a:xfrm>
            <a:off x="4700160" y="786240"/>
            <a:ext cx="4278960" cy="1261440"/>
          </a:xfrm>
          <a:prstGeom prst="rect">
            <a:avLst/>
          </a:prstGeom>
          <a:solidFill>
            <a:srgbClr val="111e30"/>
          </a:solidFill>
          <a:ln w="1016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0" name="Shape 16"/>
          <p:cNvSpPr/>
          <p:nvPr/>
        </p:nvSpPr>
        <p:spPr>
          <a:xfrm>
            <a:off x="4700160" y="786240"/>
            <a:ext cx="566640" cy="126144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1" name="Text 17"/>
          <p:cNvSpPr/>
          <p:nvPr/>
        </p:nvSpPr>
        <p:spPr>
          <a:xfrm>
            <a:off x="4700160" y="786240"/>
            <a:ext cx="566640" cy="12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AQ2</a:t>
            </a:r>
            <a:endParaRPr b="0" lang="en-US" sz="900" spc="-1" strike="noStrike">
              <a:solidFill>
                <a:srgbClr val="ffffff"/>
              </a:solidFill>
              <a:latin typeface="Arial"/>
            </a:endParaRPr>
          </a:p>
        </p:txBody>
      </p:sp>
      <p:sp>
        <p:nvSpPr>
          <p:cNvPr id="402" name="Text 18"/>
          <p:cNvSpPr/>
          <p:nvPr/>
        </p:nvSpPr>
        <p:spPr>
          <a:xfrm>
            <a:off x="5340240" y="859680"/>
            <a:ext cx="3565800" cy="1115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e2e8f0"/>
                </a:solidFill>
                <a:latin typeface="Calibri"/>
              </a:rPr>
              <a:t>Arc Fragility: seat transit (23-week lead) and battery transit (20-week lead) are the most structurally fragile routes — confirmed by composite fragility score.</a:t>
            </a:r>
            <a:endParaRPr b="0" lang="en-US" sz="850" spc="-1" strike="noStrike">
              <a:solidFill>
                <a:srgbClr val="ffffff"/>
              </a:solidFill>
              <a:latin typeface="Arial"/>
            </a:endParaRPr>
          </a:p>
        </p:txBody>
      </p:sp>
      <p:sp>
        <p:nvSpPr>
          <p:cNvPr id="403" name="Shape 19"/>
          <p:cNvSpPr/>
          <p:nvPr/>
        </p:nvSpPr>
        <p:spPr>
          <a:xfrm>
            <a:off x="4700160" y="2121480"/>
            <a:ext cx="4278960" cy="1261440"/>
          </a:xfrm>
          <a:prstGeom prst="rect">
            <a:avLst/>
          </a:prstGeom>
          <a:solidFill>
            <a:srgbClr val="111e30"/>
          </a:solidFill>
          <a:ln w="1016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4" name="Shape 20"/>
          <p:cNvSpPr/>
          <p:nvPr/>
        </p:nvSpPr>
        <p:spPr>
          <a:xfrm>
            <a:off x="4700160" y="2121480"/>
            <a:ext cx="566640" cy="1261440"/>
          </a:xfrm>
          <a:prstGeom prst="rect">
            <a:avLst/>
          </a:prstGeom>
          <a:solidFill>
            <a:srgbClr val="6c5ce7"/>
          </a:solidFill>
          <a:ln w="12700">
            <a:solidFill>
              <a:srgbClr val="6c5ce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5" name="Text 21"/>
          <p:cNvSpPr/>
          <p:nvPr/>
        </p:nvSpPr>
        <p:spPr>
          <a:xfrm>
            <a:off x="4700160" y="2121480"/>
            <a:ext cx="566640" cy="12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AQ3</a:t>
            </a:r>
            <a:endParaRPr b="0" lang="en-US" sz="900" spc="-1" strike="noStrike">
              <a:solidFill>
                <a:srgbClr val="ffffff"/>
              </a:solidFill>
              <a:latin typeface="Arial"/>
            </a:endParaRPr>
          </a:p>
        </p:txBody>
      </p:sp>
      <p:sp>
        <p:nvSpPr>
          <p:cNvPr id="406" name="Text 22"/>
          <p:cNvSpPr/>
          <p:nvPr/>
        </p:nvSpPr>
        <p:spPr>
          <a:xfrm>
            <a:off x="5340240" y="2194560"/>
            <a:ext cx="3565800" cy="1115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e2e8f0"/>
                </a:solidFill>
                <a:latin typeface="Calibri"/>
              </a:rPr>
              <a:t>Risk Priority: single-sourced seat sub-components + battery's 294-unit ceiling = highest mitigation priority. Supplier redundancy and route capacity must be addressed together.</a:t>
            </a:r>
            <a:endParaRPr b="0" lang="en-US" sz="850" spc="-1" strike="noStrike">
              <a:solidFill>
                <a:srgbClr val="ffffff"/>
              </a:solidFill>
              <a:latin typeface="Arial"/>
            </a:endParaRPr>
          </a:p>
        </p:txBody>
      </p:sp>
      <p:sp>
        <p:nvSpPr>
          <p:cNvPr id="407" name="Shape 23"/>
          <p:cNvSpPr/>
          <p:nvPr/>
        </p:nvSpPr>
        <p:spPr>
          <a:xfrm>
            <a:off x="4700160" y="3456360"/>
            <a:ext cx="4278960" cy="1261440"/>
          </a:xfrm>
          <a:prstGeom prst="rect">
            <a:avLst/>
          </a:prstGeom>
          <a:solidFill>
            <a:srgbClr val="111e30"/>
          </a:solidFill>
          <a:ln w="1016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8" name="Shape 24"/>
          <p:cNvSpPr/>
          <p:nvPr/>
        </p:nvSpPr>
        <p:spPr>
          <a:xfrm>
            <a:off x="4700160" y="3456360"/>
            <a:ext cx="566640" cy="1261440"/>
          </a:xfrm>
          <a:prstGeom prst="rect">
            <a:avLst/>
          </a:prstGeom>
          <a:solidFill>
            <a:srgbClr val="00b894"/>
          </a:solidFill>
          <a:ln w="12700">
            <a:solidFill>
              <a:srgbClr val="00b89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9" name="Text 25"/>
          <p:cNvSpPr/>
          <p:nvPr/>
        </p:nvSpPr>
        <p:spPr>
          <a:xfrm>
            <a:off x="4700160" y="3456360"/>
            <a:ext cx="566640" cy="1261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pc="-1" strike="noStrike">
                <a:solidFill>
                  <a:srgbClr val="ffffff"/>
                </a:solidFill>
                <a:latin typeface="Calibri"/>
              </a:rPr>
              <a:t>GDS</a:t>
            </a:r>
            <a:endParaRPr b="0" lang="en-US" sz="900" spc="-1" strike="noStrike">
              <a:solidFill>
                <a:srgbClr val="ffffff"/>
              </a:solidFill>
              <a:latin typeface="Arial"/>
            </a:endParaRPr>
          </a:p>
        </p:txBody>
      </p:sp>
      <p:sp>
        <p:nvSpPr>
          <p:cNvPr id="410" name="Text 26"/>
          <p:cNvSpPr/>
          <p:nvPr/>
        </p:nvSpPr>
        <p:spPr>
          <a:xfrm>
            <a:off x="5340240" y="3529440"/>
            <a:ext cx="3565800" cy="1115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850" spc="-1" strike="noStrike">
                <a:solidFill>
                  <a:srgbClr val="e2e8f0"/>
                </a:solidFill>
                <a:latin typeface="Calibri"/>
              </a:rPr>
              <a:t>PageRank: engine-supplier_inv and gear-supplier_inv are the highest-influence nodes. Louvain: seat and battery form isolated communities — no internal redundancy, contained but fragile.</a:t>
            </a:r>
            <a:endParaRPr b="0" lang="en-US" sz="850" spc="-1" strike="noStrike">
              <a:solidFill>
                <a:srgbClr val="ffffff"/>
              </a:solidFill>
              <a:latin typeface="Arial"/>
            </a:endParaRPr>
          </a:p>
        </p:txBody>
      </p:sp>
      <p:sp>
        <p:nvSpPr>
          <p:cNvPr id="411" name="Shape 27"/>
          <p:cNvSpPr/>
          <p:nvPr/>
        </p:nvSpPr>
        <p:spPr>
          <a:xfrm>
            <a:off x="255960" y="4773240"/>
            <a:ext cx="8631720" cy="164160"/>
          </a:xfrm>
          <a:prstGeom prst="rect">
            <a:avLst/>
          </a:prstGeom>
          <a:solidFill>
            <a:srgbClr val="0d1b2a"/>
          </a:solidFill>
          <a:ln w="6350">
            <a:solidFill>
              <a:srgbClr val="f6ad5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2" name="Text 28"/>
          <p:cNvSpPr/>
          <p:nvPr/>
        </p:nvSpPr>
        <p:spPr>
          <a:xfrm>
            <a:off x="347400" y="4773240"/>
            <a:ext cx="84121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750" spc="-1" strike="noStrike">
                <a:solidFill>
                  <a:srgbClr val="f6ad55"/>
                </a:solidFill>
                <a:latin typeface="Calibri"/>
              </a:rPr>
              <a:t>Next steps: Real-time disruption simulation · Supplier dual-sourcing modelling · Dynamic buffer optimisation</a:t>
            </a:r>
            <a:endParaRPr b="0" lang="en-US" sz="750" spc="-1" strike="noStrike">
              <a:solidFill>
                <a:srgbClr val="ffffff"/>
              </a:solidFill>
              <a:latin typeface="Arial"/>
            </a:endParaRPr>
          </a:p>
        </p:txBody>
      </p:sp>
      <p:sp>
        <p:nvSpPr>
          <p:cNvPr id="413" name="Text 29"/>
          <p:cNvSpPr/>
          <p:nvPr/>
        </p:nvSpPr>
        <p:spPr>
          <a:xfrm>
            <a:off x="0" y="4974480"/>
            <a:ext cx="91436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pc="-1" strike="noStrike">
                <a:solidFill>
                  <a:srgbClr val="94a3b8"/>
                </a:solidFill>
                <a:latin typeface="Calibri"/>
              </a:rPr>
              <a:t>Dataset: Moetz et al. (2020)  ·  Neo4j GDS  ·  Spring 2026 Capstone</a:t>
            </a:r>
            <a:endParaRPr b="0" lang="en-US" sz="7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2026-04-22T18:37:50Z</dcterms:created>
  <dc:creator>PptxGenJS</dc:creator>
  <dc:description/>
  <dc:language>en-US</dc:language>
  <cp:lastModifiedBy/>
  <dcterms:modified xsi:type="dcterms:W3CDTF">2026-04-22T15:38:04Z</dcterms:modified>
  <cp:revision>3</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