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02542"/>
                </a:solidFill>
              </a:defRPr>
            </a:pPr>
            <a:r>
              <a:t>Automotive Supply Chain Risk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Business presentation: EDA 7–10 and Deeper Analytics 4.1–4.3</a:t>
            </a:r>
            <a:br/>
            <a:r>
              <a:t>Generated 2026-04-22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Executive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Objective: identify practical risk hotspots across logistics, inventory, and component dependencies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EDA 7–10: operational baseline on capacities, opening buffers, in-transit concentration, and dependency spread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Deeper analytics: structural risk ranking at component and lane levels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Business implications: where to prioritize mitigation 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Dataset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Network scale: 12 facilities, 28,049 products, 87,059 BOM (REQUIRES) links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Time scope: demand horizon periods 61–74; opening inventory at period 60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Focus: non-car-centric bottlenecks and structural fragility in core supply corridors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Methods: Neo4j Cypher traversals + risk-priority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EDA 7 — Tightest Capacity Lanes at Horizon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2A63B0"/>
                </a:solidFill>
              </a:defRPr>
            </a:pPr>
            <a:r>
              <a:t>Key finding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Battery lanes are the tightest: capacity 294 on battery-supplier_inv→zp7 and battery-supplier_prod→battery-supplier_inv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Seat/gear/engine supplier-to-hub lanes are uniform at capacity 2100 with short lead times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Finished-goods lane zp7→zp8 is 2000 capacity, strong but slightly below inbound standard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Implication: battery corridor reaches capacity ceiling sooner under sustained flow pressure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EDA 8 — Opening Inventory Concentration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2A63B0"/>
                </a:solidFill>
              </a:defRPr>
            </a:pPr>
            <a:r>
              <a:t>Key finding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Opening stock is concentrated at a few nodes, with zp7 as dominant hub buffer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Seat and engine nodes show large inventory but different spread: concentrated vs distributed holdings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Battery production starts materially lighter than top inventory nodes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Implication: initial shock absorption is uneven; low-diversity holdings increase SKU-level fragility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EDA 9 — Largest Initial In-Transit Corridors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2A63B0"/>
                </a:solidFill>
              </a:defRPr>
            </a:pPr>
            <a:r>
              <a:t>Key finding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Initial flow is heavily concentrated on seat-trans→seat-prod and battery-trans→battery-prod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Gear and engine corridors appear in a smaller, balanced second tier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Battery downstream legs are much smaller than its trans→prod ingress leg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Implication: early pipeline risk is corridor-concentrated, not diffuse across the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EDA 10 — Components with Broadest Car-Portfolio 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2A63B0"/>
                </a:solidFill>
              </a:defRPr>
            </a:pPr>
            <a:r>
              <a:t>Key finding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Top coverage components are seat-related (e.g., componment_seat2, Q4H) with highest portfolio share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Coverage drops materially after top seat and select gear/engine components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Dependency-path counts exceed car counts for top components, signaling repeated embedding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Implication: seat-related components are broad-impact dependencies for resilience focus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Deeper 4.1 — Component Concentration Risk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2A63B0"/>
                </a:solidFill>
              </a:defRPr>
            </a:pPr>
            <a:r>
              <a:t>Business lens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Ranks components by upstream dependency breadth and total dependency paths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Result pattern: concentration is dominated by seat/seat_component hubs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Interpretation: a small subset of components drives disproportionate structural blast radius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Action: prioritize diversification and targeted buffers on top concentration hubs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Deeper 4.2 — Arc Structural Fragility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2A63B0"/>
                </a:solidFill>
              </a:defRPr>
            </a:pPr>
            <a:r>
              <a:t>Business lens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Fragility score combines lead time, min/avg installed capacity, and destination opening inventory buffer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Top fragility lanes observed on long-delay supplier ingress arcs (seat and battery trans→prod)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Battery links remain sensitive due to comparatively low capacity corridors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Action: lane-level contingency planning, capacity reinforcement, and buffer repositioning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Deeper 4.3 — Supply Risk-Adjusted Component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2A63B0"/>
                </a:solidFill>
              </a:defRPr>
            </a:pPr>
            <a:r>
              <a:t>Business lens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Priority score combines dependency concentration + supplier redundancy + supplier-lane fragility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Top risk cluster: seat components, followed by battery components (single-source + high dependency reach)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Secondary cluster: gear components with lower logistics fragility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Data quality alert: components with supplierCount=0 (e.g., Q4H) require producer-linkage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Business Actions (Next 30 Days)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63B0"/>
                </a:solidFill>
              </a:defRPr>
            </a:pPr>
            <a:r>
              <a:t>Mitigation Priorities</a:t>
            </a:r>
          </a:p>
          <a:p>
            <a:pPr>
              <a:defRPr sz="1700"/>
            </a:pPr>
            <a:r>
              <a:t>1) Seat-component cluster dual-sourcing plan</a:t>
            </a:r>
          </a:p>
          <a:p>
            <a:pPr>
              <a:defRPr sz="1700"/>
            </a:pPr>
            <a:r>
              <a:t>2) Battery ingress lane contingency and surge plan</a:t>
            </a:r>
          </a:p>
          <a:p>
            <a:pPr>
              <a:defRPr sz="1700"/>
            </a:pPr>
            <a:r>
              <a:t>3) Targeted safety stock at fragile destination nodes</a:t>
            </a:r>
          </a:p>
          <a:p>
            <a:pPr>
              <a:defRPr sz="1700"/>
            </a:pPr>
            <a:r>
              <a:t>4) Governance cadence for top 10 risk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A63B0"/>
                </a:solidFill>
              </a:defRPr>
            </a:pPr>
            <a:r>
              <a:t>Enablement Priorities</a:t>
            </a:r>
          </a:p>
          <a:p>
            <a:pPr>
              <a:defRPr sz="1700"/>
            </a:pPr>
            <a:r>
              <a:t>1) Resolve producer-linkage gaps (supplierCount=0)</a:t>
            </a:r>
          </a:p>
          <a:p>
            <a:pPr>
              <a:defRPr sz="1700"/>
            </a:pPr>
            <a:r>
              <a:t>2) Standardize weekly risk-score refresh in Neo4j</a:t>
            </a:r>
          </a:p>
          <a:p>
            <a:pPr>
              <a:defRPr sz="1700"/>
            </a:pPr>
            <a:r>
              <a:t>3) Add scenario testing (capacity/lead-time shocks)</a:t>
            </a:r>
          </a:p>
          <a:p>
            <a:pPr>
              <a:defRPr sz="1700"/>
            </a:pPr>
            <a:r>
              <a:t>4) Publish executive risk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2542"/>
                </a:solidFill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Risk is concentrated, not uniform: a few lanes and components dominate systemic exposure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Best ROI comes from focused interventions on top-ranked seat/battery and ingress corridors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Immediate next step: approve mitigation pilots on top 5 component and top 3 arc priorities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