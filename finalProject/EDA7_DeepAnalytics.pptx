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of Car Portfolio</c:v>
                </c:pt>
              </c:strCache>
            </c:strRef>
          </c:tx>
          <c:spPr>
            <a:solidFill>
              <a:srgbClr val="C0392B"/>
            </a:solidFill>
            <a:effectLst/>
          </c:spPr>
          <c:invertIfNegative val="0"/>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C0392B"/>
              </a:solidFill>
              <a:effectLst/>
            </c:spPr>
          </c:dPt>
          <c:dPt>
            <c:idx val="2"/>
            <c:invertIfNegative val="0"/>
            <c:bubble3D val="0"/>
            <c:spPr>
              <a:solidFill>
                <a:srgbClr val="C0392B"/>
              </a:solidFill>
              <a:effectLst/>
            </c:spPr>
          </c:dPt>
          <c:dPt>
            <c:idx val="3"/>
            <c:invertIfNegative val="0"/>
            <c:bubble3D val="0"/>
            <c:spPr>
              <a:solidFill>
                <a:srgbClr val="C0392B"/>
              </a:solidFill>
              <a:effectLst/>
            </c:spPr>
          </c:dPt>
          <c:dPt>
            <c:idx val="4"/>
            <c:invertIfNegative val="0"/>
            <c:bubble3D val="0"/>
            <c:spPr>
              <a:solidFill>
                <a:srgbClr val="E07B39"/>
              </a:solidFill>
              <a:effectLst/>
            </c:spPr>
          </c:dPt>
          <c:dPt>
            <c:idx val="5"/>
            <c:invertIfNegative val="0"/>
            <c:bubble3D val="0"/>
            <c:spPr>
              <a:solidFill>
                <a:srgbClr val="E07B39"/>
              </a:solidFill>
              <a:effectLst/>
            </c:spPr>
          </c:dPt>
          <c:dPt>
            <c:idx val="6"/>
            <c:invertIfNegative val="0"/>
            <c:bubble3D val="0"/>
            <c:spPr>
              <a:solidFill>
                <a:srgbClr val="F97316"/>
              </a:solidFill>
              <a:effectLst/>
            </c:spPr>
          </c:dPt>
          <c:dPt>
            <c:idx val="7"/>
            <c:invertIfNegative val="0"/>
            <c:bubble3D val="0"/>
            <c:spPr>
              <a:solidFill>
                <a:srgbClr val="F97316"/>
              </a:solidFill>
              <a:effectLst/>
            </c:spPr>
          </c:dPt>
          <c:dPt>
            <c:idx val="8"/>
            <c:invertIfNegative val="0"/>
            <c:bubble3D val="0"/>
            <c:spPr>
              <a:solidFill>
                <a:srgbClr val="F6AD55"/>
              </a:solidFill>
              <a:effectLst/>
            </c:spPr>
          </c:dPt>
          <c:dPt>
            <c:idx val="9"/>
            <c:invertIfNegative val="0"/>
            <c:bubble3D val="0"/>
            <c:spPr>
              <a:solidFill>
                <a:srgbClr val="F6AD55"/>
              </a:solidFill>
              <a:effectLst/>
            </c:spPr>
          </c:dPt>
          <c:cat>
            <c:multiLvlStrRef>
              <c:f>Sheet1!$A$2:$A$11</c:f>
              <c:multiLvlStrCache>
                <c:ptCount val="10"/>
                <c:lvl>
                  <c:pt idx="0">
                    <c:v>DN4</c:v>
                  </c:pt>
                  <c:pt idx="1">
                    <c:v>component_seat3</c:v>
                  </c:pt>
                  <c:pt idx="2">
                    <c:v>Q4P</c:v>
                  </c:pt>
                  <c:pt idx="3">
                    <c:v>G1D</c:v>
                  </c:pt>
                  <c:pt idx="4">
                    <c:v>G1C</c:v>
                  </c:pt>
                  <c:pt idx="5">
                    <c:v>G0K</c:v>
                  </c:pt>
                  <c:pt idx="6">
                    <c:v>component_seat1</c:v>
                  </c:pt>
                  <c:pt idx="7">
                    <c:v>Q2J</c:v>
                  </c:pt>
                  <c:pt idx="8">
                    <c:v>Q4H</c:v>
                  </c:pt>
                  <c:pt idx="9">
                    <c:v>component_seat2</c:v>
                  </c:pt>
                </c:lvl>
              </c:multiLvlStrCache>
            </c:multiLvlStrRef>
          </c:cat>
          <c:val>
            <c:numRef>
              <c:f>Sheet1!$B$2:$B$11</c:f>
              <c:numCache>
                <c:formatCode>General</c:formatCode>
                <c:ptCount val="10"/>
                <c:pt idx="0">
                  <c:v>13.25</c:v>
                </c:pt>
                <c:pt idx="1">
                  <c:v>13.65</c:v>
                </c:pt>
                <c:pt idx="2">
                  <c:v>13.65</c:v>
                </c:pt>
                <c:pt idx="3">
                  <c:v>15.04</c:v>
                </c:pt>
                <c:pt idx="4">
                  <c:v>23.8</c:v>
                </c:pt>
                <c:pt idx="5">
                  <c:v>30.69</c:v>
                </c:pt>
                <c:pt idx="6">
                  <c:v>34.74</c:v>
                </c:pt>
                <c:pt idx="7">
                  <c:v>34.74</c:v>
                </c:pt>
                <c:pt idx="8">
                  <c:v>42.99</c:v>
                </c:pt>
                <c:pt idx="9">
                  <c:v>42.99</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1A3A5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F203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548640" y="640080"/>
            <a:ext cx="8046720" cy="548640"/>
          </a:xfrm>
          <a:prstGeom prst="rect">
            <a:avLst/>
          </a:prstGeom>
          <a:noFill/>
          <a:ln/>
        </p:spPr>
        <p:txBody>
          <a:bodyPr wrap="square" rtlCol="0" anchor="ctr"/>
          <a:lstStyle/>
          <a:p>
            <a:pPr indent="0" marL="0">
              <a:buNone/>
            </a:pPr>
            <a:r>
              <a:rPr lang="en-US" sz="2600" b="1" dirty="0">
                <a:solidFill>
                  <a:srgbClr val="FFFFFF"/>
                </a:solidFill>
              </a:rPr>
              <a:t>Automotive Supply Chain</a:t>
            </a:r>
            <a:endParaRPr lang="en-US" sz="2600" dirty="0"/>
          </a:p>
        </p:txBody>
      </p:sp>
      <p:sp>
        <p:nvSpPr>
          <p:cNvPr id="3" name="Text 1"/>
          <p:cNvSpPr/>
          <p:nvPr/>
        </p:nvSpPr>
        <p:spPr>
          <a:xfrm>
            <a:off x="548640" y="1188720"/>
            <a:ext cx="8046720" cy="502920"/>
          </a:xfrm>
          <a:prstGeom prst="rect">
            <a:avLst/>
          </a:prstGeom>
          <a:noFill/>
          <a:ln/>
        </p:spPr>
        <p:txBody>
          <a:bodyPr wrap="square" rtlCol="0" anchor="ctr"/>
          <a:lstStyle/>
          <a:p>
            <a:pPr indent="0" marL="0">
              <a:buNone/>
            </a:pPr>
            <a:r>
              <a:rPr lang="en-US" sz="2200" b="1" dirty="0">
                <a:solidFill>
                  <a:srgbClr val="F6AD55"/>
                </a:solidFill>
              </a:rPr>
              <a:t>Deep Analytics &amp; Graph Data Science</a:t>
            </a:r>
            <a:endParaRPr lang="en-US" sz="2200" dirty="0"/>
          </a:p>
        </p:txBody>
      </p:sp>
      <p:sp>
        <p:nvSpPr>
          <p:cNvPr id="4" name="Text 2"/>
          <p:cNvSpPr/>
          <p:nvPr/>
        </p:nvSpPr>
        <p:spPr>
          <a:xfrm>
            <a:off x="548640" y="1828800"/>
            <a:ext cx="8046720" cy="365760"/>
          </a:xfrm>
          <a:prstGeom prst="rect">
            <a:avLst/>
          </a:prstGeom>
          <a:noFill/>
          <a:ln/>
        </p:spPr>
        <p:txBody>
          <a:bodyPr wrap="square" rtlCol="0" anchor="ctr"/>
          <a:lstStyle/>
          <a:p>
            <a:pPr indent="0" marL="0">
              <a:buNone/>
            </a:pPr>
            <a:r>
              <a:rPr lang="en-US" sz="1100" i="1" dirty="0">
                <a:solidFill>
                  <a:srgbClr val="BEE3F8"/>
                </a:solidFill>
              </a:rPr>
              <a:t>Continuing from EDA 7 — Buffer Zone, Blast Radius, Analytical Questions &amp; GDS Algorithms</a:t>
            </a:r>
            <a:endParaRPr lang="en-US" sz="1100" dirty="0"/>
          </a:p>
        </p:txBody>
      </p:sp>
      <p:sp>
        <p:nvSpPr>
          <p:cNvPr id="5" name="Shape 3"/>
          <p:cNvSpPr/>
          <p:nvPr/>
        </p:nvSpPr>
        <p:spPr>
          <a:xfrm>
            <a:off x="548640" y="2423160"/>
            <a:ext cx="1920240" cy="822960"/>
          </a:xfrm>
          <a:prstGeom prst="rect">
            <a:avLst/>
          </a:prstGeom>
          <a:solidFill>
            <a:srgbClr val="1E3A5F"/>
          </a:solidFill>
          <a:ln w="12700">
            <a:solidFill>
              <a:srgbClr val="1E3A5F"/>
            </a:solidFill>
            <a:prstDash val="solid"/>
          </a:ln>
        </p:spPr>
      </p:sp>
      <p:sp>
        <p:nvSpPr>
          <p:cNvPr id="6" name="Text 4"/>
          <p:cNvSpPr/>
          <p:nvPr/>
        </p:nvSpPr>
        <p:spPr>
          <a:xfrm>
            <a:off x="548640" y="2450592"/>
            <a:ext cx="1920240" cy="384048"/>
          </a:xfrm>
          <a:prstGeom prst="rect">
            <a:avLst/>
          </a:prstGeom>
          <a:noFill/>
          <a:ln/>
        </p:spPr>
        <p:txBody>
          <a:bodyPr wrap="square" rtlCol="0" anchor="ctr"/>
          <a:lstStyle/>
          <a:p>
            <a:pPr algn="ctr" indent="0" marL="0">
              <a:buNone/>
            </a:pPr>
            <a:r>
              <a:rPr lang="en-US" sz="2000" b="1" dirty="0">
                <a:solidFill>
                  <a:srgbClr val="F6AD55"/>
                </a:solidFill>
              </a:rPr>
              <a:t>Ch.5</a:t>
            </a:r>
            <a:endParaRPr lang="en-US" sz="2000" dirty="0"/>
          </a:p>
        </p:txBody>
      </p:sp>
      <p:sp>
        <p:nvSpPr>
          <p:cNvPr id="7" name="Text 5"/>
          <p:cNvSpPr/>
          <p:nvPr/>
        </p:nvSpPr>
        <p:spPr>
          <a:xfrm>
            <a:off x="548640" y="2834640"/>
            <a:ext cx="1920240" cy="274320"/>
          </a:xfrm>
          <a:prstGeom prst="rect">
            <a:avLst/>
          </a:prstGeom>
          <a:noFill/>
          <a:ln/>
        </p:spPr>
        <p:txBody>
          <a:bodyPr wrap="square" rtlCol="0" anchor="ctr"/>
          <a:lstStyle/>
          <a:p>
            <a:pPr algn="ctr" indent="0" marL="0">
              <a:buNone/>
            </a:pPr>
            <a:r>
              <a:rPr lang="en-US" sz="900" dirty="0">
                <a:solidFill>
                  <a:srgbClr val="BEE3F8"/>
                </a:solidFill>
              </a:rPr>
              <a:t>Buffer Zone</a:t>
            </a:r>
            <a:endParaRPr lang="en-US" sz="900" dirty="0"/>
          </a:p>
        </p:txBody>
      </p:sp>
      <p:sp>
        <p:nvSpPr>
          <p:cNvPr id="8" name="Shape 6"/>
          <p:cNvSpPr/>
          <p:nvPr/>
        </p:nvSpPr>
        <p:spPr>
          <a:xfrm>
            <a:off x="2651760" y="2423160"/>
            <a:ext cx="1920240" cy="822960"/>
          </a:xfrm>
          <a:prstGeom prst="rect">
            <a:avLst/>
          </a:prstGeom>
          <a:solidFill>
            <a:srgbClr val="1E3A5F"/>
          </a:solidFill>
          <a:ln w="12700">
            <a:solidFill>
              <a:srgbClr val="1E3A5F"/>
            </a:solidFill>
            <a:prstDash val="solid"/>
          </a:ln>
        </p:spPr>
      </p:sp>
      <p:sp>
        <p:nvSpPr>
          <p:cNvPr id="9" name="Text 7"/>
          <p:cNvSpPr/>
          <p:nvPr/>
        </p:nvSpPr>
        <p:spPr>
          <a:xfrm>
            <a:off x="2651760" y="2450592"/>
            <a:ext cx="1920240" cy="384048"/>
          </a:xfrm>
          <a:prstGeom prst="rect">
            <a:avLst/>
          </a:prstGeom>
          <a:noFill/>
          <a:ln/>
        </p:spPr>
        <p:txBody>
          <a:bodyPr wrap="square" rtlCol="0" anchor="ctr"/>
          <a:lstStyle/>
          <a:p>
            <a:pPr algn="ctr" indent="0" marL="0">
              <a:buNone/>
            </a:pPr>
            <a:r>
              <a:rPr lang="en-US" sz="2000" b="1" dirty="0">
                <a:solidFill>
                  <a:srgbClr val="F6AD55"/>
                </a:solidFill>
              </a:rPr>
              <a:t>Ch.6</a:t>
            </a:r>
            <a:endParaRPr lang="en-US" sz="2000" dirty="0"/>
          </a:p>
        </p:txBody>
      </p:sp>
      <p:sp>
        <p:nvSpPr>
          <p:cNvPr id="10" name="Text 8"/>
          <p:cNvSpPr/>
          <p:nvPr/>
        </p:nvSpPr>
        <p:spPr>
          <a:xfrm>
            <a:off x="2651760" y="2834640"/>
            <a:ext cx="1920240" cy="274320"/>
          </a:xfrm>
          <a:prstGeom prst="rect">
            <a:avLst/>
          </a:prstGeom>
          <a:noFill/>
          <a:ln/>
        </p:spPr>
        <p:txBody>
          <a:bodyPr wrap="square" rtlCol="0" anchor="ctr"/>
          <a:lstStyle/>
          <a:p>
            <a:pPr algn="ctr" indent="0" marL="0">
              <a:buNone/>
            </a:pPr>
            <a:r>
              <a:rPr lang="en-US" sz="900" dirty="0">
                <a:solidFill>
                  <a:srgbClr val="BEE3F8"/>
                </a:solidFill>
              </a:rPr>
              <a:t>Blast Radius</a:t>
            </a:r>
            <a:endParaRPr lang="en-US" sz="900" dirty="0"/>
          </a:p>
        </p:txBody>
      </p:sp>
      <p:sp>
        <p:nvSpPr>
          <p:cNvPr id="11" name="Shape 9"/>
          <p:cNvSpPr/>
          <p:nvPr/>
        </p:nvSpPr>
        <p:spPr>
          <a:xfrm>
            <a:off x="4754880" y="2423160"/>
            <a:ext cx="1920240" cy="822960"/>
          </a:xfrm>
          <a:prstGeom prst="rect">
            <a:avLst/>
          </a:prstGeom>
          <a:solidFill>
            <a:srgbClr val="1E3A5F"/>
          </a:solidFill>
          <a:ln w="12700">
            <a:solidFill>
              <a:srgbClr val="1E3A5F"/>
            </a:solidFill>
            <a:prstDash val="solid"/>
          </a:ln>
        </p:spPr>
      </p:sp>
      <p:sp>
        <p:nvSpPr>
          <p:cNvPr id="12" name="Text 10"/>
          <p:cNvSpPr/>
          <p:nvPr/>
        </p:nvSpPr>
        <p:spPr>
          <a:xfrm>
            <a:off x="4754880" y="2450592"/>
            <a:ext cx="1920240" cy="384048"/>
          </a:xfrm>
          <a:prstGeom prst="rect">
            <a:avLst/>
          </a:prstGeom>
          <a:noFill/>
          <a:ln/>
        </p:spPr>
        <p:txBody>
          <a:bodyPr wrap="square" rtlCol="0" anchor="ctr"/>
          <a:lstStyle/>
          <a:p>
            <a:pPr algn="ctr" indent="0" marL="0">
              <a:buNone/>
            </a:pPr>
            <a:r>
              <a:rPr lang="en-US" sz="2000" b="1" dirty="0">
                <a:solidFill>
                  <a:srgbClr val="F6AD55"/>
                </a:solidFill>
              </a:rPr>
              <a:t>3 AQs</a:t>
            </a:r>
            <a:endParaRPr lang="en-US" sz="2000" dirty="0"/>
          </a:p>
        </p:txBody>
      </p:sp>
      <p:sp>
        <p:nvSpPr>
          <p:cNvPr id="13" name="Text 11"/>
          <p:cNvSpPr/>
          <p:nvPr/>
        </p:nvSpPr>
        <p:spPr>
          <a:xfrm>
            <a:off x="4754880" y="2834640"/>
            <a:ext cx="1920240" cy="274320"/>
          </a:xfrm>
          <a:prstGeom prst="rect">
            <a:avLst/>
          </a:prstGeom>
          <a:noFill/>
          <a:ln/>
        </p:spPr>
        <p:txBody>
          <a:bodyPr wrap="square" rtlCol="0" anchor="ctr"/>
          <a:lstStyle/>
          <a:p>
            <a:pPr algn="ctr" indent="0" marL="0">
              <a:buNone/>
            </a:pPr>
            <a:r>
              <a:rPr lang="en-US" sz="900" dirty="0">
                <a:solidFill>
                  <a:srgbClr val="BEE3F8"/>
                </a:solidFill>
              </a:rPr>
              <a:t>Analytical Qs</a:t>
            </a:r>
            <a:endParaRPr lang="en-US" sz="900" dirty="0"/>
          </a:p>
        </p:txBody>
      </p:sp>
      <p:sp>
        <p:nvSpPr>
          <p:cNvPr id="14" name="Shape 12"/>
          <p:cNvSpPr/>
          <p:nvPr/>
        </p:nvSpPr>
        <p:spPr>
          <a:xfrm>
            <a:off x="6858000" y="2423160"/>
            <a:ext cx="1920240" cy="822960"/>
          </a:xfrm>
          <a:prstGeom prst="rect">
            <a:avLst/>
          </a:prstGeom>
          <a:solidFill>
            <a:srgbClr val="1E3A5F"/>
          </a:solidFill>
          <a:ln w="12700">
            <a:solidFill>
              <a:srgbClr val="1E3A5F"/>
            </a:solidFill>
            <a:prstDash val="solid"/>
          </a:ln>
        </p:spPr>
      </p:sp>
      <p:sp>
        <p:nvSpPr>
          <p:cNvPr id="15" name="Text 13"/>
          <p:cNvSpPr/>
          <p:nvPr/>
        </p:nvSpPr>
        <p:spPr>
          <a:xfrm>
            <a:off x="6858000" y="2450592"/>
            <a:ext cx="1920240" cy="384048"/>
          </a:xfrm>
          <a:prstGeom prst="rect">
            <a:avLst/>
          </a:prstGeom>
          <a:noFill/>
          <a:ln/>
        </p:spPr>
        <p:txBody>
          <a:bodyPr wrap="square" rtlCol="0" anchor="ctr"/>
          <a:lstStyle/>
          <a:p>
            <a:pPr algn="ctr" indent="0" marL="0">
              <a:buNone/>
            </a:pPr>
            <a:r>
              <a:rPr lang="en-US" sz="2000" b="1" dirty="0">
                <a:solidFill>
                  <a:srgbClr val="F6AD55"/>
                </a:solidFill>
              </a:rPr>
              <a:t>GDS</a:t>
            </a:r>
            <a:endParaRPr lang="en-US" sz="2000" dirty="0"/>
          </a:p>
        </p:txBody>
      </p:sp>
      <p:sp>
        <p:nvSpPr>
          <p:cNvPr id="16" name="Text 14"/>
          <p:cNvSpPr/>
          <p:nvPr/>
        </p:nvSpPr>
        <p:spPr>
          <a:xfrm>
            <a:off x="6858000" y="2834640"/>
            <a:ext cx="1920240" cy="274320"/>
          </a:xfrm>
          <a:prstGeom prst="rect">
            <a:avLst/>
          </a:prstGeom>
          <a:noFill/>
          <a:ln/>
        </p:spPr>
        <p:txBody>
          <a:bodyPr wrap="square" rtlCol="0" anchor="ctr"/>
          <a:lstStyle/>
          <a:p>
            <a:pPr algn="ctr" indent="0" marL="0">
              <a:buNone/>
            </a:pPr>
            <a:r>
              <a:rPr lang="en-US" sz="900" dirty="0">
                <a:solidFill>
                  <a:srgbClr val="BEE3F8"/>
                </a:solidFill>
              </a:rPr>
              <a:t>PageRank + Louvain</a:t>
            </a:r>
            <a:endParaRPr lang="en-US" sz="900" dirty="0"/>
          </a:p>
        </p:txBody>
      </p:sp>
      <p:sp>
        <p:nvSpPr>
          <p:cNvPr id="17" name="Text 15"/>
          <p:cNvSpPr/>
          <p:nvPr/>
        </p:nvSpPr>
        <p:spPr>
          <a:xfrm>
            <a:off x="548640" y="3474720"/>
            <a:ext cx="8046720" cy="256032"/>
          </a:xfrm>
          <a:prstGeom prst="rect">
            <a:avLst/>
          </a:prstGeom>
          <a:noFill/>
          <a:ln/>
        </p:spPr>
        <p:txBody>
          <a:bodyPr wrap="square" rtlCol="0" anchor="ctr"/>
          <a:lstStyle/>
          <a:p>
            <a:pPr indent="0" marL="0">
              <a:buNone/>
            </a:pPr>
            <a:r>
              <a:rPr lang="en-US" sz="1000" dirty="0">
                <a:solidFill>
                  <a:srgbClr val="94A3B8"/>
                </a:solidFill>
              </a:rPr>
              <a:t>Team: Bekithemba Nkomo · Peter Mangoro · Masheia Dzimba</a:t>
            </a:r>
            <a:endParaRPr lang="en-US" sz="1000" dirty="0"/>
          </a:p>
        </p:txBody>
      </p:sp>
      <p:sp>
        <p:nvSpPr>
          <p:cNvPr id="18" name="Text 16"/>
          <p:cNvSpPr/>
          <p:nvPr/>
        </p:nvSpPr>
        <p:spPr>
          <a:xfrm>
            <a:off x="0" y="4983480"/>
            <a:ext cx="9144000" cy="164592"/>
          </a:xfrm>
          <a:prstGeom prst="rect">
            <a:avLst/>
          </a:prstGeom>
          <a:noFill/>
          <a:ln/>
        </p:spPr>
        <p:txBody>
          <a:bodyPr wrap="square"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5943600" y="274320"/>
            <a:ext cx="2926080" cy="4114800"/>
          </a:xfrm>
          <a:prstGeom prst="rect">
            <a:avLst/>
          </a:prstGeom>
          <a:noFill/>
          <a:ln/>
        </p:spPr>
        <p:txBody>
          <a:bodyPr wrap="square" lIns="0" tIns="0" rIns="0" bIns="0" rtlCol="0" anchor="t"/>
          <a:lstStyle/>
          <a:p>
            <a:pPr algn="r" indent="0" marL="0">
              <a:buNone/>
            </a:pPr>
            <a:r>
              <a:rPr lang="en-US" sz="18000" b="1" dirty="0">
                <a:solidFill>
                  <a:srgbClr val="1A3A5C">
                    <a:alpha val="30000"/>
                  </a:srgbClr>
                </a:solidFill>
              </a:rPr>
              <a:t>05</a:t>
            </a:r>
            <a:endParaRPr lang="en-US" sz="18000" dirty="0"/>
          </a:p>
        </p:txBody>
      </p:sp>
      <p:sp>
        <p:nvSpPr>
          <p:cNvPr id="3" name="Shape 1"/>
          <p:cNvSpPr/>
          <p:nvPr/>
        </p:nvSpPr>
        <p:spPr>
          <a:xfrm>
            <a:off x="457200" y="548640"/>
            <a:ext cx="1371600" cy="292608"/>
          </a:xfrm>
          <a:prstGeom prst="rect">
            <a:avLst/>
          </a:prstGeom>
          <a:solidFill>
            <a:srgbClr val="5B8DB8"/>
          </a:solidFill>
          <a:ln w="12700">
            <a:solidFill>
              <a:srgbClr val="5B8DB8"/>
            </a:solidFill>
            <a:prstDash val="solid"/>
          </a:ln>
        </p:spPr>
      </p:sp>
      <p:sp>
        <p:nvSpPr>
          <p:cNvPr id="4" name="Text 2"/>
          <p:cNvSpPr/>
          <p:nvPr/>
        </p:nvSpPr>
        <p:spPr>
          <a:xfrm>
            <a:off x="457200" y="548640"/>
            <a:ext cx="1371600" cy="292608"/>
          </a:xfrm>
          <a:prstGeom prst="rect">
            <a:avLst/>
          </a:prstGeom>
          <a:noFill/>
          <a:ln/>
        </p:spPr>
        <p:txBody>
          <a:bodyPr wrap="square" lIns="0" tIns="0" rIns="0" bIns="0" rtlCol="0" anchor="ctr"/>
          <a:lstStyle/>
          <a:p>
            <a:pPr algn="ctr" indent="0" marL="0">
              <a:buNone/>
            </a:pPr>
            <a:r>
              <a:rPr lang="en-US" sz="900" b="1" dirty="0">
                <a:solidFill>
                  <a:srgbClr val="FFFFFF"/>
                </a:solidFill>
              </a:rPr>
              <a:t>CHAPTER 5</a:t>
            </a:r>
            <a:endParaRPr lang="en-US" sz="900" dirty="0"/>
          </a:p>
        </p:txBody>
      </p:sp>
      <p:sp>
        <p:nvSpPr>
          <p:cNvPr id="5" name="Text 3"/>
          <p:cNvSpPr/>
          <p:nvPr/>
        </p:nvSpPr>
        <p:spPr>
          <a:xfrm>
            <a:off x="457200" y="960120"/>
            <a:ext cx="5486400" cy="731520"/>
          </a:xfrm>
          <a:prstGeom prst="rect">
            <a:avLst/>
          </a:prstGeom>
          <a:noFill/>
          <a:ln/>
        </p:spPr>
        <p:txBody>
          <a:bodyPr wrap="square" lIns="0" tIns="0" rIns="0" bIns="0" rtlCol="0" anchor="ctr"/>
          <a:lstStyle/>
          <a:p>
            <a:pPr indent="0" marL="0">
              <a:buNone/>
            </a:pPr>
            <a:r>
              <a:rPr lang="en-US" sz="3200" b="1" dirty="0">
                <a:solidFill>
                  <a:srgbClr val="FFFFFF"/>
                </a:solidFill>
              </a:rPr>
              <a:t>The Buffer Zone</a:t>
            </a:r>
            <a:endParaRPr lang="en-US" sz="3200" dirty="0"/>
          </a:p>
        </p:txBody>
      </p:sp>
      <p:sp>
        <p:nvSpPr>
          <p:cNvPr id="6" name="Text 4"/>
          <p:cNvSpPr/>
          <p:nvPr/>
        </p:nvSpPr>
        <p:spPr>
          <a:xfrm>
            <a:off x="457200" y="1737360"/>
            <a:ext cx="5486400" cy="365760"/>
          </a:xfrm>
          <a:prstGeom prst="rect">
            <a:avLst/>
          </a:prstGeom>
          <a:noFill/>
          <a:ln/>
        </p:spPr>
        <p:txBody>
          <a:bodyPr wrap="square" lIns="0" tIns="0" rIns="0" bIns="0" rtlCol="0" anchor="ctr"/>
          <a:lstStyle/>
          <a:p>
            <a:pPr indent="0" marL="0">
              <a:buNone/>
            </a:pPr>
            <a:r>
              <a:rPr lang="en-US" sz="1400" i="1" dirty="0">
                <a:solidFill>
                  <a:srgbClr val="5B8DB8"/>
                </a:solidFill>
              </a:rPr>
              <a:t>Inventory and pipeline stock are our shock absorbers — but are they enough?</a:t>
            </a:r>
            <a:endParaRPr lang="en-US" sz="1400" dirty="0"/>
          </a:p>
        </p:txBody>
      </p:sp>
      <p:sp>
        <p:nvSpPr>
          <p:cNvPr id="7" name="Shape 5"/>
          <p:cNvSpPr/>
          <p:nvPr/>
        </p:nvSpPr>
        <p:spPr>
          <a:xfrm>
            <a:off x="457200" y="2286000"/>
            <a:ext cx="5120640" cy="36576"/>
          </a:xfrm>
          <a:prstGeom prst="rect">
            <a:avLst/>
          </a:prstGeom>
          <a:solidFill>
            <a:srgbClr val="5B8DB8"/>
          </a:solidFill>
          <a:ln w="12700">
            <a:solidFill>
              <a:srgbClr val="5B8DB8"/>
            </a:solidFill>
            <a:prstDash val="solid"/>
          </a:ln>
        </p:spPr>
      </p:sp>
      <p:sp>
        <p:nvSpPr>
          <p:cNvPr id="8" name="Text 6"/>
          <p:cNvSpPr/>
          <p:nvPr/>
        </p:nvSpPr>
        <p:spPr>
          <a:xfrm>
            <a:off x="457200" y="2423160"/>
            <a:ext cx="5120640" cy="256032"/>
          </a:xfrm>
          <a:prstGeom prst="rect">
            <a:avLst/>
          </a:prstGeom>
          <a:noFill/>
          <a:ln/>
        </p:spPr>
        <p:txBody>
          <a:bodyPr wrap="square" lIns="0" tIns="0" rIns="0" bIns="0" rtlCol="0" anchor="ctr"/>
          <a:lstStyle/>
          <a:p>
            <a:pPr indent="0" marL="0">
              <a:buNone/>
            </a:pPr>
            <a:r>
              <a:rPr lang="en-US" sz="1000" b="1" dirty="0">
                <a:solidFill>
                  <a:srgbClr val="D4A843"/>
                </a:solidFill>
              </a:rPr>
              <a:t>What the operations team is asking:</a:t>
            </a:r>
            <a:endParaRPr lang="en-US" sz="1000" dirty="0"/>
          </a:p>
        </p:txBody>
      </p:sp>
      <p:sp>
        <p:nvSpPr>
          <p:cNvPr id="9" name="Text 7"/>
          <p:cNvSpPr/>
          <p:nvPr/>
        </p:nvSpPr>
        <p:spPr>
          <a:xfrm>
            <a:off x="457200" y="2724912"/>
            <a:ext cx="5120640" cy="1645920"/>
          </a:xfrm>
          <a:prstGeom prst="rect">
            <a:avLst/>
          </a:prstGeom>
          <a:noFill/>
          <a:ln/>
        </p:spPr>
        <p:txBody>
          <a:bodyPr wrap="square" lIns="0" tIns="0" rIns="0" bIns="0" rtlCol="0" anchor="ctr"/>
          <a:lstStyle/>
          <a:p>
            <a:pPr indent="0" marL="0">
              <a:buNone/>
            </a:pPr>
            <a:r>
              <a:rPr lang="en-US" sz="1100" dirty="0">
                <a:solidFill>
                  <a:srgbClr val="E2E8F0"/>
                </a:solidFill>
              </a:rPr>
              <a:t>When a supplier fails, inventory is what keeps the assembly line running until new stock arrives. How much buffer does each facility hold at the start of the planning horizon? And how much stock is already in transit — committed but not yet arrived? These are the questions that determine how long we can survive a disruption before the line stops.</a:t>
            </a:r>
            <a:endParaRPr lang="en-US" sz="1100" dirty="0"/>
          </a:p>
        </p:txBody>
      </p:sp>
      <p:sp>
        <p:nvSpPr>
          <p:cNvPr id="10" name="Text 8"/>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274320" y="137160"/>
            <a:ext cx="960120" cy="329184"/>
          </a:xfrm>
          <a:prstGeom prst="rect">
            <a:avLst/>
          </a:prstGeom>
          <a:solidFill>
            <a:srgbClr val="5B8DB8"/>
          </a:solidFill>
          <a:ln w="12700">
            <a:solidFill>
              <a:srgbClr val="5B8DB8"/>
            </a:solidFill>
            <a:prstDash val="solid"/>
          </a:ln>
        </p:spPr>
      </p:sp>
      <p:sp>
        <p:nvSpPr>
          <p:cNvPr id="4" name="Text 2"/>
          <p:cNvSpPr/>
          <p:nvPr/>
        </p:nvSpPr>
        <p:spPr>
          <a:xfrm>
            <a:off x="274320" y="137160"/>
            <a:ext cx="960120" cy="329184"/>
          </a:xfrm>
          <a:prstGeom prst="rect">
            <a:avLst/>
          </a:prstGeom>
          <a:noFill/>
          <a:ln/>
        </p:spPr>
        <p:txBody>
          <a:bodyPr wrap="square" lIns="0" tIns="0" rIns="0" bIns="0" rtlCol="0" anchor="ctr"/>
          <a:lstStyle/>
          <a:p>
            <a:pPr algn="ctr" indent="0" marL="0">
              <a:buNone/>
            </a:pPr>
            <a:r>
              <a:rPr lang="en-US" sz="1000" b="1" dirty="0">
                <a:solidFill>
                  <a:srgbClr val="FFFFFF"/>
                </a:solidFill>
              </a:rPr>
              <a:t>EDA 7</a:t>
            </a:r>
            <a:endParaRPr lang="en-US" sz="1000" dirty="0"/>
          </a:p>
        </p:txBody>
      </p:sp>
      <p:sp>
        <p:nvSpPr>
          <p:cNvPr id="5" name="Text 3"/>
          <p:cNvSpPr/>
          <p:nvPr/>
        </p:nvSpPr>
        <p:spPr>
          <a:xfrm>
            <a:off x="1371600" y="128016"/>
            <a:ext cx="7498080" cy="384048"/>
          </a:xfrm>
          <a:prstGeom prst="rect">
            <a:avLst/>
          </a:prstGeom>
          <a:noFill/>
          <a:ln/>
        </p:spPr>
        <p:txBody>
          <a:bodyPr wrap="square" lIns="0" tIns="0" rIns="0" bIns="0" rtlCol="0" anchor="ctr"/>
          <a:lstStyle/>
          <a:p>
            <a:pPr indent="0" marL="0">
              <a:buNone/>
            </a:pPr>
            <a:r>
              <a:rPr lang="en-US" sz="1600" b="1" dirty="0">
                <a:solidFill>
                  <a:srgbClr val="FFFFFF"/>
                </a:solidFill>
              </a:rPr>
              <a:t>Lane Capacity at Week 1 — Which supply routes start already constrained?</a:t>
            </a:r>
            <a:endParaRPr lang="en-US" sz="1600" dirty="0"/>
          </a:p>
        </p:txBody>
      </p:sp>
      <p:sp>
        <p:nvSpPr>
          <p:cNvPr id="6" name="Shape 4"/>
          <p:cNvSpPr/>
          <p:nvPr/>
        </p:nvSpPr>
        <p:spPr>
          <a:xfrm>
            <a:off x="256032" y="749808"/>
            <a:ext cx="8631936" cy="347472"/>
          </a:xfrm>
          <a:prstGeom prst="rect">
            <a:avLst/>
          </a:prstGeom>
          <a:solidFill>
            <a:srgbClr val="162032"/>
          </a:solidFill>
          <a:ln w="13970">
            <a:solidFill>
              <a:srgbClr val="F6AD55"/>
            </a:solidFill>
            <a:prstDash val="solid"/>
          </a:ln>
        </p:spPr>
      </p:sp>
      <p:sp>
        <p:nvSpPr>
          <p:cNvPr id="7" name="Text 5"/>
          <p:cNvSpPr/>
          <p:nvPr/>
        </p:nvSpPr>
        <p:spPr>
          <a:xfrm>
            <a:off x="384048" y="749808"/>
            <a:ext cx="8412480" cy="347472"/>
          </a:xfrm>
          <a:prstGeom prst="rect">
            <a:avLst/>
          </a:prstGeom>
          <a:noFill/>
          <a:ln/>
        </p:spPr>
        <p:txBody>
          <a:bodyPr wrap="square" lIns="0" tIns="0" rIns="0" bIns="0" rtlCol="0" anchor="ctr"/>
          <a:lstStyle/>
          <a:p>
            <a:pPr indent="0" marL="0">
              <a:buNone/>
            </a:pPr>
            <a:r>
              <a:rPr lang="en-US" sz="1000" b="1" dirty="0">
                <a:solidFill>
                  <a:srgbClr val="D4A843"/>
                </a:solidFill>
              </a:rPr>
              <a:t>Manager asks:  </a:t>
            </a:r>
            <a:pPr indent="0" marL="0">
              <a:buNone/>
            </a:pPr>
            <a:r>
              <a:rPr lang="en-US" sz="1000" i="1" dirty="0">
                <a:solidFill>
                  <a:srgbClr val="FFFFFF"/>
                </a:solidFill>
              </a:rPr>
              <a:t>At day one of our planning horizon, which supply routes are already at or near their limit?</a:t>
            </a:r>
            <a:endParaRPr lang="en-US" sz="1000" dirty="0"/>
          </a:p>
        </p:txBody>
      </p:sp>
      <p:sp>
        <p:nvSpPr>
          <p:cNvPr id="8" name="Shape 6"/>
          <p:cNvSpPr/>
          <p:nvPr/>
        </p:nvSpPr>
        <p:spPr>
          <a:xfrm>
            <a:off x="5559552" y="1536192"/>
            <a:ext cx="3328416" cy="310896"/>
          </a:xfrm>
          <a:prstGeom prst="rect">
            <a:avLst/>
          </a:prstGeom>
          <a:solidFill>
            <a:srgbClr val="5B8DB8"/>
          </a:solidFill>
          <a:ln w="12700">
            <a:solidFill>
              <a:srgbClr val="5B8DB8"/>
            </a:solidFill>
            <a:prstDash val="solid"/>
          </a:ln>
        </p:spPr>
      </p:sp>
      <p:sp>
        <p:nvSpPr>
          <p:cNvPr id="9" name="Text 7"/>
          <p:cNvSpPr/>
          <p:nvPr/>
        </p:nvSpPr>
        <p:spPr>
          <a:xfrm>
            <a:off x="5559552" y="1536192"/>
            <a:ext cx="3328416" cy="310896"/>
          </a:xfrm>
          <a:prstGeom prst="rect">
            <a:avLst/>
          </a:prstGeom>
          <a:noFill/>
          <a:ln/>
        </p:spPr>
        <p:txBody>
          <a:bodyPr wrap="square" lIns="0" tIns="101600" rIns="0" bIns="0" rtlCol="0" anchor="ctr"/>
          <a:lstStyle/>
          <a:p>
            <a:pPr algn="l" indent="0" marL="0">
              <a:buNone/>
            </a:pPr>
            <a:r>
              <a:rPr lang="en-US" sz="1100" b="1" dirty="0">
                <a:solidFill>
                  <a:srgbClr val="FFFFFF"/>
                </a:solidFill>
              </a:rPr>
              <a:t>Key Findings</a:t>
            </a:r>
            <a:endParaRPr lang="en-US" sz="1100" dirty="0"/>
          </a:p>
        </p:txBody>
      </p:sp>
      <p:sp>
        <p:nvSpPr>
          <p:cNvPr id="10" name="Shape 8"/>
          <p:cNvSpPr/>
          <p:nvPr/>
        </p:nvSpPr>
        <p:spPr>
          <a:xfrm>
            <a:off x="5559552" y="1847088"/>
            <a:ext cx="3328416" cy="1828800"/>
          </a:xfrm>
          <a:prstGeom prst="rect">
            <a:avLst/>
          </a:prstGeom>
          <a:solidFill>
            <a:srgbClr val="1A2E44"/>
          </a:solidFill>
          <a:ln w="12700">
            <a:solidFill>
              <a:srgbClr val="1A2E44"/>
            </a:solidFill>
            <a:prstDash val="solid"/>
          </a:ln>
        </p:spPr>
      </p:sp>
      <p:sp>
        <p:nvSpPr>
          <p:cNvPr id="11" name="Shape 9"/>
          <p:cNvSpPr/>
          <p:nvPr/>
        </p:nvSpPr>
        <p:spPr>
          <a:xfrm>
            <a:off x="5632704" y="1956816"/>
            <a:ext cx="118872" cy="118872"/>
          </a:xfrm>
          <a:prstGeom prst="ellipse">
            <a:avLst/>
          </a:prstGeom>
          <a:solidFill>
            <a:srgbClr val="F6AD55"/>
          </a:solidFill>
          <a:ln w="12700">
            <a:solidFill>
              <a:srgbClr val="F6AD55"/>
            </a:solidFill>
            <a:prstDash val="solid"/>
          </a:ln>
        </p:spPr>
      </p:sp>
      <p:sp>
        <p:nvSpPr>
          <p:cNvPr id="12" name="Text 10"/>
          <p:cNvSpPr/>
          <p:nvPr/>
        </p:nvSpPr>
        <p:spPr>
          <a:xfrm>
            <a:off x="5815584" y="1901952"/>
            <a:ext cx="2999232" cy="402336"/>
          </a:xfrm>
          <a:prstGeom prst="rect">
            <a:avLst/>
          </a:prstGeom>
          <a:noFill/>
          <a:ln/>
        </p:spPr>
        <p:txBody>
          <a:bodyPr wrap="square" lIns="0" tIns="0" rIns="0" bIns="0" rtlCol="0" anchor="t"/>
          <a:lstStyle/>
          <a:p>
            <a:pPr indent="0" marL="0">
              <a:buNone/>
            </a:pPr>
            <a:r>
              <a:rPr lang="en-US" sz="950" dirty="0">
                <a:solidFill>
                  <a:srgbClr val="E2E8F0"/>
                </a:solidFill>
              </a:rPr>
              <a:t>Battery production route: only 294 units/week — 7× lower than all other routes at 2,100</a:t>
            </a:r>
            <a:endParaRPr lang="en-US" sz="950" dirty="0"/>
          </a:p>
        </p:txBody>
      </p:sp>
      <p:sp>
        <p:nvSpPr>
          <p:cNvPr id="13" name="Shape 11"/>
          <p:cNvSpPr/>
          <p:nvPr/>
        </p:nvSpPr>
        <p:spPr>
          <a:xfrm>
            <a:off x="5632704" y="2395728"/>
            <a:ext cx="118872" cy="118872"/>
          </a:xfrm>
          <a:prstGeom prst="ellipse">
            <a:avLst/>
          </a:prstGeom>
          <a:solidFill>
            <a:srgbClr val="F6AD55"/>
          </a:solidFill>
          <a:ln w="12700">
            <a:solidFill>
              <a:srgbClr val="F6AD55"/>
            </a:solidFill>
            <a:prstDash val="solid"/>
          </a:ln>
        </p:spPr>
      </p:sp>
      <p:sp>
        <p:nvSpPr>
          <p:cNvPr id="14" name="Text 12"/>
          <p:cNvSpPr/>
          <p:nvPr/>
        </p:nvSpPr>
        <p:spPr>
          <a:xfrm>
            <a:off x="5815584" y="2340864"/>
            <a:ext cx="2999232" cy="402336"/>
          </a:xfrm>
          <a:prstGeom prst="rect">
            <a:avLst/>
          </a:prstGeom>
          <a:noFill/>
          <a:ln/>
        </p:spPr>
        <p:txBody>
          <a:bodyPr wrap="square" lIns="0" tIns="0" rIns="0" bIns="0" rtlCol="0" anchor="t"/>
          <a:lstStyle/>
          <a:p>
            <a:pPr indent="0" marL="0">
              <a:buNone/>
            </a:pPr>
            <a:r>
              <a:rPr lang="en-US" sz="950" dirty="0">
                <a:solidFill>
                  <a:srgbClr val="E2E8F0"/>
                </a:solidFill>
              </a:rPr>
              <a:t>This 294-unit ceiling is a structural constraint, not a planning failure</a:t>
            </a:r>
            <a:endParaRPr lang="en-US" sz="950" dirty="0"/>
          </a:p>
        </p:txBody>
      </p:sp>
      <p:sp>
        <p:nvSpPr>
          <p:cNvPr id="15" name="Shape 13"/>
          <p:cNvSpPr/>
          <p:nvPr/>
        </p:nvSpPr>
        <p:spPr>
          <a:xfrm>
            <a:off x="5632704" y="2834640"/>
            <a:ext cx="118872" cy="118872"/>
          </a:xfrm>
          <a:prstGeom prst="ellipse">
            <a:avLst/>
          </a:prstGeom>
          <a:solidFill>
            <a:srgbClr val="F6AD55"/>
          </a:solidFill>
          <a:ln w="12700">
            <a:solidFill>
              <a:srgbClr val="F6AD55"/>
            </a:solidFill>
            <a:prstDash val="solid"/>
          </a:ln>
        </p:spPr>
      </p:sp>
      <p:sp>
        <p:nvSpPr>
          <p:cNvPr id="16" name="Text 14"/>
          <p:cNvSpPr/>
          <p:nvPr/>
        </p:nvSpPr>
        <p:spPr>
          <a:xfrm>
            <a:off x="5815584" y="2779776"/>
            <a:ext cx="2999232" cy="402336"/>
          </a:xfrm>
          <a:prstGeom prst="rect">
            <a:avLst/>
          </a:prstGeom>
          <a:noFill/>
          <a:ln/>
        </p:spPr>
        <p:txBody>
          <a:bodyPr wrap="square" lIns="0" tIns="0" rIns="0" bIns="0" rtlCol="0" anchor="t"/>
          <a:lstStyle/>
          <a:p>
            <a:pPr indent="0" marL="0">
              <a:buNone/>
            </a:pPr>
            <a:r>
              <a:rPr lang="en-US" sz="950" dirty="0">
                <a:solidFill>
                  <a:srgbClr val="E2E8F0"/>
                </a:solidFill>
              </a:rPr>
              <a:t>Routes with zero capacity (transit facilities) are excluded — no active flow at week 1</a:t>
            </a:r>
            <a:endParaRPr lang="en-US" sz="950" dirty="0"/>
          </a:p>
        </p:txBody>
      </p:sp>
      <p:sp>
        <p:nvSpPr>
          <p:cNvPr id="17" name="Shape 15"/>
          <p:cNvSpPr/>
          <p:nvPr/>
        </p:nvSpPr>
        <p:spPr>
          <a:xfrm>
            <a:off x="5632704" y="3273552"/>
            <a:ext cx="118872" cy="118872"/>
          </a:xfrm>
          <a:prstGeom prst="ellipse">
            <a:avLst/>
          </a:prstGeom>
          <a:solidFill>
            <a:srgbClr val="F6AD55"/>
          </a:solidFill>
          <a:ln w="12700">
            <a:solidFill>
              <a:srgbClr val="F6AD55"/>
            </a:solidFill>
            <a:prstDash val="solid"/>
          </a:ln>
        </p:spPr>
      </p:sp>
      <p:sp>
        <p:nvSpPr>
          <p:cNvPr id="18" name="Text 16"/>
          <p:cNvSpPr/>
          <p:nvPr/>
        </p:nvSpPr>
        <p:spPr>
          <a:xfrm>
            <a:off x="5815584" y="3218688"/>
            <a:ext cx="2999232" cy="402336"/>
          </a:xfrm>
          <a:prstGeom prst="rect">
            <a:avLst/>
          </a:prstGeom>
          <a:noFill/>
          <a:ln/>
        </p:spPr>
        <p:txBody>
          <a:bodyPr wrap="square" lIns="0" tIns="0" rIns="0" bIns="0" rtlCol="0" anchor="t"/>
          <a:lstStyle/>
          <a:p>
            <a:pPr indent="0" marL="0">
              <a:buNone/>
            </a:pPr>
            <a:r>
              <a:rPr lang="en-US" sz="950" dirty="0">
                <a:solidFill>
                  <a:srgbClr val="E2E8F0"/>
                </a:solidFill>
              </a:rPr>
              <a:t>The 20:1 battery assembly ratio amplifies any demand change 20× upstream</a:t>
            </a:r>
            <a:endParaRPr lang="en-US" sz="950" dirty="0"/>
          </a:p>
        </p:txBody>
      </p:sp>
      <p:sp>
        <p:nvSpPr>
          <p:cNvPr id="19" name="Shape 17"/>
          <p:cNvSpPr/>
          <p:nvPr/>
        </p:nvSpPr>
        <p:spPr>
          <a:xfrm>
            <a:off x="5559552" y="3712464"/>
            <a:ext cx="3328416" cy="256032"/>
          </a:xfrm>
          <a:prstGeom prst="rect">
            <a:avLst/>
          </a:prstGeom>
          <a:solidFill>
            <a:srgbClr val="122030"/>
          </a:solidFill>
          <a:ln w="12700">
            <a:solidFill>
              <a:srgbClr val="F6AD55"/>
            </a:solidFill>
            <a:prstDash val="solid"/>
          </a:ln>
        </p:spPr>
      </p:sp>
      <p:sp>
        <p:nvSpPr>
          <p:cNvPr id="20" name="Text 18"/>
          <p:cNvSpPr/>
          <p:nvPr/>
        </p:nvSpPr>
        <p:spPr>
          <a:xfrm>
            <a:off x="5632704" y="3712464"/>
            <a:ext cx="3200400" cy="256032"/>
          </a:xfrm>
          <a:prstGeom prst="rect">
            <a:avLst/>
          </a:prstGeom>
          <a:noFill/>
          <a:ln/>
        </p:spPr>
        <p:txBody>
          <a:bodyPr wrap="square" lIns="0" tIns="0" rIns="0" bIns="0" rtlCol="0" anchor="ctr"/>
          <a:lstStyle/>
          <a:p>
            <a:pPr indent="0" marL="0">
              <a:buNone/>
            </a:pPr>
            <a:r>
              <a:rPr lang="en-US" sz="900" b="1" dirty="0">
                <a:solidFill>
                  <a:srgbClr val="D4A843"/>
                </a:solidFill>
              </a:rPr>
              <a:t>Story insight</a:t>
            </a:r>
            <a:endParaRPr lang="en-US" sz="900" dirty="0"/>
          </a:p>
        </p:txBody>
      </p:sp>
      <p:sp>
        <p:nvSpPr>
          <p:cNvPr id="21" name="Shape 19"/>
          <p:cNvSpPr/>
          <p:nvPr/>
        </p:nvSpPr>
        <p:spPr>
          <a:xfrm>
            <a:off x="5559552" y="3968496"/>
            <a:ext cx="3328416" cy="914400"/>
          </a:xfrm>
          <a:prstGeom prst="rect">
            <a:avLst/>
          </a:prstGeom>
          <a:solidFill>
            <a:srgbClr val="0F1E2E"/>
          </a:solidFill>
          <a:ln w="12700">
            <a:solidFill>
              <a:srgbClr val="0F1E2E"/>
            </a:solidFill>
            <a:prstDash val="solid"/>
          </a:ln>
        </p:spPr>
      </p:sp>
      <p:sp>
        <p:nvSpPr>
          <p:cNvPr id="22" name="Text 20"/>
          <p:cNvSpPr/>
          <p:nvPr/>
        </p:nvSpPr>
        <p:spPr>
          <a:xfrm>
            <a:off x="5632704" y="3986784"/>
            <a:ext cx="3200400" cy="877824"/>
          </a:xfrm>
          <a:prstGeom prst="rect">
            <a:avLst/>
          </a:prstGeom>
          <a:noFill/>
          <a:ln/>
        </p:spPr>
        <p:txBody>
          <a:bodyPr wrap="square" lIns="0" tIns="0" rIns="0" bIns="0" rtlCol="0" anchor="t"/>
          <a:lstStyle/>
          <a:p>
            <a:pPr indent="0" marL="0">
              <a:buNone/>
            </a:pPr>
            <a:r>
              <a:rPr lang="en-US" sz="900" dirty="0">
                <a:solidFill>
                  <a:srgbClr val="E2E8F0"/>
                </a:solidFill>
              </a:rPr>
              <a:t>Battery production is the hardest bottleneck before a single planning decision has been made. 294 units per week is a structural ceiling — the network starts week 1 already constrained on the most critical component.</a:t>
            </a:r>
            <a:endParaRPr lang="en-US" sz="900" dirty="0"/>
          </a:p>
        </p:txBody>
      </p:sp>
      <p:sp>
        <p:nvSpPr>
          <p:cNvPr id="23" name="Text 21"/>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
        <p:nvSpPr>
          <p:cNvPr id="24" name="Shape 22"/>
          <p:cNvSpPr/>
          <p:nvPr/>
        </p:nvSpPr>
        <p:spPr>
          <a:xfrm>
            <a:off x="256032" y="1207008"/>
            <a:ext cx="5120640" cy="3346704"/>
          </a:xfrm>
          <a:prstGeom prst="rect">
            <a:avLst/>
          </a:prstGeom>
          <a:solidFill>
            <a:srgbClr val="0F2030"/>
          </a:solidFill>
          <a:ln w="10160">
            <a:solidFill>
              <a:srgbClr val="5B8DB8"/>
            </a:solidFill>
            <a:prstDash val="solid"/>
          </a:ln>
        </p:spPr>
      </p:sp>
      <p:sp>
        <p:nvSpPr>
          <p:cNvPr id="25" name="Text 23"/>
          <p:cNvSpPr/>
          <p:nvPr/>
        </p:nvSpPr>
        <p:spPr>
          <a:xfrm>
            <a:off x="347472" y="1261872"/>
            <a:ext cx="2194560" cy="219456"/>
          </a:xfrm>
          <a:prstGeom prst="rect">
            <a:avLst/>
          </a:prstGeom>
          <a:noFill/>
          <a:ln/>
        </p:spPr>
        <p:txBody>
          <a:bodyPr wrap="square" rtlCol="0" anchor="ctr"/>
          <a:lstStyle/>
          <a:p>
            <a:pPr indent="0" marL="0">
              <a:buNone/>
            </a:pPr>
            <a:r>
              <a:rPr lang="en-US" sz="850" b="1" dirty="0">
                <a:solidFill>
                  <a:srgbClr val="F6AD55"/>
                </a:solidFill>
              </a:rPr>
              <a:t>Arc Key</a:t>
            </a:r>
            <a:endParaRPr lang="en-US" sz="850" dirty="0"/>
          </a:p>
        </p:txBody>
      </p:sp>
      <p:sp>
        <p:nvSpPr>
          <p:cNvPr id="26" name="Text 24"/>
          <p:cNvSpPr/>
          <p:nvPr/>
        </p:nvSpPr>
        <p:spPr>
          <a:xfrm>
            <a:off x="2606040" y="1261872"/>
            <a:ext cx="548640" cy="219456"/>
          </a:xfrm>
          <a:prstGeom prst="rect">
            <a:avLst/>
          </a:prstGeom>
          <a:noFill/>
          <a:ln/>
        </p:spPr>
        <p:txBody>
          <a:bodyPr wrap="square" rtlCol="0" anchor="ctr"/>
          <a:lstStyle/>
          <a:p>
            <a:pPr indent="0" marL="0">
              <a:buNone/>
            </a:pPr>
            <a:r>
              <a:rPr lang="en-US" sz="850" b="1" dirty="0">
                <a:solidFill>
                  <a:srgbClr val="F6AD55"/>
                </a:solidFill>
              </a:rPr>
              <a:t>Lead Wks</a:t>
            </a:r>
            <a:endParaRPr lang="en-US" sz="850" dirty="0"/>
          </a:p>
        </p:txBody>
      </p:sp>
      <p:sp>
        <p:nvSpPr>
          <p:cNvPr id="27" name="Text 25"/>
          <p:cNvSpPr/>
          <p:nvPr/>
        </p:nvSpPr>
        <p:spPr>
          <a:xfrm>
            <a:off x="3200400" y="1261872"/>
            <a:ext cx="731520" cy="219456"/>
          </a:xfrm>
          <a:prstGeom prst="rect">
            <a:avLst/>
          </a:prstGeom>
          <a:noFill/>
          <a:ln/>
        </p:spPr>
        <p:txBody>
          <a:bodyPr wrap="square" rtlCol="0" anchor="ctr"/>
          <a:lstStyle/>
          <a:p>
            <a:pPr indent="0" marL="0">
              <a:buNone/>
            </a:pPr>
            <a:r>
              <a:rPr lang="en-US" sz="850" b="1" dirty="0">
                <a:solidFill>
                  <a:srgbClr val="F6AD55"/>
                </a:solidFill>
              </a:rPr>
              <a:t>Group</a:t>
            </a:r>
            <a:endParaRPr lang="en-US" sz="850" dirty="0"/>
          </a:p>
        </p:txBody>
      </p:sp>
      <p:sp>
        <p:nvSpPr>
          <p:cNvPr id="28" name="Text 26"/>
          <p:cNvSpPr/>
          <p:nvPr/>
        </p:nvSpPr>
        <p:spPr>
          <a:xfrm>
            <a:off x="3977640" y="1261872"/>
            <a:ext cx="1280160" cy="219456"/>
          </a:xfrm>
          <a:prstGeom prst="rect">
            <a:avLst/>
          </a:prstGeom>
          <a:noFill/>
          <a:ln/>
        </p:spPr>
        <p:txBody>
          <a:bodyPr wrap="square" rtlCol="0" anchor="ctr"/>
          <a:lstStyle/>
          <a:p>
            <a:pPr indent="0" marL="0">
              <a:buNone/>
            </a:pPr>
            <a:r>
              <a:rPr lang="en-US" sz="850" b="1" dirty="0">
                <a:solidFill>
                  <a:srgbClr val="F6AD55"/>
                </a:solidFill>
              </a:rPr>
              <a:t>Cap/Wk</a:t>
            </a:r>
            <a:endParaRPr lang="en-US" sz="850" dirty="0"/>
          </a:p>
        </p:txBody>
      </p:sp>
      <p:sp>
        <p:nvSpPr>
          <p:cNvPr id="29" name="Shape 27"/>
          <p:cNvSpPr/>
          <p:nvPr/>
        </p:nvSpPr>
        <p:spPr>
          <a:xfrm>
            <a:off x="274320" y="1536192"/>
            <a:ext cx="5084064" cy="292608"/>
          </a:xfrm>
          <a:prstGeom prst="rect">
            <a:avLst/>
          </a:prstGeom>
          <a:solidFill>
            <a:srgbClr val="0D1E2E"/>
          </a:solidFill>
          <a:ln w="12700">
            <a:solidFill>
              <a:srgbClr val="0D1E2E"/>
            </a:solidFill>
            <a:prstDash val="solid"/>
          </a:ln>
        </p:spPr>
      </p:sp>
      <p:sp>
        <p:nvSpPr>
          <p:cNvPr id="30" name="Text 28"/>
          <p:cNvSpPr/>
          <p:nvPr/>
        </p:nvSpPr>
        <p:spPr>
          <a:xfrm>
            <a:off x="347472" y="1536192"/>
            <a:ext cx="2212848" cy="274320"/>
          </a:xfrm>
          <a:prstGeom prst="rect">
            <a:avLst/>
          </a:prstGeom>
          <a:noFill/>
          <a:ln/>
        </p:spPr>
        <p:txBody>
          <a:bodyPr wrap="square" lIns="0" tIns="0" rIns="0" bIns="0" rtlCol="0" anchor="ctr"/>
          <a:lstStyle/>
          <a:p>
            <a:pPr indent="0" marL="0">
              <a:buNone/>
            </a:pPr>
            <a:r>
              <a:rPr lang="en-US" sz="800" dirty="0">
                <a:solidFill>
                  <a:srgbClr val="E2E8F0"/>
                </a:solidFill>
              </a:rPr>
              <a:t>battery-inv → zp7</a:t>
            </a:r>
            <a:endParaRPr lang="en-US" sz="800" dirty="0"/>
          </a:p>
        </p:txBody>
      </p:sp>
      <p:sp>
        <p:nvSpPr>
          <p:cNvPr id="31" name="Text 29"/>
          <p:cNvSpPr/>
          <p:nvPr/>
        </p:nvSpPr>
        <p:spPr>
          <a:xfrm>
            <a:off x="2606040" y="1536192"/>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1</a:t>
            </a:r>
            <a:endParaRPr lang="en-US" sz="800" dirty="0"/>
          </a:p>
        </p:txBody>
      </p:sp>
      <p:sp>
        <p:nvSpPr>
          <p:cNvPr id="32" name="Text 30"/>
          <p:cNvSpPr/>
          <p:nvPr/>
        </p:nvSpPr>
        <p:spPr>
          <a:xfrm>
            <a:off x="3200400" y="1536192"/>
            <a:ext cx="731520" cy="274320"/>
          </a:xfrm>
          <a:prstGeom prst="rect">
            <a:avLst/>
          </a:prstGeom>
          <a:noFill/>
          <a:ln/>
        </p:spPr>
        <p:txBody>
          <a:bodyPr wrap="square" lIns="0" tIns="0" rIns="0" bIns="0" rtlCol="0" anchor="ctr"/>
          <a:lstStyle/>
          <a:p>
            <a:pPr indent="0" marL="0">
              <a:buNone/>
            </a:pPr>
            <a:r>
              <a:rPr lang="en-US" sz="800" dirty="0">
                <a:solidFill>
                  <a:srgbClr val="E2E8F0"/>
                </a:solidFill>
              </a:rPr>
              <a:t>battery</a:t>
            </a:r>
            <a:endParaRPr lang="en-US" sz="800" dirty="0"/>
          </a:p>
        </p:txBody>
      </p:sp>
      <p:sp>
        <p:nvSpPr>
          <p:cNvPr id="33" name="Text 31"/>
          <p:cNvSpPr/>
          <p:nvPr/>
        </p:nvSpPr>
        <p:spPr>
          <a:xfrm>
            <a:off x="3977640" y="1536192"/>
            <a:ext cx="1280160" cy="274320"/>
          </a:xfrm>
          <a:prstGeom prst="rect">
            <a:avLst/>
          </a:prstGeom>
          <a:noFill/>
          <a:ln/>
        </p:spPr>
        <p:txBody>
          <a:bodyPr wrap="square" lIns="0" tIns="0" rIns="101600" bIns="0" rtlCol="0" anchor="ctr"/>
          <a:lstStyle/>
          <a:p>
            <a:pPr algn="r" indent="0" marL="0">
              <a:buNone/>
            </a:pPr>
            <a:r>
              <a:rPr lang="en-US" sz="800" b="1" dirty="0">
                <a:solidFill>
                  <a:srgbClr val="F97316"/>
                </a:solidFill>
              </a:rPr>
              <a:t>294</a:t>
            </a:r>
            <a:endParaRPr lang="en-US" sz="800" dirty="0"/>
          </a:p>
        </p:txBody>
      </p:sp>
      <p:sp>
        <p:nvSpPr>
          <p:cNvPr id="34" name="Shape 32"/>
          <p:cNvSpPr/>
          <p:nvPr/>
        </p:nvSpPr>
        <p:spPr>
          <a:xfrm>
            <a:off x="274320" y="1837944"/>
            <a:ext cx="5084064" cy="292608"/>
          </a:xfrm>
          <a:prstGeom prst="rect">
            <a:avLst/>
          </a:prstGeom>
          <a:solidFill>
            <a:srgbClr val="0F2438"/>
          </a:solidFill>
          <a:ln w="12700">
            <a:solidFill>
              <a:srgbClr val="0F2438"/>
            </a:solidFill>
            <a:prstDash val="solid"/>
          </a:ln>
        </p:spPr>
      </p:sp>
      <p:sp>
        <p:nvSpPr>
          <p:cNvPr id="35" name="Text 33"/>
          <p:cNvSpPr/>
          <p:nvPr/>
        </p:nvSpPr>
        <p:spPr>
          <a:xfrm>
            <a:off x="347472" y="1837944"/>
            <a:ext cx="2212848" cy="274320"/>
          </a:xfrm>
          <a:prstGeom prst="rect">
            <a:avLst/>
          </a:prstGeom>
          <a:noFill/>
          <a:ln/>
        </p:spPr>
        <p:txBody>
          <a:bodyPr wrap="square" lIns="0" tIns="0" rIns="0" bIns="0" rtlCol="0" anchor="ctr"/>
          <a:lstStyle/>
          <a:p>
            <a:pPr indent="0" marL="0">
              <a:buNone/>
            </a:pPr>
            <a:r>
              <a:rPr lang="en-US" sz="800" dirty="0">
                <a:solidFill>
                  <a:srgbClr val="E2E8F0"/>
                </a:solidFill>
              </a:rPr>
              <a:t>battery-prod → battery-inv</a:t>
            </a:r>
            <a:endParaRPr lang="en-US" sz="800" dirty="0"/>
          </a:p>
        </p:txBody>
      </p:sp>
      <p:sp>
        <p:nvSpPr>
          <p:cNvPr id="36" name="Text 34"/>
          <p:cNvSpPr/>
          <p:nvPr/>
        </p:nvSpPr>
        <p:spPr>
          <a:xfrm>
            <a:off x="2606040" y="1837944"/>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1</a:t>
            </a:r>
            <a:endParaRPr lang="en-US" sz="800" dirty="0"/>
          </a:p>
        </p:txBody>
      </p:sp>
      <p:sp>
        <p:nvSpPr>
          <p:cNvPr id="37" name="Text 35"/>
          <p:cNvSpPr/>
          <p:nvPr/>
        </p:nvSpPr>
        <p:spPr>
          <a:xfrm>
            <a:off x="3200400" y="1837944"/>
            <a:ext cx="731520" cy="274320"/>
          </a:xfrm>
          <a:prstGeom prst="rect">
            <a:avLst/>
          </a:prstGeom>
          <a:noFill/>
          <a:ln/>
        </p:spPr>
        <p:txBody>
          <a:bodyPr wrap="square" lIns="0" tIns="0" rIns="0" bIns="0" rtlCol="0" anchor="ctr"/>
          <a:lstStyle/>
          <a:p>
            <a:pPr indent="0" marL="0">
              <a:buNone/>
            </a:pPr>
            <a:r>
              <a:rPr lang="en-US" sz="800" dirty="0">
                <a:solidFill>
                  <a:srgbClr val="E2E8F0"/>
                </a:solidFill>
              </a:rPr>
              <a:t>battery</a:t>
            </a:r>
            <a:endParaRPr lang="en-US" sz="800" dirty="0"/>
          </a:p>
        </p:txBody>
      </p:sp>
      <p:sp>
        <p:nvSpPr>
          <p:cNvPr id="38" name="Text 36"/>
          <p:cNvSpPr/>
          <p:nvPr/>
        </p:nvSpPr>
        <p:spPr>
          <a:xfrm>
            <a:off x="3977640" y="1837944"/>
            <a:ext cx="1280160" cy="274320"/>
          </a:xfrm>
          <a:prstGeom prst="rect">
            <a:avLst/>
          </a:prstGeom>
          <a:noFill/>
          <a:ln/>
        </p:spPr>
        <p:txBody>
          <a:bodyPr wrap="square" lIns="0" tIns="0" rIns="101600" bIns="0" rtlCol="0" anchor="ctr"/>
          <a:lstStyle/>
          <a:p>
            <a:pPr algn="r" indent="0" marL="0">
              <a:buNone/>
            </a:pPr>
            <a:r>
              <a:rPr lang="en-US" sz="800" b="1" dirty="0">
                <a:solidFill>
                  <a:srgbClr val="F97316"/>
                </a:solidFill>
              </a:rPr>
              <a:t>294</a:t>
            </a:r>
            <a:endParaRPr lang="en-US" sz="800" dirty="0"/>
          </a:p>
        </p:txBody>
      </p:sp>
      <p:sp>
        <p:nvSpPr>
          <p:cNvPr id="39" name="Shape 37"/>
          <p:cNvSpPr/>
          <p:nvPr/>
        </p:nvSpPr>
        <p:spPr>
          <a:xfrm>
            <a:off x="274320" y="2139696"/>
            <a:ext cx="5084064" cy="292608"/>
          </a:xfrm>
          <a:prstGeom prst="rect">
            <a:avLst/>
          </a:prstGeom>
          <a:solidFill>
            <a:srgbClr val="0D1E2E"/>
          </a:solidFill>
          <a:ln w="12700">
            <a:solidFill>
              <a:srgbClr val="0D1E2E"/>
            </a:solidFill>
            <a:prstDash val="solid"/>
          </a:ln>
        </p:spPr>
      </p:sp>
      <p:sp>
        <p:nvSpPr>
          <p:cNvPr id="40" name="Text 38"/>
          <p:cNvSpPr/>
          <p:nvPr/>
        </p:nvSpPr>
        <p:spPr>
          <a:xfrm>
            <a:off x="347472" y="2139696"/>
            <a:ext cx="2212848" cy="274320"/>
          </a:xfrm>
          <a:prstGeom prst="rect">
            <a:avLst/>
          </a:prstGeom>
          <a:noFill/>
          <a:ln/>
        </p:spPr>
        <p:txBody>
          <a:bodyPr wrap="square" lIns="0" tIns="0" rIns="0" bIns="0" rtlCol="0" anchor="ctr"/>
          <a:lstStyle/>
          <a:p>
            <a:pPr indent="0" marL="0">
              <a:buNone/>
            </a:pPr>
            <a:r>
              <a:rPr lang="en-US" sz="800" dirty="0">
                <a:solidFill>
                  <a:srgbClr val="E2E8F0"/>
                </a:solidFill>
              </a:rPr>
              <a:t>zp7 → zp8</a:t>
            </a:r>
            <a:endParaRPr lang="en-US" sz="800" dirty="0"/>
          </a:p>
        </p:txBody>
      </p:sp>
      <p:sp>
        <p:nvSpPr>
          <p:cNvPr id="41" name="Text 39"/>
          <p:cNvSpPr/>
          <p:nvPr/>
        </p:nvSpPr>
        <p:spPr>
          <a:xfrm>
            <a:off x="2606040" y="2139696"/>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0</a:t>
            </a:r>
            <a:endParaRPr lang="en-US" sz="800" dirty="0"/>
          </a:p>
        </p:txBody>
      </p:sp>
      <p:sp>
        <p:nvSpPr>
          <p:cNvPr id="42" name="Text 40"/>
          <p:cNvSpPr/>
          <p:nvPr/>
        </p:nvSpPr>
        <p:spPr>
          <a:xfrm>
            <a:off x="3200400" y="2139696"/>
            <a:ext cx="731520" cy="274320"/>
          </a:xfrm>
          <a:prstGeom prst="rect">
            <a:avLst/>
          </a:prstGeom>
          <a:noFill/>
          <a:ln/>
        </p:spPr>
        <p:txBody>
          <a:bodyPr wrap="square" lIns="0" tIns="0" rIns="0" bIns="0" rtlCol="0" anchor="ctr"/>
          <a:lstStyle/>
          <a:p>
            <a:pPr indent="0" marL="0">
              <a:buNone/>
            </a:pPr>
            <a:r>
              <a:rPr lang="en-US" sz="800" dirty="0">
                <a:solidFill>
                  <a:srgbClr val="E2E8F0"/>
                </a:solidFill>
              </a:rPr>
              <a:t>car</a:t>
            </a:r>
            <a:endParaRPr lang="en-US" sz="800" dirty="0"/>
          </a:p>
        </p:txBody>
      </p:sp>
      <p:sp>
        <p:nvSpPr>
          <p:cNvPr id="43" name="Text 41"/>
          <p:cNvSpPr/>
          <p:nvPr/>
        </p:nvSpPr>
        <p:spPr>
          <a:xfrm>
            <a:off x="3977640" y="2139696"/>
            <a:ext cx="1280160" cy="274320"/>
          </a:xfrm>
          <a:prstGeom prst="rect">
            <a:avLst/>
          </a:prstGeom>
          <a:noFill/>
          <a:ln/>
        </p:spPr>
        <p:txBody>
          <a:bodyPr wrap="square" lIns="0" tIns="0" rIns="101600" bIns="0" rtlCol="0" anchor="ctr"/>
          <a:lstStyle/>
          <a:p>
            <a:pPr algn="r" indent="0" marL="0">
              <a:buNone/>
            </a:pPr>
            <a:r>
              <a:rPr lang="en-US" sz="800" dirty="0">
                <a:solidFill>
                  <a:srgbClr val="E2E8F0"/>
                </a:solidFill>
              </a:rPr>
              <a:t>2,000</a:t>
            </a:r>
            <a:endParaRPr lang="en-US" sz="800" dirty="0"/>
          </a:p>
        </p:txBody>
      </p:sp>
      <p:sp>
        <p:nvSpPr>
          <p:cNvPr id="44" name="Shape 42"/>
          <p:cNvSpPr/>
          <p:nvPr/>
        </p:nvSpPr>
        <p:spPr>
          <a:xfrm>
            <a:off x="274320" y="2441448"/>
            <a:ext cx="5084064" cy="292608"/>
          </a:xfrm>
          <a:prstGeom prst="rect">
            <a:avLst/>
          </a:prstGeom>
          <a:solidFill>
            <a:srgbClr val="0F2438"/>
          </a:solidFill>
          <a:ln w="12700">
            <a:solidFill>
              <a:srgbClr val="0F2438"/>
            </a:solidFill>
            <a:prstDash val="solid"/>
          </a:ln>
        </p:spPr>
      </p:sp>
      <p:sp>
        <p:nvSpPr>
          <p:cNvPr id="45" name="Text 43"/>
          <p:cNvSpPr/>
          <p:nvPr/>
        </p:nvSpPr>
        <p:spPr>
          <a:xfrm>
            <a:off x="347472" y="2441448"/>
            <a:ext cx="2212848" cy="274320"/>
          </a:xfrm>
          <a:prstGeom prst="rect">
            <a:avLst/>
          </a:prstGeom>
          <a:noFill/>
          <a:ln/>
        </p:spPr>
        <p:txBody>
          <a:bodyPr wrap="square" lIns="0" tIns="0" rIns="0" bIns="0" rtlCol="0" anchor="ctr"/>
          <a:lstStyle/>
          <a:p>
            <a:pPr indent="0" marL="0">
              <a:buNone/>
            </a:pPr>
            <a:r>
              <a:rPr lang="en-US" sz="800" dirty="0">
                <a:solidFill>
                  <a:srgbClr val="E2E8F0"/>
                </a:solidFill>
              </a:rPr>
              <a:t>seat-inv → zp7</a:t>
            </a:r>
            <a:endParaRPr lang="en-US" sz="800" dirty="0"/>
          </a:p>
        </p:txBody>
      </p:sp>
      <p:sp>
        <p:nvSpPr>
          <p:cNvPr id="46" name="Text 44"/>
          <p:cNvSpPr/>
          <p:nvPr/>
        </p:nvSpPr>
        <p:spPr>
          <a:xfrm>
            <a:off x="2606040" y="2441448"/>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0</a:t>
            </a:r>
            <a:endParaRPr lang="en-US" sz="800" dirty="0"/>
          </a:p>
        </p:txBody>
      </p:sp>
      <p:sp>
        <p:nvSpPr>
          <p:cNvPr id="47" name="Text 45"/>
          <p:cNvSpPr/>
          <p:nvPr/>
        </p:nvSpPr>
        <p:spPr>
          <a:xfrm>
            <a:off x="3200400" y="2441448"/>
            <a:ext cx="731520" cy="274320"/>
          </a:xfrm>
          <a:prstGeom prst="rect">
            <a:avLst/>
          </a:prstGeom>
          <a:noFill/>
          <a:ln/>
        </p:spPr>
        <p:txBody>
          <a:bodyPr wrap="square" lIns="0" tIns="0" rIns="0" bIns="0" rtlCol="0" anchor="ctr"/>
          <a:lstStyle/>
          <a:p>
            <a:pPr indent="0" marL="0">
              <a:buNone/>
            </a:pPr>
            <a:r>
              <a:rPr lang="en-US" sz="800" dirty="0">
                <a:solidFill>
                  <a:srgbClr val="E2E8F0"/>
                </a:solidFill>
              </a:rPr>
              <a:t>seat</a:t>
            </a:r>
            <a:endParaRPr lang="en-US" sz="800" dirty="0"/>
          </a:p>
        </p:txBody>
      </p:sp>
      <p:sp>
        <p:nvSpPr>
          <p:cNvPr id="48" name="Text 46"/>
          <p:cNvSpPr/>
          <p:nvPr/>
        </p:nvSpPr>
        <p:spPr>
          <a:xfrm>
            <a:off x="3977640" y="2441448"/>
            <a:ext cx="1280160" cy="274320"/>
          </a:xfrm>
          <a:prstGeom prst="rect">
            <a:avLst/>
          </a:prstGeom>
          <a:noFill/>
          <a:ln/>
        </p:spPr>
        <p:txBody>
          <a:bodyPr wrap="square" lIns="0" tIns="0" rIns="101600" bIns="0" rtlCol="0" anchor="ctr"/>
          <a:lstStyle/>
          <a:p>
            <a:pPr algn="r" indent="0" marL="0">
              <a:buNone/>
            </a:pPr>
            <a:r>
              <a:rPr lang="en-US" sz="800" dirty="0">
                <a:solidFill>
                  <a:srgbClr val="E2E8F0"/>
                </a:solidFill>
              </a:rPr>
              <a:t>2,100</a:t>
            </a:r>
            <a:endParaRPr lang="en-US" sz="800" dirty="0"/>
          </a:p>
        </p:txBody>
      </p:sp>
      <p:sp>
        <p:nvSpPr>
          <p:cNvPr id="49" name="Shape 47"/>
          <p:cNvSpPr/>
          <p:nvPr/>
        </p:nvSpPr>
        <p:spPr>
          <a:xfrm>
            <a:off x="274320" y="2743200"/>
            <a:ext cx="5084064" cy="292608"/>
          </a:xfrm>
          <a:prstGeom prst="rect">
            <a:avLst/>
          </a:prstGeom>
          <a:solidFill>
            <a:srgbClr val="0D1E2E"/>
          </a:solidFill>
          <a:ln w="12700">
            <a:solidFill>
              <a:srgbClr val="0D1E2E"/>
            </a:solidFill>
            <a:prstDash val="solid"/>
          </a:ln>
        </p:spPr>
      </p:sp>
      <p:sp>
        <p:nvSpPr>
          <p:cNvPr id="50" name="Text 48"/>
          <p:cNvSpPr/>
          <p:nvPr/>
        </p:nvSpPr>
        <p:spPr>
          <a:xfrm>
            <a:off x="347472" y="2743200"/>
            <a:ext cx="2212848" cy="274320"/>
          </a:xfrm>
          <a:prstGeom prst="rect">
            <a:avLst/>
          </a:prstGeom>
          <a:noFill/>
          <a:ln/>
        </p:spPr>
        <p:txBody>
          <a:bodyPr wrap="square" lIns="0" tIns="0" rIns="0" bIns="0" rtlCol="0" anchor="ctr"/>
          <a:lstStyle/>
          <a:p>
            <a:pPr indent="0" marL="0">
              <a:buNone/>
            </a:pPr>
            <a:r>
              <a:rPr lang="en-US" sz="800" dirty="0">
                <a:solidFill>
                  <a:srgbClr val="E2E8F0"/>
                </a:solidFill>
              </a:rPr>
              <a:t>gear-inv → zp7</a:t>
            </a:r>
            <a:endParaRPr lang="en-US" sz="800" dirty="0"/>
          </a:p>
        </p:txBody>
      </p:sp>
      <p:sp>
        <p:nvSpPr>
          <p:cNvPr id="51" name="Text 49"/>
          <p:cNvSpPr/>
          <p:nvPr/>
        </p:nvSpPr>
        <p:spPr>
          <a:xfrm>
            <a:off x="2606040" y="2743200"/>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2</a:t>
            </a:r>
            <a:endParaRPr lang="en-US" sz="800" dirty="0"/>
          </a:p>
        </p:txBody>
      </p:sp>
      <p:sp>
        <p:nvSpPr>
          <p:cNvPr id="52" name="Text 50"/>
          <p:cNvSpPr/>
          <p:nvPr/>
        </p:nvSpPr>
        <p:spPr>
          <a:xfrm>
            <a:off x="3200400" y="2743200"/>
            <a:ext cx="731520" cy="274320"/>
          </a:xfrm>
          <a:prstGeom prst="rect">
            <a:avLst/>
          </a:prstGeom>
          <a:noFill/>
          <a:ln/>
        </p:spPr>
        <p:txBody>
          <a:bodyPr wrap="square" lIns="0" tIns="0" rIns="0" bIns="0" rtlCol="0" anchor="ctr"/>
          <a:lstStyle/>
          <a:p>
            <a:pPr indent="0" marL="0">
              <a:buNone/>
            </a:pPr>
            <a:r>
              <a:rPr lang="en-US" sz="800" dirty="0">
                <a:solidFill>
                  <a:srgbClr val="E2E8F0"/>
                </a:solidFill>
              </a:rPr>
              <a:t>gear</a:t>
            </a:r>
            <a:endParaRPr lang="en-US" sz="800" dirty="0"/>
          </a:p>
        </p:txBody>
      </p:sp>
      <p:sp>
        <p:nvSpPr>
          <p:cNvPr id="53" name="Text 51"/>
          <p:cNvSpPr/>
          <p:nvPr/>
        </p:nvSpPr>
        <p:spPr>
          <a:xfrm>
            <a:off x="3977640" y="2743200"/>
            <a:ext cx="1280160" cy="274320"/>
          </a:xfrm>
          <a:prstGeom prst="rect">
            <a:avLst/>
          </a:prstGeom>
          <a:noFill/>
          <a:ln/>
        </p:spPr>
        <p:txBody>
          <a:bodyPr wrap="square" lIns="0" tIns="0" rIns="101600" bIns="0" rtlCol="0" anchor="ctr"/>
          <a:lstStyle/>
          <a:p>
            <a:pPr algn="r" indent="0" marL="0">
              <a:buNone/>
            </a:pPr>
            <a:r>
              <a:rPr lang="en-US" sz="800" dirty="0">
                <a:solidFill>
                  <a:srgbClr val="E2E8F0"/>
                </a:solidFill>
              </a:rPr>
              <a:t>2,100</a:t>
            </a:r>
            <a:endParaRPr lang="en-US" sz="800" dirty="0"/>
          </a:p>
        </p:txBody>
      </p:sp>
      <p:sp>
        <p:nvSpPr>
          <p:cNvPr id="54" name="Shape 52"/>
          <p:cNvSpPr/>
          <p:nvPr/>
        </p:nvSpPr>
        <p:spPr>
          <a:xfrm>
            <a:off x="274320" y="3044952"/>
            <a:ext cx="5084064" cy="292608"/>
          </a:xfrm>
          <a:prstGeom prst="rect">
            <a:avLst/>
          </a:prstGeom>
          <a:solidFill>
            <a:srgbClr val="0F2438"/>
          </a:solidFill>
          <a:ln w="12700">
            <a:solidFill>
              <a:srgbClr val="0F2438"/>
            </a:solidFill>
            <a:prstDash val="solid"/>
          </a:ln>
        </p:spPr>
      </p:sp>
      <p:sp>
        <p:nvSpPr>
          <p:cNvPr id="55" name="Text 53"/>
          <p:cNvSpPr/>
          <p:nvPr/>
        </p:nvSpPr>
        <p:spPr>
          <a:xfrm>
            <a:off x="347472" y="3044952"/>
            <a:ext cx="2212848" cy="274320"/>
          </a:xfrm>
          <a:prstGeom prst="rect">
            <a:avLst/>
          </a:prstGeom>
          <a:noFill/>
          <a:ln/>
        </p:spPr>
        <p:txBody>
          <a:bodyPr wrap="square" lIns="0" tIns="0" rIns="0" bIns="0" rtlCol="0" anchor="ctr"/>
          <a:lstStyle/>
          <a:p>
            <a:pPr indent="0" marL="0">
              <a:buNone/>
            </a:pPr>
            <a:r>
              <a:rPr lang="en-US" sz="800" dirty="0">
                <a:solidFill>
                  <a:srgbClr val="E2E8F0"/>
                </a:solidFill>
              </a:rPr>
              <a:t>engine-inv → zp7</a:t>
            </a:r>
            <a:endParaRPr lang="en-US" sz="800" dirty="0"/>
          </a:p>
        </p:txBody>
      </p:sp>
      <p:sp>
        <p:nvSpPr>
          <p:cNvPr id="56" name="Text 54"/>
          <p:cNvSpPr/>
          <p:nvPr/>
        </p:nvSpPr>
        <p:spPr>
          <a:xfrm>
            <a:off x="2606040" y="3044952"/>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1</a:t>
            </a:r>
            <a:endParaRPr lang="en-US" sz="800" dirty="0"/>
          </a:p>
        </p:txBody>
      </p:sp>
      <p:sp>
        <p:nvSpPr>
          <p:cNvPr id="57" name="Text 55"/>
          <p:cNvSpPr/>
          <p:nvPr/>
        </p:nvSpPr>
        <p:spPr>
          <a:xfrm>
            <a:off x="3200400" y="3044952"/>
            <a:ext cx="731520" cy="274320"/>
          </a:xfrm>
          <a:prstGeom prst="rect">
            <a:avLst/>
          </a:prstGeom>
          <a:noFill/>
          <a:ln/>
        </p:spPr>
        <p:txBody>
          <a:bodyPr wrap="square" lIns="0" tIns="0" rIns="0" bIns="0" rtlCol="0" anchor="ctr"/>
          <a:lstStyle/>
          <a:p>
            <a:pPr indent="0" marL="0">
              <a:buNone/>
            </a:pPr>
            <a:r>
              <a:rPr lang="en-US" sz="800" dirty="0">
                <a:solidFill>
                  <a:srgbClr val="E2E8F0"/>
                </a:solidFill>
              </a:rPr>
              <a:t>engine</a:t>
            </a:r>
            <a:endParaRPr lang="en-US" sz="800" dirty="0"/>
          </a:p>
        </p:txBody>
      </p:sp>
      <p:sp>
        <p:nvSpPr>
          <p:cNvPr id="58" name="Text 56"/>
          <p:cNvSpPr/>
          <p:nvPr/>
        </p:nvSpPr>
        <p:spPr>
          <a:xfrm>
            <a:off x="3977640" y="3044952"/>
            <a:ext cx="1280160" cy="274320"/>
          </a:xfrm>
          <a:prstGeom prst="rect">
            <a:avLst/>
          </a:prstGeom>
          <a:noFill/>
          <a:ln/>
        </p:spPr>
        <p:txBody>
          <a:bodyPr wrap="square" lIns="0" tIns="0" rIns="101600" bIns="0" rtlCol="0" anchor="ctr"/>
          <a:lstStyle/>
          <a:p>
            <a:pPr algn="r" indent="0" marL="0">
              <a:buNone/>
            </a:pPr>
            <a:r>
              <a:rPr lang="en-US" sz="800" dirty="0">
                <a:solidFill>
                  <a:srgbClr val="E2E8F0"/>
                </a:solidFill>
              </a:rPr>
              <a:t>2,100</a:t>
            </a:r>
            <a:endParaRPr lang="en-US" sz="800" dirty="0"/>
          </a:p>
        </p:txBody>
      </p:sp>
      <p:sp>
        <p:nvSpPr>
          <p:cNvPr id="59" name="Shape 57"/>
          <p:cNvSpPr/>
          <p:nvPr/>
        </p:nvSpPr>
        <p:spPr>
          <a:xfrm>
            <a:off x="274320" y="3346704"/>
            <a:ext cx="5084064" cy="292608"/>
          </a:xfrm>
          <a:prstGeom prst="rect">
            <a:avLst/>
          </a:prstGeom>
          <a:solidFill>
            <a:srgbClr val="0D1E2E"/>
          </a:solidFill>
          <a:ln w="12700">
            <a:solidFill>
              <a:srgbClr val="0D1E2E"/>
            </a:solidFill>
            <a:prstDash val="solid"/>
          </a:ln>
        </p:spPr>
      </p:sp>
      <p:sp>
        <p:nvSpPr>
          <p:cNvPr id="60" name="Text 58"/>
          <p:cNvSpPr/>
          <p:nvPr/>
        </p:nvSpPr>
        <p:spPr>
          <a:xfrm>
            <a:off x="347472" y="3346704"/>
            <a:ext cx="2212848" cy="274320"/>
          </a:xfrm>
          <a:prstGeom prst="rect">
            <a:avLst/>
          </a:prstGeom>
          <a:noFill/>
          <a:ln/>
        </p:spPr>
        <p:txBody>
          <a:bodyPr wrap="square" lIns="0" tIns="0" rIns="0" bIns="0" rtlCol="0" anchor="ctr"/>
          <a:lstStyle/>
          <a:p>
            <a:pPr indent="0" marL="0">
              <a:buNone/>
            </a:pPr>
            <a:r>
              <a:rPr lang="en-US" sz="800" dirty="0">
                <a:solidFill>
                  <a:srgbClr val="E2E8F0"/>
                </a:solidFill>
              </a:rPr>
              <a:t>seat-prod → seat-inv</a:t>
            </a:r>
            <a:endParaRPr lang="en-US" sz="800" dirty="0"/>
          </a:p>
        </p:txBody>
      </p:sp>
      <p:sp>
        <p:nvSpPr>
          <p:cNvPr id="61" name="Text 59"/>
          <p:cNvSpPr/>
          <p:nvPr/>
        </p:nvSpPr>
        <p:spPr>
          <a:xfrm>
            <a:off x="2606040" y="3346704"/>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0</a:t>
            </a:r>
            <a:endParaRPr lang="en-US" sz="800" dirty="0"/>
          </a:p>
        </p:txBody>
      </p:sp>
      <p:sp>
        <p:nvSpPr>
          <p:cNvPr id="62" name="Text 60"/>
          <p:cNvSpPr/>
          <p:nvPr/>
        </p:nvSpPr>
        <p:spPr>
          <a:xfrm>
            <a:off x="3200400" y="3346704"/>
            <a:ext cx="731520" cy="274320"/>
          </a:xfrm>
          <a:prstGeom prst="rect">
            <a:avLst/>
          </a:prstGeom>
          <a:noFill/>
          <a:ln/>
        </p:spPr>
        <p:txBody>
          <a:bodyPr wrap="square" lIns="0" tIns="0" rIns="0" bIns="0" rtlCol="0" anchor="ctr"/>
          <a:lstStyle/>
          <a:p>
            <a:pPr indent="0" marL="0">
              <a:buNone/>
            </a:pPr>
            <a:r>
              <a:rPr lang="en-US" sz="800" dirty="0">
                <a:solidFill>
                  <a:srgbClr val="E2E8F0"/>
                </a:solidFill>
              </a:rPr>
              <a:t>seat</a:t>
            </a:r>
            <a:endParaRPr lang="en-US" sz="800" dirty="0"/>
          </a:p>
        </p:txBody>
      </p:sp>
      <p:sp>
        <p:nvSpPr>
          <p:cNvPr id="63" name="Text 61"/>
          <p:cNvSpPr/>
          <p:nvPr/>
        </p:nvSpPr>
        <p:spPr>
          <a:xfrm>
            <a:off x="3977640" y="3346704"/>
            <a:ext cx="1280160" cy="274320"/>
          </a:xfrm>
          <a:prstGeom prst="rect">
            <a:avLst/>
          </a:prstGeom>
          <a:noFill/>
          <a:ln/>
        </p:spPr>
        <p:txBody>
          <a:bodyPr wrap="square" lIns="0" tIns="0" rIns="101600" bIns="0" rtlCol="0" anchor="ctr"/>
          <a:lstStyle/>
          <a:p>
            <a:pPr algn="r" indent="0" marL="0">
              <a:buNone/>
            </a:pPr>
            <a:r>
              <a:rPr lang="en-US" sz="800" dirty="0">
                <a:solidFill>
                  <a:srgbClr val="E2E8F0"/>
                </a:solidFill>
              </a:rPr>
              <a:t>2,100</a:t>
            </a:r>
            <a:endParaRPr lang="en-US" sz="800" dirty="0"/>
          </a:p>
        </p:txBody>
      </p:sp>
      <p:sp>
        <p:nvSpPr>
          <p:cNvPr id="64" name="Shape 62"/>
          <p:cNvSpPr/>
          <p:nvPr/>
        </p:nvSpPr>
        <p:spPr>
          <a:xfrm>
            <a:off x="274320" y="3648456"/>
            <a:ext cx="5084064" cy="292608"/>
          </a:xfrm>
          <a:prstGeom prst="rect">
            <a:avLst/>
          </a:prstGeom>
          <a:solidFill>
            <a:srgbClr val="0F2438"/>
          </a:solidFill>
          <a:ln w="12700">
            <a:solidFill>
              <a:srgbClr val="0F2438"/>
            </a:solidFill>
            <a:prstDash val="solid"/>
          </a:ln>
        </p:spPr>
      </p:sp>
      <p:sp>
        <p:nvSpPr>
          <p:cNvPr id="65" name="Text 63"/>
          <p:cNvSpPr/>
          <p:nvPr/>
        </p:nvSpPr>
        <p:spPr>
          <a:xfrm>
            <a:off x="347472" y="3648456"/>
            <a:ext cx="2212848" cy="274320"/>
          </a:xfrm>
          <a:prstGeom prst="rect">
            <a:avLst/>
          </a:prstGeom>
          <a:noFill/>
          <a:ln/>
        </p:spPr>
        <p:txBody>
          <a:bodyPr wrap="square" lIns="0" tIns="0" rIns="0" bIns="0" rtlCol="0" anchor="ctr"/>
          <a:lstStyle/>
          <a:p>
            <a:pPr indent="0" marL="0">
              <a:buNone/>
            </a:pPr>
            <a:r>
              <a:rPr lang="en-US" sz="800" dirty="0">
                <a:solidFill>
                  <a:srgbClr val="E2E8F0"/>
                </a:solidFill>
              </a:rPr>
              <a:t>gear-prod → gear-inv</a:t>
            </a:r>
            <a:endParaRPr lang="en-US" sz="800" dirty="0"/>
          </a:p>
        </p:txBody>
      </p:sp>
      <p:sp>
        <p:nvSpPr>
          <p:cNvPr id="66" name="Text 64"/>
          <p:cNvSpPr/>
          <p:nvPr/>
        </p:nvSpPr>
        <p:spPr>
          <a:xfrm>
            <a:off x="2606040" y="3648456"/>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2</a:t>
            </a:r>
            <a:endParaRPr lang="en-US" sz="800" dirty="0"/>
          </a:p>
        </p:txBody>
      </p:sp>
      <p:sp>
        <p:nvSpPr>
          <p:cNvPr id="67" name="Text 65"/>
          <p:cNvSpPr/>
          <p:nvPr/>
        </p:nvSpPr>
        <p:spPr>
          <a:xfrm>
            <a:off x="3200400" y="3648456"/>
            <a:ext cx="731520" cy="274320"/>
          </a:xfrm>
          <a:prstGeom prst="rect">
            <a:avLst/>
          </a:prstGeom>
          <a:noFill/>
          <a:ln/>
        </p:spPr>
        <p:txBody>
          <a:bodyPr wrap="square" lIns="0" tIns="0" rIns="0" bIns="0" rtlCol="0" anchor="ctr"/>
          <a:lstStyle/>
          <a:p>
            <a:pPr indent="0" marL="0">
              <a:buNone/>
            </a:pPr>
            <a:r>
              <a:rPr lang="en-US" sz="800" dirty="0">
                <a:solidFill>
                  <a:srgbClr val="E2E8F0"/>
                </a:solidFill>
              </a:rPr>
              <a:t>gear</a:t>
            </a:r>
            <a:endParaRPr lang="en-US" sz="800" dirty="0"/>
          </a:p>
        </p:txBody>
      </p:sp>
      <p:sp>
        <p:nvSpPr>
          <p:cNvPr id="68" name="Text 66"/>
          <p:cNvSpPr/>
          <p:nvPr/>
        </p:nvSpPr>
        <p:spPr>
          <a:xfrm>
            <a:off x="3977640" y="3648456"/>
            <a:ext cx="1280160" cy="274320"/>
          </a:xfrm>
          <a:prstGeom prst="rect">
            <a:avLst/>
          </a:prstGeom>
          <a:noFill/>
          <a:ln/>
        </p:spPr>
        <p:txBody>
          <a:bodyPr wrap="square" lIns="0" tIns="0" rIns="101600" bIns="0" rtlCol="0" anchor="ctr"/>
          <a:lstStyle/>
          <a:p>
            <a:pPr algn="r" indent="0" marL="0">
              <a:buNone/>
            </a:pPr>
            <a:r>
              <a:rPr lang="en-US" sz="800" dirty="0">
                <a:solidFill>
                  <a:srgbClr val="E2E8F0"/>
                </a:solidFill>
              </a:rPr>
              <a:t>2,100</a:t>
            </a:r>
            <a:endParaRPr lang="en-US" sz="800" dirty="0"/>
          </a:p>
        </p:txBody>
      </p:sp>
      <p:sp>
        <p:nvSpPr>
          <p:cNvPr id="69" name="Shape 67"/>
          <p:cNvSpPr/>
          <p:nvPr/>
        </p:nvSpPr>
        <p:spPr>
          <a:xfrm>
            <a:off x="274320" y="3950208"/>
            <a:ext cx="5084064" cy="292608"/>
          </a:xfrm>
          <a:prstGeom prst="rect">
            <a:avLst/>
          </a:prstGeom>
          <a:solidFill>
            <a:srgbClr val="0D1E2E"/>
          </a:solidFill>
          <a:ln w="12700">
            <a:solidFill>
              <a:srgbClr val="0D1E2E"/>
            </a:solidFill>
            <a:prstDash val="solid"/>
          </a:ln>
        </p:spPr>
      </p:sp>
      <p:sp>
        <p:nvSpPr>
          <p:cNvPr id="70" name="Text 68"/>
          <p:cNvSpPr/>
          <p:nvPr/>
        </p:nvSpPr>
        <p:spPr>
          <a:xfrm>
            <a:off x="347472" y="3950208"/>
            <a:ext cx="2212848" cy="274320"/>
          </a:xfrm>
          <a:prstGeom prst="rect">
            <a:avLst/>
          </a:prstGeom>
          <a:noFill/>
          <a:ln/>
        </p:spPr>
        <p:txBody>
          <a:bodyPr wrap="square" lIns="0" tIns="0" rIns="0" bIns="0" rtlCol="0" anchor="ctr"/>
          <a:lstStyle/>
          <a:p>
            <a:pPr indent="0" marL="0">
              <a:buNone/>
            </a:pPr>
            <a:r>
              <a:rPr lang="en-US" sz="800" dirty="0">
                <a:solidFill>
                  <a:srgbClr val="E2E8F0"/>
                </a:solidFill>
              </a:rPr>
              <a:t>engine-prod → engine-inv</a:t>
            </a:r>
            <a:endParaRPr lang="en-US" sz="800" dirty="0"/>
          </a:p>
        </p:txBody>
      </p:sp>
      <p:sp>
        <p:nvSpPr>
          <p:cNvPr id="71" name="Text 69"/>
          <p:cNvSpPr/>
          <p:nvPr/>
        </p:nvSpPr>
        <p:spPr>
          <a:xfrm>
            <a:off x="2606040" y="3950208"/>
            <a:ext cx="548640" cy="274320"/>
          </a:xfrm>
          <a:prstGeom prst="rect">
            <a:avLst/>
          </a:prstGeom>
          <a:noFill/>
          <a:ln/>
        </p:spPr>
        <p:txBody>
          <a:bodyPr wrap="square" lIns="0" tIns="0" rIns="0" bIns="0" rtlCol="0" anchor="ctr"/>
          <a:lstStyle/>
          <a:p>
            <a:pPr algn="ctr" indent="0" marL="0">
              <a:buNone/>
            </a:pPr>
            <a:r>
              <a:rPr lang="en-US" sz="800" dirty="0">
                <a:solidFill>
                  <a:srgbClr val="E2E8F0"/>
                </a:solidFill>
              </a:rPr>
              <a:t>1</a:t>
            </a:r>
            <a:endParaRPr lang="en-US" sz="800" dirty="0"/>
          </a:p>
        </p:txBody>
      </p:sp>
      <p:sp>
        <p:nvSpPr>
          <p:cNvPr id="72" name="Text 70"/>
          <p:cNvSpPr/>
          <p:nvPr/>
        </p:nvSpPr>
        <p:spPr>
          <a:xfrm>
            <a:off x="3200400" y="3950208"/>
            <a:ext cx="731520" cy="274320"/>
          </a:xfrm>
          <a:prstGeom prst="rect">
            <a:avLst/>
          </a:prstGeom>
          <a:noFill/>
          <a:ln/>
        </p:spPr>
        <p:txBody>
          <a:bodyPr wrap="square" lIns="0" tIns="0" rIns="0" bIns="0" rtlCol="0" anchor="ctr"/>
          <a:lstStyle/>
          <a:p>
            <a:pPr indent="0" marL="0">
              <a:buNone/>
            </a:pPr>
            <a:r>
              <a:rPr lang="en-US" sz="800" dirty="0">
                <a:solidFill>
                  <a:srgbClr val="E2E8F0"/>
                </a:solidFill>
              </a:rPr>
              <a:t>engine</a:t>
            </a:r>
            <a:endParaRPr lang="en-US" sz="800" dirty="0"/>
          </a:p>
        </p:txBody>
      </p:sp>
      <p:sp>
        <p:nvSpPr>
          <p:cNvPr id="73" name="Text 71"/>
          <p:cNvSpPr/>
          <p:nvPr/>
        </p:nvSpPr>
        <p:spPr>
          <a:xfrm>
            <a:off x="3977640" y="3950208"/>
            <a:ext cx="1280160" cy="274320"/>
          </a:xfrm>
          <a:prstGeom prst="rect">
            <a:avLst/>
          </a:prstGeom>
          <a:noFill/>
          <a:ln/>
        </p:spPr>
        <p:txBody>
          <a:bodyPr wrap="square" lIns="0" tIns="0" rIns="101600" bIns="0" rtlCol="0" anchor="ctr"/>
          <a:lstStyle/>
          <a:p>
            <a:pPr algn="r" indent="0" marL="0">
              <a:buNone/>
            </a:pPr>
            <a:r>
              <a:rPr lang="en-US" sz="800" dirty="0">
                <a:solidFill>
                  <a:srgbClr val="E2E8F0"/>
                </a:solidFill>
              </a:rPr>
              <a:t>2,100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274320" y="137160"/>
            <a:ext cx="960120" cy="329184"/>
          </a:xfrm>
          <a:prstGeom prst="rect">
            <a:avLst/>
          </a:prstGeom>
          <a:solidFill>
            <a:srgbClr val="5B8DB8"/>
          </a:solidFill>
          <a:ln w="12700">
            <a:solidFill>
              <a:srgbClr val="5B8DB8"/>
            </a:solidFill>
            <a:prstDash val="solid"/>
          </a:ln>
        </p:spPr>
      </p:sp>
      <p:sp>
        <p:nvSpPr>
          <p:cNvPr id="4" name="Text 2"/>
          <p:cNvSpPr/>
          <p:nvPr/>
        </p:nvSpPr>
        <p:spPr>
          <a:xfrm>
            <a:off x="274320" y="137160"/>
            <a:ext cx="960120" cy="329184"/>
          </a:xfrm>
          <a:prstGeom prst="rect">
            <a:avLst/>
          </a:prstGeom>
          <a:noFill/>
          <a:ln/>
        </p:spPr>
        <p:txBody>
          <a:bodyPr wrap="square" lIns="0" tIns="0" rIns="0" bIns="0" rtlCol="0" anchor="ctr"/>
          <a:lstStyle/>
          <a:p>
            <a:pPr algn="ctr" indent="0" marL="0">
              <a:buNone/>
            </a:pPr>
            <a:r>
              <a:rPr lang="en-US" sz="1000" b="1" dirty="0">
                <a:solidFill>
                  <a:srgbClr val="FFFFFF"/>
                </a:solidFill>
              </a:rPr>
              <a:t>EDA 8</a:t>
            </a:r>
            <a:endParaRPr lang="en-US" sz="1000" dirty="0"/>
          </a:p>
        </p:txBody>
      </p:sp>
      <p:sp>
        <p:nvSpPr>
          <p:cNvPr id="5" name="Text 3"/>
          <p:cNvSpPr/>
          <p:nvPr/>
        </p:nvSpPr>
        <p:spPr>
          <a:xfrm>
            <a:off x="1371600" y="128016"/>
            <a:ext cx="7498080" cy="384048"/>
          </a:xfrm>
          <a:prstGeom prst="rect">
            <a:avLst/>
          </a:prstGeom>
          <a:noFill/>
          <a:ln/>
        </p:spPr>
        <p:txBody>
          <a:bodyPr wrap="square" lIns="0" tIns="0" rIns="0" bIns="0" rtlCol="0" anchor="ctr"/>
          <a:lstStyle/>
          <a:p>
            <a:pPr indent="0" marL="0">
              <a:buNone/>
            </a:pPr>
            <a:r>
              <a:rPr lang="en-US" sz="1600" b="1" dirty="0">
                <a:solidFill>
                  <a:srgbClr val="FFFFFF"/>
                </a:solidFill>
              </a:rPr>
              <a:t>Opening Stock on Hand — Where is our physical buffer concentrated?</a:t>
            </a:r>
            <a:endParaRPr lang="en-US" sz="1600" dirty="0"/>
          </a:p>
        </p:txBody>
      </p:sp>
      <p:sp>
        <p:nvSpPr>
          <p:cNvPr id="6" name="Shape 4"/>
          <p:cNvSpPr/>
          <p:nvPr/>
        </p:nvSpPr>
        <p:spPr>
          <a:xfrm>
            <a:off x="256032" y="749808"/>
            <a:ext cx="8631936" cy="347472"/>
          </a:xfrm>
          <a:prstGeom prst="rect">
            <a:avLst/>
          </a:prstGeom>
          <a:solidFill>
            <a:srgbClr val="162032"/>
          </a:solidFill>
          <a:ln w="13970">
            <a:solidFill>
              <a:srgbClr val="F6AD55"/>
            </a:solidFill>
            <a:prstDash val="solid"/>
          </a:ln>
        </p:spPr>
      </p:sp>
      <p:sp>
        <p:nvSpPr>
          <p:cNvPr id="7" name="Text 5"/>
          <p:cNvSpPr/>
          <p:nvPr/>
        </p:nvSpPr>
        <p:spPr>
          <a:xfrm>
            <a:off x="384048" y="749808"/>
            <a:ext cx="8412480" cy="347472"/>
          </a:xfrm>
          <a:prstGeom prst="rect">
            <a:avLst/>
          </a:prstGeom>
          <a:noFill/>
          <a:ln/>
        </p:spPr>
        <p:txBody>
          <a:bodyPr wrap="square" lIns="0" tIns="0" rIns="0" bIns="0" rtlCol="0" anchor="ctr"/>
          <a:lstStyle/>
          <a:p>
            <a:pPr indent="0" marL="0">
              <a:buNone/>
            </a:pPr>
            <a:r>
              <a:rPr lang="en-US" sz="1000" b="1" dirty="0">
                <a:solidFill>
                  <a:srgbClr val="D4A843"/>
                </a:solidFill>
              </a:rPr>
              <a:t>Manager asks:  </a:t>
            </a:r>
            <a:pPr indent="0" marL="0">
              <a:buNone/>
            </a:pPr>
            <a:r>
              <a:rPr lang="en-US" sz="1000" i="1" dirty="0">
                <a:solidFill>
                  <a:srgbClr val="FFFFFF"/>
                </a:solidFill>
              </a:rPr>
              <a:t>At the start of our planning horizon (week 0), how much stock does each facility actually hold?</a:t>
            </a:r>
            <a:endParaRPr lang="en-US" sz="1000" dirty="0"/>
          </a:p>
        </p:txBody>
      </p:sp>
      <p:sp>
        <p:nvSpPr>
          <p:cNvPr id="8" name="Shape 6"/>
          <p:cNvSpPr/>
          <p:nvPr/>
        </p:nvSpPr>
        <p:spPr>
          <a:xfrm>
            <a:off x="5559552" y="1536192"/>
            <a:ext cx="3328416" cy="310896"/>
          </a:xfrm>
          <a:prstGeom prst="rect">
            <a:avLst/>
          </a:prstGeom>
          <a:solidFill>
            <a:srgbClr val="5B8DB8"/>
          </a:solidFill>
          <a:ln w="12700">
            <a:solidFill>
              <a:srgbClr val="5B8DB8"/>
            </a:solidFill>
            <a:prstDash val="solid"/>
          </a:ln>
        </p:spPr>
      </p:sp>
      <p:sp>
        <p:nvSpPr>
          <p:cNvPr id="9" name="Text 7"/>
          <p:cNvSpPr/>
          <p:nvPr/>
        </p:nvSpPr>
        <p:spPr>
          <a:xfrm>
            <a:off x="5559552" y="1536192"/>
            <a:ext cx="3328416" cy="310896"/>
          </a:xfrm>
          <a:prstGeom prst="rect">
            <a:avLst/>
          </a:prstGeom>
          <a:noFill/>
          <a:ln/>
        </p:spPr>
        <p:txBody>
          <a:bodyPr wrap="square" lIns="0" tIns="101600" rIns="0" bIns="0" rtlCol="0" anchor="ctr"/>
          <a:lstStyle/>
          <a:p>
            <a:pPr algn="l" indent="0" marL="0">
              <a:buNone/>
            </a:pPr>
            <a:r>
              <a:rPr lang="en-US" sz="1100" b="1" dirty="0">
                <a:solidFill>
                  <a:srgbClr val="FFFFFF"/>
                </a:solidFill>
              </a:rPr>
              <a:t>Key Findings</a:t>
            </a:r>
            <a:endParaRPr lang="en-US" sz="1100" dirty="0"/>
          </a:p>
        </p:txBody>
      </p:sp>
      <p:sp>
        <p:nvSpPr>
          <p:cNvPr id="10" name="Shape 8"/>
          <p:cNvSpPr/>
          <p:nvPr/>
        </p:nvSpPr>
        <p:spPr>
          <a:xfrm>
            <a:off x="5559552" y="1847088"/>
            <a:ext cx="3328416" cy="1828800"/>
          </a:xfrm>
          <a:prstGeom prst="rect">
            <a:avLst/>
          </a:prstGeom>
          <a:solidFill>
            <a:srgbClr val="1A2E44"/>
          </a:solidFill>
          <a:ln w="12700">
            <a:solidFill>
              <a:srgbClr val="1A2E44"/>
            </a:solidFill>
            <a:prstDash val="solid"/>
          </a:ln>
        </p:spPr>
      </p:sp>
      <p:sp>
        <p:nvSpPr>
          <p:cNvPr id="11" name="Shape 9"/>
          <p:cNvSpPr/>
          <p:nvPr/>
        </p:nvSpPr>
        <p:spPr>
          <a:xfrm>
            <a:off x="5632704" y="1956816"/>
            <a:ext cx="118872" cy="118872"/>
          </a:xfrm>
          <a:prstGeom prst="ellipse">
            <a:avLst/>
          </a:prstGeom>
          <a:solidFill>
            <a:srgbClr val="F6AD55"/>
          </a:solidFill>
          <a:ln w="12700">
            <a:solidFill>
              <a:srgbClr val="F6AD55"/>
            </a:solidFill>
            <a:prstDash val="solid"/>
          </a:ln>
        </p:spPr>
      </p:sp>
      <p:sp>
        <p:nvSpPr>
          <p:cNvPr id="12" name="Text 10"/>
          <p:cNvSpPr/>
          <p:nvPr/>
        </p:nvSpPr>
        <p:spPr>
          <a:xfrm>
            <a:off x="5815584" y="1901952"/>
            <a:ext cx="2999232" cy="402336"/>
          </a:xfrm>
          <a:prstGeom prst="rect">
            <a:avLst/>
          </a:prstGeom>
          <a:noFill/>
          <a:ln/>
        </p:spPr>
        <p:txBody>
          <a:bodyPr wrap="square" lIns="0" tIns="0" rIns="0" bIns="0" rtlCol="0" anchor="t"/>
          <a:lstStyle/>
          <a:p>
            <a:pPr indent="0" marL="0">
              <a:buNone/>
            </a:pPr>
            <a:r>
              <a:rPr lang="en-US" sz="950" dirty="0">
                <a:solidFill>
                  <a:srgbClr val="E2E8F0"/>
                </a:solidFill>
              </a:rPr>
              <a:t>ZP7 (OEM assembly) holds 6,052 units — buffers all 4 incoming component flows</a:t>
            </a:r>
            <a:endParaRPr lang="en-US" sz="950" dirty="0"/>
          </a:p>
        </p:txBody>
      </p:sp>
      <p:sp>
        <p:nvSpPr>
          <p:cNvPr id="13" name="Shape 11"/>
          <p:cNvSpPr/>
          <p:nvPr/>
        </p:nvSpPr>
        <p:spPr>
          <a:xfrm>
            <a:off x="5632704" y="2395728"/>
            <a:ext cx="118872" cy="118872"/>
          </a:xfrm>
          <a:prstGeom prst="ellipse">
            <a:avLst/>
          </a:prstGeom>
          <a:solidFill>
            <a:srgbClr val="F6AD55"/>
          </a:solidFill>
          <a:ln w="12700">
            <a:solidFill>
              <a:srgbClr val="F6AD55"/>
            </a:solidFill>
            <a:prstDash val="solid"/>
          </a:ln>
        </p:spPr>
      </p:sp>
      <p:sp>
        <p:nvSpPr>
          <p:cNvPr id="14" name="Text 12"/>
          <p:cNvSpPr/>
          <p:nvPr/>
        </p:nvSpPr>
        <p:spPr>
          <a:xfrm>
            <a:off x="5815584" y="2340864"/>
            <a:ext cx="2999232" cy="402336"/>
          </a:xfrm>
          <a:prstGeom prst="rect">
            <a:avLst/>
          </a:prstGeom>
          <a:noFill/>
          <a:ln/>
        </p:spPr>
        <p:txBody>
          <a:bodyPr wrap="square" lIns="0" tIns="0" rIns="0" bIns="0" rtlCol="0" anchor="t"/>
          <a:lstStyle/>
          <a:p>
            <a:pPr indent="0" marL="0">
              <a:buNone/>
            </a:pPr>
            <a:r>
              <a:rPr lang="en-US" sz="950" dirty="0">
                <a:solidFill>
                  <a:srgbClr val="E2E8F0"/>
                </a:solidFill>
              </a:rPr>
              <a:t>seat-supplier_prod and engine-supplier_inv each hold 6,000 units</a:t>
            </a:r>
            <a:endParaRPr lang="en-US" sz="950" dirty="0"/>
          </a:p>
        </p:txBody>
      </p:sp>
      <p:sp>
        <p:nvSpPr>
          <p:cNvPr id="15" name="Shape 13"/>
          <p:cNvSpPr/>
          <p:nvPr/>
        </p:nvSpPr>
        <p:spPr>
          <a:xfrm>
            <a:off x="5632704" y="2834640"/>
            <a:ext cx="118872" cy="118872"/>
          </a:xfrm>
          <a:prstGeom prst="ellipse">
            <a:avLst/>
          </a:prstGeom>
          <a:solidFill>
            <a:srgbClr val="F6AD55"/>
          </a:solidFill>
          <a:ln w="12700">
            <a:solidFill>
              <a:srgbClr val="F6AD55"/>
            </a:solidFill>
            <a:prstDash val="solid"/>
          </a:ln>
        </p:spPr>
      </p:sp>
      <p:sp>
        <p:nvSpPr>
          <p:cNvPr id="16" name="Text 14"/>
          <p:cNvSpPr/>
          <p:nvPr/>
        </p:nvSpPr>
        <p:spPr>
          <a:xfrm>
            <a:off x="5815584" y="2779776"/>
            <a:ext cx="2999232" cy="402336"/>
          </a:xfrm>
          <a:prstGeom prst="rect">
            <a:avLst/>
          </a:prstGeom>
          <a:noFill/>
          <a:ln/>
        </p:spPr>
        <p:txBody>
          <a:bodyPr wrap="square" lIns="0" tIns="0" rIns="0" bIns="0" rtlCol="0" anchor="t"/>
          <a:lstStyle/>
          <a:p>
            <a:pPr indent="0" marL="0">
              <a:buNone/>
            </a:pPr>
            <a:r>
              <a:rPr lang="en-US" sz="950" dirty="0">
                <a:solidFill>
                  <a:srgbClr val="E2E8F0"/>
                </a:solidFill>
              </a:rPr>
              <a:t>gear-supplier_inv holds 4,000 units — proportional to gear complexity</a:t>
            </a:r>
            <a:endParaRPr lang="en-US" sz="950" dirty="0"/>
          </a:p>
        </p:txBody>
      </p:sp>
      <p:sp>
        <p:nvSpPr>
          <p:cNvPr id="17" name="Shape 15"/>
          <p:cNvSpPr/>
          <p:nvPr/>
        </p:nvSpPr>
        <p:spPr>
          <a:xfrm>
            <a:off x="5632704" y="3273552"/>
            <a:ext cx="118872" cy="118872"/>
          </a:xfrm>
          <a:prstGeom prst="ellipse">
            <a:avLst/>
          </a:prstGeom>
          <a:solidFill>
            <a:srgbClr val="F6AD55"/>
          </a:solidFill>
          <a:ln w="12700">
            <a:solidFill>
              <a:srgbClr val="F6AD55"/>
            </a:solidFill>
            <a:prstDash val="solid"/>
          </a:ln>
        </p:spPr>
      </p:sp>
      <p:sp>
        <p:nvSpPr>
          <p:cNvPr id="18" name="Text 16"/>
          <p:cNvSpPr/>
          <p:nvPr/>
        </p:nvSpPr>
        <p:spPr>
          <a:xfrm>
            <a:off x="5815584" y="3218688"/>
            <a:ext cx="2999232" cy="402336"/>
          </a:xfrm>
          <a:prstGeom prst="rect">
            <a:avLst/>
          </a:prstGeom>
          <a:noFill/>
          <a:ln/>
        </p:spPr>
        <p:txBody>
          <a:bodyPr wrap="square" lIns="0" tIns="0" rIns="0" bIns="0" rtlCol="0" anchor="t"/>
          <a:lstStyle/>
          <a:p>
            <a:pPr indent="0" marL="0">
              <a:buNone/>
            </a:pPr>
            <a:r>
              <a:rPr lang="en-US" sz="950" dirty="0">
                <a:solidFill>
                  <a:srgbClr val="E2E8F0"/>
                </a:solidFill>
              </a:rPr>
              <a:t>battery-supplier_prod holds only 1,860 units — thinnest buffer in the network</a:t>
            </a:r>
            <a:endParaRPr lang="en-US" sz="950" dirty="0"/>
          </a:p>
        </p:txBody>
      </p:sp>
      <p:sp>
        <p:nvSpPr>
          <p:cNvPr id="19" name="Shape 17"/>
          <p:cNvSpPr/>
          <p:nvPr/>
        </p:nvSpPr>
        <p:spPr>
          <a:xfrm>
            <a:off x="5559552" y="3712464"/>
            <a:ext cx="3328416" cy="256032"/>
          </a:xfrm>
          <a:prstGeom prst="rect">
            <a:avLst/>
          </a:prstGeom>
          <a:solidFill>
            <a:srgbClr val="122030"/>
          </a:solidFill>
          <a:ln w="12700">
            <a:solidFill>
              <a:srgbClr val="F6AD55"/>
            </a:solidFill>
            <a:prstDash val="solid"/>
          </a:ln>
        </p:spPr>
      </p:sp>
      <p:sp>
        <p:nvSpPr>
          <p:cNvPr id="20" name="Text 18"/>
          <p:cNvSpPr/>
          <p:nvPr/>
        </p:nvSpPr>
        <p:spPr>
          <a:xfrm>
            <a:off x="5632704" y="3712464"/>
            <a:ext cx="3200400" cy="256032"/>
          </a:xfrm>
          <a:prstGeom prst="rect">
            <a:avLst/>
          </a:prstGeom>
          <a:noFill/>
          <a:ln/>
        </p:spPr>
        <p:txBody>
          <a:bodyPr wrap="square" lIns="0" tIns="0" rIns="0" bIns="0" rtlCol="0" anchor="ctr"/>
          <a:lstStyle/>
          <a:p>
            <a:pPr indent="0" marL="0">
              <a:buNone/>
            </a:pPr>
            <a:r>
              <a:rPr lang="en-US" sz="900" b="1" dirty="0">
                <a:solidFill>
                  <a:srgbClr val="D4A843"/>
                </a:solidFill>
              </a:rPr>
              <a:t>Story insight</a:t>
            </a:r>
            <a:endParaRPr lang="en-US" sz="900" dirty="0"/>
          </a:p>
        </p:txBody>
      </p:sp>
      <p:sp>
        <p:nvSpPr>
          <p:cNvPr id="21" name="Shape 19"/>
          <p:cNvSpPr/>
          <p:nvPr/>
        </p:nvSpPr>
        <p:spPr>
          <a:xfrm>
            <a:off x="5559552" y="3968496"/>
            <a:ext cx="3328416" cy="914400"/>
          </a:xfrm>
          <a:prstGeom prst="rect">
            <a:avLst/>
          </a:prstGeom>
          <a:solidFill>
            <a:srgbClr val="0F1E2E"/>
          </a:solidFill>
          <a:ln w="12700">
            <a:solidFill>
              <a:srgbClr val="0F1E2E"/>
            </a:solidFill>
            <a:prstDash val="solid"/>
          </a:ln>
        </p:spPr>
      </p:sp>
      <p:sp>
        <p:nvSpPr>
          <p:cNvPr id="22" name="Text 20"/>
          <p:cNvSpPr/>
          <p:nvPr/>
        </p:nvSpPr>
        <p:spPr>
          <a:xfrm>
            <a:off x="5632704" y="3986784"/>
            <a:ext cx="3200400" cy="877824"/>
          </a:xfrm>
          <a:prstGeom prst="rect">
            <a:avLst/>
          </a:prstGeom>
          <a:noFill/>
          <a:ln/>
        </p:spPr>
        <p:txBody>
          <a:bodyPr wrap="square" lIns="0" tIns="0" rIns="0" bIns="0" rtlCol="0" anchor="t"/>
          <a:lstStyle/>
          <a:p>
            <a:pPr indent="0" marL="0">
              <a:buNone/>
            </a:pPr>
            <a:r>
              <a:rPr lang="en-US" sz="900" dirty="0">
                <a:solidFill>
                  <a:srgbClr val="E2E8F0"/>
                </a:solidFill>
              </a:rPr>
              <a:t>The physical buffer is concentrated at convergence points — ZP7 and the Tier-1 inventory nodes. But the battery chain's opening stock is proportionally the thinnest. One missed delivery drains it the fastest with no time to recover given the 20-week lead time.</a:t>
            </a:r>
            <a:endParaRPr lang="en-US" sz="900" dirty="0"/>
          </a:p>
        </p:txBody>
      </p:sp>
      <p:sp>
        <p:nvSpPr>
          <p:cNvPr id="23" name="Text 21"/>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
        <p:nvSpPr>
          <p:cNvPr id="24" name="Shape 22"/>
          <p:cNvSpPr/>
          <p:nvPr/>
        </p:nvSpPr>
        <p:spPr>
          <a:xfrm>
            <a:off x="256032" y="1207008"/>
            <a:ext cx="5120640" cy="3346704"/>
          </a:xfrm>
          <a:prstGeom prst="rect">
            <a:avLst/>
          </a:prstGeom>
          <a:solidFill>
            <a:srgbClr val="0F2030"/>
          </a:solidFill>
          <a:ln w="10160">
            <a:solidFill>
              <a:srgbClr val="5B8DB8"/>
            </a:solidFill>
            <a:prstDash val="solid"/>
          </a:ln>
        </p:spPr>
      </p:sp>
      <p:sp>
        <p:nvSpPr>
          <p:cNvPr id="25" name="Text 23"/>
          <p:cNvSpPr/>
          <p:nvPr/>
        </p:nvSpPr>
        <p:spPr>
          <a:xfrm>
            <a:off x="347472" y="1371600"/>
            <a:ext cx="4937760" cy="201168"/>
          </a:xfrm>
          <a:prstGeom prst="rect">
            <a:avLst/>
          </a:prstGeom>
          <a:noFill/>
          <a:ln/>
        </p:spPr>
        <p:txBody>
          <a:bodyPr wrap="square" lIns="0" tIns="0" rIns="0" bIns="0" rtlCol="0" anchor="ctr"/>
          <a:lstStyle/>
          <a:p>
            <a:pPr indent="0" marL="0">
              <a:buNone/>
            </a:pPr>
            <a:r>
              <a:rPr lang="en-US" sz="850" dirty="0">
                <a:solidFill>
                  <a:srgbClr val="94A3B8"/>
                </a:solidFill>
              </a:rPr>
              <a:t>ZP7 (OEM Assembly)</a:t>
            </a:r>
            <a:endParaRPr lang="en-US" sz="850" dirty="0"/>
          </a:p>
        </p:txBody>
      </p:sp>
      <p:sp>
        <p:nvSpPr>
          <p:cNvPr id="26" name="Shape 24"/>
          <p:cNvSpPr/>
          <p:nvPr/>
        </p:nvSpPr>
        <p:spPr>
          <a:xfrm>
            <a:off x="347472" y="1591056"/>
            <a:ext cx="4206240" cy="256032"/>
          </a:xfrm>
          <a:prstGeom prst="rect">
            <a:avLst/>
          </a:prstGeom>
          <a:solidFill>
            <a:srgbClr val="F6AD55"/>
          </a:solidFill>
          <a:ln w="12700">
            <a:solidFill>
              <a:srgbClr val="F6AD55"/>
            </a:solidFill>
            <a:prstDash val="solid"/>
          </a:ln>
        </p:spPr>
      </p:sp>
      <p:sp>
        <p:nvSpPr>
          <p:cNvPr id="27" name="Text 25"/>
          <p:cNvSpPr/>
          <p:nvPr/>
        </p:nvSpPr>
        <p:spPr>
          <a:xfrm>
            <a:off x="4626864" y="1591056"/>
            <a:ext cx="914400" cy="256032"/>
          </a:xfrm>
          <a:prstGeom prst="rect">
            <a:avLst/>
          </a:prstGeom>
          <a:noFill/>
          <a:ln/>
        </p:spPr>
        <p:txBody>
          <a:bodyPr wrap="square" lIns="0" tIns="0" rIns="0" bIns="0" rtlCol="0" anchor="ctr"/>
          <a:lstStyle/>
          <a:p>
            <a:pPr indent="0" marL="0">
              <a:buNone/>
            </a:pPr>
            <a:r>
              <a:rPr lang="en-US" sz="850" b="1" dirty="0">
                <a:solidFill>
                  <a:srgbClr val="FFFFFF"/>
                </a:solidFill>
              </a:rPr>
              <a:t>6,052</a:t>
            </a:r>
            <a:endParaRPr lang="en-US" sz="850" dirty="0"/>
          </a:p>
        </p:txBody>
      </p:sp>
      <p:sp>
        <p:nvSpPr>
          <p:cNvPr id="28" name="Text 26"/>
          <p:cNvSpPr/>
          <p:nvPr/>
        </p:nvSpPr>
        <p:spPr>
          <a:xfrm>
            <a:off x="347472" y="2011680"/>
            <a:ext cx="4937760" cy="201168"/>
          </a:xfrm>
          <a:prstGeom prst="rect">
            <a:avLst/>
          </a:prstGeom>
          <a:noFill/>
          <a:ln/>
        </p:spPr>
        <p:txBody>
          <a:bodyPr wrap="square" lIns="0" tIns="0" rIns="0" bIns="0" rtlCol="0" anchor="ctr"/>
          <a:lstStyle/>
          <a:p>
            <a:pPr indent="0" marL="0">
              <a:buNone/>
            </a:pPr>
            <a:r>
              <a:rPr lang="en-US" sz="850" dirty="0">
                <a:solidFill>
                  <a:srgbClr val="94A3B8"/>
                </a:solidFill>
              </a:rPr>
              <a:t>seat-supplier_prod</a:t>
            </a:r>
            <a:endParaRPr lang="en-US" sz="850" dirty="0"/>
          </a:p>
        </p:txBody>
      </p:sp>
      <p:sp>
        <p:nvSpPr>
          <p:cNvPr id="29" name="Shape 27"/>
          <p:cNvSpPr/>
          <p:nvPr/>
        </p:nvSpPr>
        <p:spPr>
          <a:xfrm>
            <a:off x="347472" y="2231136"/>
            <a:ext cx="4170099" cy="256032"/>
          </a:xfrm>
          <a:prstGeom prst="rect">
            <a:avLst/>
          </a:prstGeom>
          <a:solidFill>
            <a:srgbClr val="5B8DB8"/>
          </a:solidFill>
          <a:ln w="12700">
            <a:solidFill>
              <a:srgbClr val="5B8DB8"/>
            </a:solidFill>
            <a:prstDash val="solid"/>
          </a:ln>
        </p:spPr>
      </p:sp>
      <p:sp>
        <p:nvSpPr>
          <p:cNvPr id="30" name="Text 28"/>
          <p:cNvSpPr/>
          <p:nvPr/>
        </p:nvSpPr>
        <p:spPr>
          <a:xfrm>
            <a:off x="4590723" y="2231136"/>
            <a:ext cx="914400" cy="256032"/>
          </a:xfrm>
          <a:prstGeom prst="rect">
            <a:avLst/>
          </a:prstGeom>
          <a:noFill/>
          <a:ln/>
        </p:spPr>
        <p:txBody>
          <a:bodyPr wrap="square" lIns="0" tIns="0" rIns="0" bIns="0" rtlCol="0" anchor="ctr"/>
          <a:lstStyle/>
          <a:p>
            <a:pPr indent="0" marL="0">
              <a:buNone/>
            </a:pPr>
            <a:r>
              <a:rPr lang="en-US" sz="850" b="1" dirty="0">
                <a:solidFill>
                  <a:srgbClr val="FFFFFF"/>
                </a:solidFill>
              </a:rPr>
              <a:t>6,000</a:t>
            </a:r>
            <a:endParaRPr lang="en-US" sz="850" dirty="0"/>
          </a:p>
        </p:txBody>
      </p:sp>
      <p:sp>
        <p:nvSpPr>
          <p:cNvPr id="31" name="Text 29"/>
          <p:cNvSpPr/>
          <p:nvPr/>
        </p:nvSpPr>
        <p:spPr>
          <a:xfrm>
            <a:off x="347472" y="2651760"/>
            <a:ext cx="4937760" cy="201168"/>
          </a:xfrm>
          <a:prstGeom prst="rect">
            <a:avLst/>
          </a:prstGeom>
          <a:noFill/>
          <a:ln/>
        </p:spPr>
        <p:txBody>
          <a:bodyPr wrap="square" lIns="0" tIns="0" rIns="0" bIns="0" rtlCol="0" anchor="ctr"/>
          <a:lstStyle/>
          <a:p>
            <a:pPr indent="0" marL="0">
              <a:buNone/>
            </a:pPr>
            <a:r>
              <a:rPr lang="en-US" sz="850" dirty="0">
                <a:solidFill>
                  <a:srgbClr val="94A3B8"/>
                </a:solidFill>
              </a:rPr>
              <a:t>engine-supplier_inv</a:t>
            </a:r>
            <a:endParaRPr lang="en-US" sz="850" dirty="0"/>
          </a:p>
        </p:txBody>
      </p:sp>
      <p:sp>
        <p:nvSpPr>
          <p:cNvPr id="32" name="Shape 30"/>
          <p:cNvSpPr/>
          <p:nvPr/>
        </p:nvSpPr>
        <p:spPr>
          <a:xfrm>
            <a:off x="347472" y="2871216"/>
            <a:ext cx="4170099" cy="256032"/>
          </a:xfrm>
          <a:prstGeom prst="rect">
            <a:avLst/>
          </a:prstGeom>
          <a:solidFill>
            <a:srgbClr val="5B8DB8"/>
          </a:solidFill>
          <a:ln w="12700">
            <a:solidFill>
              <a:srgbClr val="5B8DB8"/>
            </a:solidFill>
            <a:prstDash val="solid"/>
          </a:ln>
        </p:spPr>
      </p:sp>
      <p:sp>
        <p:nvSpPr>
          <p:cNvPr id="33" name="Text 31"/>
          <p:cNvSpPr/>
          <p:nvPr/>
        </p:nvSpPr>
        <p:spPr>
          <a:xfrm>
            <a:off x="4590723" y="2871216"/>
            <a:ext cx="914400" cy="256032"/>
          </a:xfrm>
          <a:prstGeom prst="rect">
            <a:avLst/>
          </a:prstGeom>
          <a:noFill/>
          <a:ln/>
        </p:spPr>
        <p:txBody>
          <a:bodyPr wrap="square" lIns="0" tIns="0" rIns="0" bIns="0" rtlCol="0" anchor="ctr"/>
          <a:lstStyle/>
          <a:p>
            <a:pPr indent="0" marL="0">
              <a:buNone/>
            </a:pPr>
            <a:r>
              <a:rPr lang="en-US" sz="850" b="1" dirty="0">
                <a:solidFill>
                  <a:srgbClr val="FFFFFF"/>
                </a:solidFill>
              </a:rPr>
              <a:t>6,000</a:t>
            </a:r>
            <a:endParaRPr lang="en-US" sz="850" dirty="0"/>
          </a:p>
        </p:txBody>
      </p:sp>
      <p:sp>
        <p:nvSpPr>
          <p:cNvPr id="34" name="Text 32"/>
          <p:cNvSpPr/>
          <p:nvPr/>
        </p:nvSpPr>
        <p:spPr>
          <a:xfrm>
            <a:off x="347472" y="3291840"/>
            <a:ext cx="4937760" cy="201168"/>
          </a:xfrm>
          <a:prstGeom prst="rect">
            <a:avLst/>
          </a:prstGeom>
          <a:noFill/>
          <a:ln/>
        </p:spPr>
        <p:txBody>
          <a:bodyPr wrap="square" lIns="0" tIns="0" rIns="0" bIns="0" rtlCol="0" anchor="ctr"/>
          <a:lstStyle/>
          <a:p>
            <a:pPr indent="0" marL="0">
              <a:buNone/>
            </a:pPr>
            <a:r>
              <a:rPr lang="en-US" sz="850" dirty="0">
                <a:solidFill>
                  <a:srgbClr val="94A3B8"/>
                </a:solidFill>
              </a:rPr>
              <a:t>gear-supplier_inv</a:t>
            </a:r>
            <a:endParaRPr lang="en-US" sz="850" dirty="0"/>
          </a:p>
        </p:txBody>
      </p:sp>
      <p:sp>
        <p:nvSpPr>
          <p:cNvPr id="35" name="Shape 33"/>
          <p:cNvSpPr/>
          <p:nvPr/>
        </p:nvSpPr>
        <p:spPr>
          <a:xfrm>
            <a:off x="347472" y="3511296"/>
            <a:ext cx="2780066" cy="256032"/>
          </a:xfrm>
          <a:prstGeom prst="rect">
            <a:avLst/>
          </a:prstGeom>
          <a:solidFill>
            <a:srgbClr val="5B8DB8"/>
          </a:solidFill>
          <a:ln w="12700">
            <a:solidFill>
              <a:srgbClr val="5B8DB8"/>
            </a:solidFill>
            <a:prstDash val="solid"/>
          </a:ln>
        </p:spPr>
      </p:sp>
      <p:sp>
        <p:nvSpPr>
          <p:cNvPr id="36" name="Text 34"/>
          <p:cNvSpPr/>
          <p:nvPr/>
        </p:nvSpPr>
        <p:spPr>
          <a:xfrm>
            <a:off x="3200690" y="3511296"/>
            <a:ext cx="914400" cy="256032"/>
          </a:xfrm>
          <a:prstGeom prst="rect">
            <a:avLst/>
          </a:prstGeom>
          <a:noFill/>
          <a:ln/>
        </p:spPr>
        <p:txBody>
          <a:bodyPr wrap="square" lIns="0" tIns="0" rIns="0" bIns="0" rtlCol="0" anchor="ctr"/>
          <a:lstStyle/>
          <a:p>
            <a:pPr indent="0" marL="0">
              <a:buNone/>
            </a:pPr>
            <a:r>
              <a:rPr lang="en-US" sz="850" b="1" dirty="0">
                <a:solidFill>
                  <a:srgbClr val="FFFFFF"/>
                </a:solidFill>
              </a:rPr>
              <a:t>4,000</a:t>
            </a:r>
            <a:endParaRPr lang="en-US" sz="850" dirty="0"/>
          </a:p>
        </p:txBody>
      </p:sp>
      <p:sp>
        <p:nvSpPr>
          <p:cNvPr id="37" name="Text 35"/>
          <p:cNvSpPr/>
          <p:nvPr/>
        </p:nvSpPr>
        <p:spPr>
          <a:xfrm>
            <a:off x="347472" y="3931920"/>
            <a:ext cx="4937760" cy="201168"/>
          </a:xfrm>
          <a:prstGeom prst="rect">
            <a:avLst/>
          </a:prstGeom>
          <a:noFill/>
          <a:ln/>
        </p:spPr>
        <p:txBody>
          <a:bodyPr wrap="square" lIns="0" tIns="0" rIns="0" bIns="0" rtlCol="0" anchor="ctr"/>
          <a:lstStyle/>
          <a:p>
            <a:pPr indent="0" marL="0">
              <a:buNone/>
            </a:pPr>
            <a:r>
              <a:rPr lang="en-US" sz="850" dirty="0">
                <a:solidFill>
                  <a:srgbClr val="94A3B8"/>
                </a:solidFill>
              </a:rPr>
              <a:t>battery-supplier_prod</a:t>
            </a:r>
            <a:endParaRPr lang="en-US" sz="850" dirty="0"/>
          </a:p>
        </p:txBody>
      </p:sp>
      <p:sp>
        <p:nvSpPr>
          <p:cNvPr id="38" name="Shape 36"/>
          <p:cNvSpPr/>
          <p:nvPr/>
        </p:nvSpPr>
        <p:spPr>
          <a:xfrm>
            <a:off x="347472" y="4151376"/>
            <a:ext cx="1292731" cy="256032"/>
          </a:xfrm>
          <a:prstGeom prst="rect">
            <a:avLst/>
          </a:prstGeom>
          <a:solidFill>
            <a:srgbClr val="F97316"/>
          </a:solidFill>
          <a:ln w="12700">
            <a:solidFill>
              <a:srgbClr val="F97316"/>
            </a:solidFill>
            <a:prstDash val="solid"/>
          </a:ln>
        </p:spPr>
      </p:sp>
      <p:sp>
        <p:nvSpPr>
          <p:cNvPr id="39" name="Text 37"/>
          <p:cNvSpPr/>
          <p:nvPr/>
        </p:nvSpPr>
        <p:spPr>
          <a:xfrm>
            <a:off x="1713355" y="4151376"/>
            <a:ext cx="914400" cy="256032"/>
          </a:xfrm>
          <a:prstGeom prst="rect">
            <a:avLst/>
          </a:prstGeom>
          <a:noFill/>
          <a:ln/>
        </p:spPr>
        <p:txBody>
          <a:bodyPr wrap="square" lIns="0" tIns="0" rIns="0" bIns="0" rtlCol="0" anchor="ctr"/>
          <a:lstStyle/>
          <a:p>
            <a:pPr indent="0" marL="0">
              <a:buNone/>
            </a:pPr>
            <a:r>
              <a:rPr lang="en-US" sz="850" b="1" dirty="0">
                <a:solidFill>
                  <a:srgbClr val="FFFFFF"/>
                </a:solidFill>
              </a:rPr>
              <a:t>1,860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274320" y="137160"/>
            <a:ext cx="960120" cy="329184"/>
          </a:xfrm>
          <a:prstGeom prst="rect">
            <a:avLst/>
          </a:prstGeom>
          <a:solidFill>
            <a:srgbClr val="5B8DB8"/>
          </a:solidFill>
          <a:ln w="12700">
            <a:solidFill>
              <a:srgbClr val="5B8DB8"/>
            </a:solidFill>
            <a:prstDash val="solid"/>
          </a:ln>
        </p:spPr>
      </p:sp>
      <p:sp>
        <p:nvSpPr>
          <p:cNvPr id="4" name="Text 2"/>
          <p:cNvSpPr/>
          <p:nvPr/>
        </p:nvSpPr>
        <p:spPr>
          <a:xfrm>
            <a:off x="274320" y="137160"/>
            <a:ext cx="960120" cy="329184"/>
          </a:xfrm>
          <a:prstGeom prst="rect">
            <a:avLst/>
          </a:prstGeom>
          <a:noFill/>
          <a:ln/>
        </p:spPr>
        <p:txBody>
          <a:bodyPr wrap="square" lIns="0" tIns="0" rIns="0" bIns="0" rtlCol="0" anchor="ctr"/>
          <a:lstStyle/>
          <a:p>
            <a:pPr algn="ctr" indent="0" marL="0">
              <a:buNone/>
            </a:pPr>
            <a:r>
              <a:rPr lang="en-US" sz="1000" b="1" dirty="0">
                <a:solidFill>
                  <a:srgbClr val="FFFFFF"/>
                </a:solidFill>
              </a:rPr>
              <a:t>EDA 9</a:t>
            </a:r>
            <a:endParaRPr lang="en-US" sz="1000" dirty="0"/>
          </a:p>
        </p:txBody>
      </p:sp>
      <p:sp>
        <p:nvSpPr>
          <p:cNvPr id="5" name="Text 3"/>
          <p:cNvSpPr/>
          <p:nvPr/>
        </p:nvSpPr>
        <p:spPr>
          <a:xfrm>
            <a:off x="1371600" y="128016"/>
            <a:ext cx="7498080" cy="384048"/>
          </a:xfrm>
          <a:prstGeom prst="rect">
            <a:avLst/>
          </a:prstGeom>
          <a:noFill/>
          <a:ln/>
        </p:spPr>
        <p:txBody>
          <a:bodyPr wrap="square" lIns="0" tIns="0" rIns="0" bIns="0" rtlCol="0" anchor="ctr"/>
          <a:lstStyle/>
          <a:p>
            <a:pPr indent="0" marL="0">
              <a:buNone/>
            </a:pPr>
            <a:r>
              <a:rPr lang="en-US" sz="1600" b="1" dirty="0">
                <a:solidFill>
                  <a:srgbClr val="FFFFFF"/>
                </a:solidFill>
              </a:rPr>
              <a:t>Pipeline Stock Already In Transit — What is locked in before week 1?</a:t>
            </a:r>
            <a:endParaRPr lang="en-US" sz="1600" dirty="0"/>
          </a:p>
        </p:txBody>
      </p:sp>
      <p:sp>
        <p:nvSpPr>
          <p:cNvPr id="6" name="Shape 4"/>
          <p:cNvSpPr/>
          <p:nvPr/>
        </p:nvSpPr>
        <p:spPr>
          <a:xfrm>
            <a:off x="256032" y="749808"/>
            <a:ext cx="8631936" cy="347472"/>
          </a:xfrm>
          <a:prstGeom prst="rect">
            <a:avLst/>
          </a:prstGeom>
          <a:solidFill>
            <a:srgbClr val="162032"/>
          </a:solidFill>
          <a:ln w="13970">
            <a:solidFill>
              <a:srgbClr val="F6AD55"/>
            </a:solidFill>
            <a:prstDash val="solid"/>
          </a:ln>
        </p:spPr>
      </p:sp>
      <p:sp>
        <p:nvSpPr>
          <p:cNvPr id="7" name="Text 5"/>
          <p:cNvSpPr/>
          <p:nvPr/>
        </p:nvSpPr>
        <p:spPr>
          <a:xfrm>
            <a:off x="384048" y="749808"/>
            <a:ext cx="8412480" cy="347472"/>
          </a:xfrm>
          <a:prstGeom prst="rect">
            <a:avLst/>
          </a:prstGeom>
          <a:noFill/>
          <a:ln/>
        </p:spPr>
        <p:txBody>
          <a:bodyPr wrap="square" lIns="0" tIns="0" rIns="0" bIns="0" rtlCol="0" anchor="ctr"/>
          <a:lstStyle/>
          <a:p>
            <a:pPr indent="0" marL="0">
              <a:buNone/>
            </a:pPr>
            <a:r>
              <a:rPr lang="en-US" sz="1000" b="1" dirty="0">
                <a:solidFill>
                  <a:srgbClr val="D4A843"/>
                </a:solidFill>
              </a:rPr>
              <a:t>Manager asks:  </a:t>
            </a:r>
            <a:pPr indent="0" marL="0">
              <a:buNone/>
            </a:pPr>
            <a:r>
              <a:rPr lang="en-US" sz="1000" i="1" dirty="0">
                <a:solidFill>
                  <a:srgbClr val="FFFFFF"/>
                </a:solidFill>
              </a:rPr>
              <a:t>Before week 1 even starts, how much stock is already committed and moving through our supply routes?</a:t>
            </a:r>
            <a:endParaRPr lang="en-US" sz="1000" dirty="0"/>
          </a:p>
        </p:txBody>
      </p:sp>
      <p:sp>
        <p:nvSpPr>
          <p:cNvPr id="8" name="Shape 6"/>
          <p:cNvSpPr/>
          <p:nvPr/>
        </p:nvSpPr>
        <p:spPr>
          <a:xfrm>
            <a:off x="5559552" y="1536192"/>
            <a:ext cx="3328416" cy="310896"/>
          </a:xfrm>
          <a:prstGeom prst="rect">
            <a:avLst/>
          </a:prstGeom>
          <a:solidFill>
            <a:srgbClr val="5B8DB8"/>
          </a:solidFill>
          <a:ln w="12700">
            <a:solidFill>
              <a:srgbClr val="5B8DB8"/>
            </a:solidFill>
            <a:prstDash val="solid"/>
          </a:ln>
        </p:spPr>
      </p:sp>
      <p:sp>
        <p:nvSpPr>
          <p:cNvPr id="9" name="Text 7"/>
          <p:cNvSpPr/>
          <p:nvPr/>
        </p:nvSpPr>
        <p:spPr>
          <a:xfrm>
            <a:off x="5559552" y="1536192"/>
            <a:ext cx="3328416" cy="310896"/>
          </a:xfrm>
          <a:prstGeom prst="rect">
            <a:avLst/>
          </a:prstGeom>
          <a:noFill/>
          <a:ln/>
        </p:spPr>
        <p:txBody>
          <a:bodyPr wrap="square" lIns="0" tIns="101600" rIns="0" bIns="0" rtlCol="0" anchor="ctr"/>
          <a:lstStyle/>
          <a:p>
            <a:pPr algn="l" indent="0" marL="0">
              <a:buNone/>
            </a:pPr>
            <a:r>
              <a:rPr lang="en-US" sz="1100" b="1" dirty="0">
                <a:solidFill>
                  <a:srgbClr val="FFFFFF"/>
                </a:solidFill>
              </a:rPr>
              <a:t>Key Findings</a:t>
            </a:r>
            <a:endParaRPr lang="en-US" sz="1100" dirty="0"/>
          </a:p>
        </p:txBody>
      </p:sp>
      <p:sp>
        <p:nvSpPr>
          <p:cNvPr id="10" name="Shape 8"/>
          <p:cNvSpPr/>
          <p:nvPr/>
        </p:nvSpPr>
        <p:spPr>
          <a:xfrm>
            <a:off x="5559552" y="1847088"/>
            <a:ext cx="3328416" cy="1828800"/>
          </a:xfrm>
          <a:prstGeom prst="rect">
            <a:avLst/>
          </a:prstGeom>
          <a:solidFill>
            <a:srgbClr val="1A2E44"/>
          </a:solidFill>
          <a:ln w="12700">
            <a:solidFill>
              <a:srgbClr val="1A2E44"/>
            </a:solidFill>
            <a:prstDash val="solid"/>
          </a:ln>
        </p:spPr>
      </p:sp>
      <p:sp>
        <p:nvSpPr>
          <p:cNvPr id="11" name="Shape 9"/>
          <p:cNvSpPr/>
          <p:nvPr/>
        </p:nvSpPr>
        <p:spPr>
          <a:xfrm>
            <a:off x="5632704" y="1956816"/>
            <a:ext cx="118872" cy="118872"/>
          </a:xfrm>
          <a:prstGeom prst="ellipse">
            <a:avLst/>
          </a:prstGeom>
          <a:solidFill>
            <a:srgbClr val="F6AD55"/>
          </a:solidFill>
          <a:ln w="12700">
            <a:solidFill>
              <a:srgbClr val="F6AD55"/>
            </a:solidFill>
            <a:prstDash val="solid"/>
          </a:ln>
        </p:spPr>
      </p:sp>
      <p:sp>
        <p:nvSpPr>
          <p:cNvPr id="12" name="Text 10"/>
          <p:cNvSpPr/>
          <p:nvPr/>
        </p:nvSpPr>
        <p:spPr>
          <a:xfrm>
            <a:off x="5815584" y="1901952"/>
            <a:ext cx="2999232" cy="402336"/>
          </a:xfrm>
          <a:prstGeom prst="rect">
            <a:avLst/>
          </a:prstGeom>
          <a:noFill/>
          <a:ln/>
        </p:spPr>
        <p:txBody>
          <a:bodyPr wrap="square" lIns="0" tIns="0" rIns="0" bIns="0" rtlCol="0" anchor="t"/>
          <a:lstStyle/>
          <a:p>
            <a:pPr indent="0" marL="0">
              <a:buNone/>
            </a:pPr>
            <a:r>
              <a:rPr lang="en-US" sz="950" dirty="0">
                <a:solidFill>
                  <a:srgbClr val="E2E8F0"/>
                </a:solidFill>
              </a:rPr>
              <a:t>seat-supplier_trans → seat-supplier_prod: 56,000 units in transit — ordered up to 23 weeks ago</a:t>
            </a:r>
            <a:endParaRPr lang="en-US" sz="950" dirty="0"/>
          </a:p>
        </p:txBody>
      </p:sp>
      <p:sp>
        <p:nvSpPr>
          <p:cNvPr id="13" name="Shape 11"/>
          <p:cNvSpPr/>
          <p:nvPr/>
        </p:nvSpPr>
        <p:spPr>
          <a:xfrm>
            <a:off x="5632704" y="2395728"/>
            <a:ext cx="118872" cy="118872"/>
          </a:xfrm>
          <a:prstGeom prst="ellipse">
            <a:avLst/>
          </a:prstGeom>
          <a:solidFill>
            <a:srgbClr val="F6AD55"/>
          </a:solidFill>
          <a:ln w="12700">
            <a:solidFill>
              <a:srgbClr val="F6AD55"/>
            </a:solidFill>
            <a:prstDash val="solid"/>
          </a:ln>
        </p:spPr>
      </p:sp>
      <p:sp>
        <p:nvSpPr>
          <p:cNvPr id="14" name="Text 12"/>
          <p:cNvSpPr/>
          <p:nvPr/>
        </p:nvSpPr>
        <p:spPr>
          <a:xfrm>
            <a:off x="5815584" y="2340864"/>
            <a:ext cx="2999232" cy="402336"/>
          </a:xfrm>
          <a:prstGeom prst="rect">
            <a:avLst/>
          </a:prstGeom>
          <a:noFill/>
          <a:ln/>
        </p:spPr>
        <p:txBody>
          <a:bodyPr wrap="square" lIns="0" tIns="0" rIns="0" bIns="0" rtlCol="0" anchor="t"/>
          <a:lstStyle/>
          <a:p>
            <a:pPr indent="0" marL="0">
              <a:buNone/>
            </a:pPr>
            <a:r>
              <a:rPr lang="en-US" sz="950" dirty="0">
                <a:solidFill>
                  <a:srgbClr val="E2E8F0"/>
                </a:solidFill>
              </a:rPr>
              <a:t>battery-supplier_trans → battery-supplier_prod: 35,860 units locked in pipeline</a:t>
            </a:r>
            <a:endParaRPr lang="en-US" sz="950" dirty="0"/>
          </a:p>
        </p:txBody>
      </p:sp>
      <p:sp>
        <p:nvSpPr>
          <p:cNvPr id="15" name="Shape 13"/>
          <p:cNvSpPr/>
          <p:nvPr/>
        </p:nvSpPr>
        <p:spPr>
          <a:xfrm>
            <a:off x="5632704" y="2834640"/>
            <a:ext cx="118872" cy="118872"/>
          </a:xfrm>
          <a:prstGeom prst="ellipse">
            <a:avLst/>
          </a:prstGeom>
          <a:solidFill>
            <a:srgbClr val="F6AD55"/>
          </a:solidFill>
          <a:ln w="12700">
            <a:solidFill>
              <a:srgbClr val="F6AD55"/>
            </a:solidFill>
            <a:prstDash val="solid"/>
          </a:ln>
        </p:spPr>
      </p:sp>
      <p:sp>
        <p:nvSpPr>
          <p:cNvPr id="16" name="Text 14"/>
          <p:cNvSpPr/>
          <p:nvPr/>
        </p:nvSpPr>
        <p:spPr>
          <a:xfrm>
            <a:off x="5815584" y="2779776"/>
            <a:ext cx="2999232" cy="402336"/>
          </a:xfrm>
          <a:prstGeom prst="rect">
            <a:avLst/>
          </a:prstGeom>
          <a:noFill/>
          <a:ln/>
        </p:spPr>
        <p:txBody>
          <a:bodyPr wrap="square" lIns="0" tIns="0" rIns="0" bIns="0" rtlCol="0" anchor="t"/>
          <a:lstStyle/>
          <a:p>
            <a:pPr indent="0" marL="0">
              <a:buNone/>
            </a:pPr>
            <a:r>
              <a:rPr lang="en-US" sz="950" dirty="0">
                <a:solidFill>
                  <a:srgbClr val="E2E8F0"/>
                </a:solidFill>
              </a:rPr>
              <a:t>gear and engine corridors: 4,000 and 2,000 units each already in motion</a:t>
            </a:r>
            <a:endParaRPr lang="en-US" sz="950" dirty="0"/>
          </a:p>
        </p:txBody>
      </p:sp>
      <p:sp>
        <p:nvSpPr>
          <p:cNvPr id="17" name="Shape 15"/>
          <p:cNvSpPr/>
          <p:nvPr/>
        </p:nvSpPr>
        <p:spPr>
          <a:xfrm>
            <a:off x="5632704" y="3273552"/>
            <a:ext cx="118872" cy="118872"/>
          </a:xfrm>
          <a:prstGeom prst="ellipse">
            <a:avLst/>
          </a:prstGeom>
          <a:solidFill>
            <a:srgbClr val="F6AD55"/>
          </a:solidFill>
          <a:ln w="12700">
            <a:solidFill>
              <a:srgbClr val="F6AD55"/>
            </a:solidFill>
            <a:prstDash val="solid"/>
          </a:ln>
        </p:spPr>
      </p:sp>
      <p:sp>
        <p:nvSpPr>
          <p:cNvPr id="18" name="Text 16"/>
          <p:cNvSpPr/>
          <p:nvPr/>
        </p:nvSpPr>
        <p:spPr>
          <a:xfrm>
            <a:off x="5815584" y="3218688"/>
            <a:ext cx="2999232" cy="402336"/>
          </a:xfrm>
          <a:prstGeom prst="rect">
            <a:avLst/>
          </a:prstGeom>
          <a:noFill/>
          <a:ln/>
        </p:spPr>
        <p:txBody>
          <a:bodyPr wrap="square" lIns="0" tIns="0" rIns="0" bIns="0" rtlCol="0" anchor="t"/>
          <a:lstStyle/>
          <a:p>
            <a:pPr indent="0" marL="0">
              <a:buNone/>
            </a:pPr>
            <a:r>
              <a:rPr lang="en-US" sz="950" dirty="0">
                <a:solidFill>
                  <a:srgbClr val="E2E8F0"/>
                </a:solidFill>
              </a:rPr>
              <a:t>These orders cannot be changed, redirected or cancelled — they are autopilot stock</a:t>
            </a:r>
            <a:endParaRPr lang="en-US" sz="950" dirty="0"/>
          </a:p>
        </p:txBody>
      </p:sp>
      <p:sp>
        <p:nvSpPr>
          <p:cNvPr id="19" name="Shape 17"/>
          <p:cNvSpPr/>
          <p:nvPr/>
        </p:nvSpPr>
        <p:spPr>
          <a:xfrm>
            <a:off x="5559552" y="3712464"/>
            <a:ext cx="3328416" cy="256032"/>
          </a:xfrm>
          <a:prstGeom prst="rect">
            <a:avLst/>
          </a:prstGeom>
          <a:solidFill>
            <a:srgbClr val="122030"/>
          </a:solidFill>
          <a:ln w="12700">
            <a:solidFill>
              <a:srgbClr val="F6AD55"/>
            </a:solidFill>
            <a:prstDash val="solid"/>
          </a:ln>
        </p:spPr>
      </p:sp>
      <p:sp>
        <p:nvSpPr>
          <p:cNvPr id="20" name="Text 18"/>
          <p:cNvSpPr/>
          <p:nvPr/>
        </p:nvSpPr>
        <p:spPr>
          <a:xfrm>
            <a:off x="5632704" y="3712464"/>
            <a:ext cx="3200400" cy="256032"/>
          </a:xfrm>
          <a:prstGeom prst="rect">
            <a:avLst/>
          </a:prstGeom>
          <a:noFill/>
          <a:ln/>
        </p:spPr>
        <p:txBody>
          <a:bodyPr wrap="square" lIns="0" tIns="0" rIns="0" bIns="0" rtlCol="0" anchor="ctr"/>
          <a:lstStyle/>
          <a:p>
            <a:pPr indent="0" marL="0">
              <a:buNone/>
            </a:pPr>
            <a:r>
              <a:rPr lang="en-US" sz="900" b="1" dirty="0">
                <a:solidFill>
                  <a:srgbClr val="D4A843"/>
                </a:solidFill>
              </a:rPr>
              <a:t>Story insight</a:t>
            </a:r>
            <a:endParaRPr lang="en-US" sz="900" dirty="0"/>
          </a:p>
        </p:txBody>
      </p:sp>
      <p:sp>
        <p:nvSpPr>
          <p:cNvPr id="21" name="Shape 19"/>
          <p:cNvSpPr/>
          <p:nvPr/>
        </p:nvSpPr>
        <p:spPr>
          <a:xfrm>
            <a:off x="5559552" y="3968496"/>
            <a:ext cx="3328416" cy="914400"/>
          </a:xfrm>
          <a:prstGeom prst="rect">
            <a:avLst/>
          </a:prstGeom>
          <a:solidFill>
            <a:srgbClr val="0F1E2E"/>
          </a:solidFill>
          <a:ln w="12700">
            <a:solidFill>
              <a:srgbClr val="0F1E2E"/>
            </a:solidFill>
            <a:prstDash val="solid"/>
          </a:ln>
        </p:spPr>
      </p:sp>
      <p:sp>
        <p:nvSpPr>
          <p:cNvPr id="22" name="Text 20"/>
          <p:cNvSpPr/>
          <p:nvPr/>
        </p:nvSpPr>
        <p:spPr>
          <a:xfrm>
            <a:off x="5632704" y="3986784"/>
            <a:ext cx="3200400" cy="877824"/>
          </a:xfrm>
          <a:prstGeom prst="rect">
            <a:avLst/>
          </a:prstGeom>
          <a:noFill/>
          <a:ln/>
        </p:spPr>
        <p:txBody>
          <a:bodyPr wrap="square" lIns="0" tIns="0" rIns="0" bIns="0" rtlCol="0" anchor="t"/>
          <a:lstStyle/>
          <a:p>
            <a:pPr indent="0" marL="0">
              <a:buNone/>
            </a:pPr>
            <a:r>
              <a:rPr lang="en-US" sz="900" dirty="0">
                <a:solidFill>
                  <a:srgbClr val="E2E8F0"/>
                </a:solidFill>
              </a:rPr>
              <a:t>The supply chain for weeks 1–4 is effectively on autopilot. Every unit arriving was committed before the planning window opened. If that stock is wrong in quantity or timing, there is no lever to pull. This is the operational consequence of 20–23 week lead times.</a:t>
            </a:r>
            <a:endParaRPr lang="en-US" sz="900" dirty="0"/>
          </a:p>
        </p:txBody>
      </p:sp>
      <p:sp>
        <p:nvSpPr>
          <p:cNvPr id="23" name="Text 21"/>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
        <p:nvSpPr>
          <p:cNvPr id="24" name="Shape 22"/>
          <p:cNvSpPr/>
          <p:nvPr/>
        </p:nvSpPr>
        <p:spPr>
          <a:xfrm>
            <a:off x="256032" y="1207008"/>
            <a:ext cx="5120640" cy="3346704"/>
          </a:xfrm>
          <a:prstGeom prst="rect">
            <a:avLst/>
          </a:prstGeom>
          <a:solidFill>
            <a:srgbClr val="0F2030"/>
          </a:solidFill>
          <a:ln w="10160">
            <a:solidFill>
              <a:srgbClr val="5B8DB8"/>
            </a:solidFill>
            <a:prstDash val="solid"/>
          </a:ln>
        </p:spPr>
      </p:sp>
      <p:sp>
        <p:nvSpPr>
          <p:cNvPr id="25" name="Text 23"/>
          <p:cNvSpPr/>
          <p:nvPr/>
        </p:nvSpPr>
        <p:spPr>
          <a:xfrm>
            <a:off x="347472" y="1261872"/>
            <a:ext cx="1691640" cy="237744"/>
          </a:xfrm>
          <a:prstGeom prst="rect">
            <a:avLst/>
          </a:prstGeom>
          <a:noFill/>
          <a:ln/>
        </p:spPr>
        <p:txBody>
          <a:bodyPr wrap="square" rtlCol="0" anchor="ctr"/>
          <a:lstStyle/>
          <a:p>
            <a:pPr indent="0" marL="0">
              <a:buNone/>
            </a:pPr>
            <a:r>
              <a:rPr lang="en-US" sz="850" b="1" dirty="0">
                <a:solidFill>
                  <a:srgbClr val="F6AD55"/>
                </a:solidFill>
              </a:rPr>
              <a:t>From Facility</a:t>
            </a:r>
            <a:endParaRPr lang="en-US" sz="850" dirty="0"/>
          </a:p>
        </p:txBody>
      </p:sp>
      <p:sp>
        <p:nvSpPr>
          <p:cNvPr id="26" name="Text 24"/>
          <p:cNvSpPr/>
          <p:nvPr/>
        </p:nvSpPr>
        <p:spPr>
          <a:xfrm>
            <a:off x="2084832" y="1261872"/>
            <a:ext cx="1691640" cy="237744"/>
          </a:xfrm>
          <a:prstGeom prst="rect">
            <a:avLst/>
          </a:prstGeom>
          <a:noFill/>
          <a:ln/>
        </p:spPr>
        <p:txBody>
          <a:bodyPr wrap="square" rtlCol="0" anchor="ctr"/>
          <a:lstStyle/>
          <a:p>
            <a:pPr indent="0" marL="0">
              <a:buNone/>
            </a:pPr>
            <a:r>
              <a:rPr lang="en-US" sz="850" b="1" dirty="0">
                <a:solidFill>
                  <a:srgbClr val="F6AD55"/>
                </a:solidFill>
              </a:rPr>
              <a:t>To Facility</a:t>
            </a:r>
            <a:endParaRPr lang="en-US" sz="850" dirty="0"/>
          </a:p>
        </p:txBody>
      </p:sp>
      <p:sp>
        <p:nvSpPr>
          <p:cNvPr id="27" name="Text 25"/>
          <p:cNvSpPr/>
          <p:nvPr/>
        </p:nvSpPr>
        <p:spPr>
          <a:xfrm>
            <a:off x="3822192" y="1261872"/>
            <a:ext cx="1463040" cy="237744"/>
          </a:xfrm>
          <a:prstGeom prst="rect">
            <a:avLst/>
          </a:prstGeom>
          <a:noFill/>
          <a:ln/>
        </p:spPr>
        <p:txBody>
          <a:bodyPr wrap="square" rtlCol="0" anchor="ctr"/>
          <a:lstStyle/>
          <a:p>
            <a:pPr indent="0" marL="0">
              <a:buNone/>
            </a:pPr>
            <a:r>
              <a:rPr lang="en-US" sz="850" b="1" dirty="0">
                <a:solidFill>
                  <a:srgbClr val="F6AD55"/>
                </a:solidFill>
              </a:rPr>
              <a:t>Units In Transit</a:t>
            </a:r>
            <a:endParaRPr lang="en-US" sz="850" dirty="0"/>
          </a:p>
        </p:txBody>
      </p:sp>
      <p:sp>
        <p:nvSpPr>
          <p:cNvPr id="28" name="Shape 26"/>
          <p:cNvSpPr/>
          <p:nvPr/>
        </p:nvSpPr>
        <p:spPr>
          <a:xfrm>
            <a:off x="274320" y="1536192"/>
            <a:ext cx="5084064" cy="292608"/>
          </a:xfrm>
          <a:prstGeom prst="rect">
            <a:avLst/>
          </a:prstGeom>
          <a:solidFill>
            <a:srgbClr val="0D1E2E"/>
          </a:solidFill>
          <a:ln w="12700">
            <a:solidFill>
              <a:srgbClr val="0D1E2E"/>
            </a:solidFill>
            <a:prstDash val="solid"/>
          </a:ln>
        </p:spPr>
      </p:sp>
      <p:sp>
        <p:nvSpPr>
          <p:cNvPr id="29" name="Text 27"/>
          <p:cNvSpPr/>
          <p:nvPr/>
        </p:nvSpPr>
        <p:spPr>
          <a:xfrm>
            <a:off x="347472" y="1536192"/>
            <a:ext cx="1691640" cy="274320"/>
          </a:xfrm>
          <a:prstGeom prst="rect">
            <a:avLst/>
          </a:prstGeom>
          <a:noFill/>
          <a:ln/>
        </p:spPr>
        <p:txBody>
          <a:bodyPr wrap="square" lIns="0" tIns="0" rIns="0" bIns="0" rtlCol="0" anchor="ctr"/>
          <a:lstStyle/>
          <a:p>
            <a:pPr indent="0" marL="0">
              <a:buNone/>
            </a:pPr>
            <a:r>
              <a:rPr lang="en-US" sz="850" dirty="0">
                <a:solidFill>
                  <a:srgbClr val="E2E8F0"/>
                </a:solidFill>
              </a:rPr>
              <a:t>seat-supplier_trans</a:t>
            </a:r>
            <a:endParaRPr lang="en-US" sz="850" dirty="0"/>
          </a:p>
        </p:txBody>
      </p:sp>
      <p:sp>
        <p:nvSpPr>
          <p:cNvPr id="30" name="Text 28"/>
          <p:cNvSpPr/>
          <p:nvPr/>
        </p:nvSpPr>
        <p:spPr>
          <a:xfrm>
            <a:off x="2084832" y="1536192"/>
            <a:ext cx="1691640" cy="274320"/>
          </a:xfrm>
          <a:prstGeom prst="rect">
            <a:avLst/>
          </a:prstGeom>
          <a:noFill/>
          <a:ln/>
        </p:spPr>
        <p:txBody>
          <a:bodyPr wrap="square" lIns="0" tIns="0" rIns="0" bIns="0" rtlCol="0" anchor="ctr"/>
          <a:lstStyle/>
          <a:p>
            <a:pPr indent="0" marL="0">
              <a:buNone/>
            </a:pPr>
            <a:r>
              <a:rPr lang="en-US" sz="850" dirty="0">
                <a:solidFill>
                  <a:srgbClr val="E2E8F0"/>
                </a:solidFill>
              </a:rPr>
              <a:t>seat-supplier_prod</a:t>
            </a:r>
            <a:endParaRPr lang="en-US" sz="850" dirty="0"/>
          </a:p>
        </p:txBody>
      </p:sp>
      <p:sp>
        <p:nvSpPr>
          <p:cNvPr id="31" name="Text 29"/>
          <p:cNvSpPr/>
          <p:nvPr/>
        </p:nvSpPr>
        <p:spPr>
          <a:xfrm>
            <a:off x="3822192" y="1536192"/>
            <a:ext cx="1463040" cy="274320"/>
          </a:xfrm>
          <a:prstGeom prst="rect">
            <a:avLst/>
          </a:prstGeom>
          <a:noFill/>
          <a:ln/>
        </p:spPr>
        <p:txBody>
          <a:bodyPr wrap="square" lIns="0" tIns="0" rIns="0" bIns="0" rtlCol="0" anchor="ctr"/>
          <a:lstStyle/>
          <a:p>
            <a:pPr indent="0" marL="0">
              <a:buNone/>
            </a:pPr>
            <a:r>
              <a:rPr lang="en-US" sz="850" b="1" dirty="0">
                <a:solidFill>
                  <a:srgbClr val="F97316"/>
                </a:solidFill>
              </a:rPr>
              <a:t>56,000</a:t>
            </a:r>
            <a:endParaRPr lang="en-US" sz="850" dirty="0"/>
          </a:p>
        </p:txBody>
      </p:sp>
      <p:sp>
        <p:nvSpPr>
          <p:cNvPr id="32" name="Shape 30"/>
          <p:cNvSpPr/>
          <p:nvPr/>
        </p:nvSpPr>
        <p:spPr>
          <a:xfrm>
            <a:off x="274320" y="1856232"/>
            <a:ext cx="5084064" cy="292608"/>
          </a:xfrm>
          <a:prstGeom prst="rect">
            <a:avLst/>
          </a:prstGeom>
          <a:solidFill>
            <a:srgbClr val="0F2438"/>
          </a:solidFill>
          <a:ln w="12700">
            <a:solidFill>
              <a:srgbClr val="0F2438"/>
            </a:solidFill>
            <a:prstDash val="solid"/>
          </a:ln>
        </p:spPr>
      </p:sp>
      <p:sp>
        <p:nvSpPr>
          <p:cNvPr id="33" name="Text 31"/>
          <p:cNvSpPr/>
          <p:nvPr/>
        </p:nvSpPr>
        <p:spPr>
          <a:xfrm>
            <a:off x="347472" y="1856232"/>
            <a:ext cx="1691640" cy="274320"/>
          </a:xfrm>
          <a:prstGeom prst="rect">
            <a:avLst/>
          </a:prstGeom>
          <a:noFill/>
          <a:ln/>
        </p:spPr>
        <p:txBody>
          <a:bodyPr wrap="square" lIns="0" tIns="0" rIns="0" bIns="0" rtlCol="0" anchor="ctr"/>
          <a:lstStyle/>
          <a:p>
            <a:pPr indent="0" marL="0">
              <a:buNone/>
            </a:pPr>
            <a:r>
              <a:rPr lang="en-US" sz="850" dirty="0">
                <a:solidFill>
                  <a:srgbClr val="E2E8F0"/>
                </a:solidFill>
              </a:rPr>
              <a:t>battery-supplier_trans</a:t>
            </a:r>
            <a:endParaRPr lang="en-US" sz="850" dirty="0"/>
          </a:p>
        </p:txBody>
      </p:sp>
      <p:sp>
        <p:nvSpPr>
          <p:cNvPr id="34" name="Text 32"/>
          <p:cNvSpPr/>
          <p:nvPr/>
        </p:nvSpPr>
        <p:spPr>
          <a:xfrm>
            <a:off x="2084832" y="1856232"/>
            <a:ext cx="1691640" cy="274320"/>
          </a:xfrm>
          <a:prstGeom prst="rect">
            <a:avLst/>
          </a:prstGeom>
          <a:noFill/>
          <a:ln/>
        </p:spPr>
        <p:txBody>
          <a:bodyPr wrap="square" lIns="0" tIns="0" rIns="0" bIns="0" rtlCol="0" anchor="ctr"/>
          <a:lstStyle/>
          <a:p>
            <a:pPr indent="0" marL="0">
              <a:buNone/>
            </a:pPr>
            <a:r>
              <a:rPr lang="en-US" sz="850" dirty="0">
                <a:solidFill>
                  <a:srgbClr val="E2E8F0"/>
                </a:solidFill>
              </a:rPr>
              <a:t>battery-supplier_prod</a:t>
            </a:r>
            <a:endParaRPr lang="en-US" sz="850" dirty="0"/>
          </a:p>
        </p:txBody>
      </p:sp>
      <p:sp>
        <p:nvSpPr>
          <p:cNvPr id="35" name="Text 33"/>
          <p:cNvSpPr/>
          <p:nvPr/>
        </p:nvSpPr>
        <p:spPr>
          <a:xfrm>
            <a:off x="3822192" y="1856232"/>
            <a:ext cx="1463040" cy="274320"/>
          </a:xfrm>
          <a:prstGeom prst="rect">
            <a:avLst/>
          </a:prstGeom>
          <a:noFill/>
          <a:ln/>
        </p:spPr>
        <p:txBody>
          <a:bodyPr wrap="square" lIns="0" tIns="0" rIns="0" bIns="0" rtlCol="0" anchor="ctr"/>
          <a:lstStyle/>
          <a:p>
            <a:pPr indent="0" marL="0">
              <a:buNone/>
            </a:pPr>
            <a:r>
              <a:rPr lang="en-US" sz="850" b="1" dirty="0">
                <a:solidFill>
                  <a:srgbClr val="F97316"/>
                </a:solidFill>
              </a:rPr>
              <a:t>35,860</a:t>
            </a:r>
            <a:endParaRPr lang="en-US" sz="850" dirty="0"/>
          </a:p>
        </p:txBody>
      </p:sp>
      <p:sp>
        <p:nvSpPr>
          <p:cNvPr id="36" name="Shape 34"/>
          <p:cNvSpPr/>
          <p:nvPr/>
        </p:nvSpPr>
        <p:spPr>
          <a:xfrm>
            <a:off x="274320" y="2176272"/>
            <a:ext cx="5084064" cy="292608"/>
          </a:xfrm>
          <a:prstGeom prst="rect">
            <a:avLst/>
          </a:prstGeom>
          <a:solidFill>
            <a:srgbClr val="0D1E2E"/>
          </a:solidFill>
          <a:ln w="12700">
            <a:solidFill>
              <a:srgbClr val="0D1E2E"/>
            </a:solidFill>
            <a:prstDash val="solid"/>
          </a:ln>
        </p:spPr>
      </p:sp>
      <p:sp>
        <p:nvSpPr>
          <p:cNvPr id="37" name="Text 35"/>
          <p:cNvSpPr/>
          <p:nvPr/>
        </p:nvSpPr>
        <p:spPr>
          <a:xfrm>
            <a:off x="347472" y="2176272"/>
            <a:ext cx="1691640" cy="274320"/>
          </a:xfrm>
          <a:prstGeom prst="rect">
            <a:avLst/>
          </a:prstGeom>
          <a:noFill/>
          <a:ln/>
        </p:spPr>
        <p:txBody>
          <a:bodyPr wrap="square" lIns="0" tIns="0" rIns="0" bIns="0" rtlCol="0" anchor="ctr"/>
          <a:lstStyle/>
          <a:p>
            <a:pPr indent="0" marL="0">
              <a:buNone/>
            </a:pPr>
            <a:r>
              <a:rPr lang="en-US" sz="850" dirty="0">
                <a:solidFill>
                  <a:srgbClr val="E2E8F0"/>
                </a:solidFill>
              </a:rPr>
              <a:t>gear-supplier_inv</a:t>
            </a:r>
            <a:endParaRPr lang="en-US" sz="850" dirty="0"/>
          </a:p>
        </p:txBody>
      </p:sp>
      <p:sp>
        <p:nvSpPr>
          <p:cNvPr id="38" name="Text 36"/>
          <p:cNvSpPr/>
          <p:nvPr/>
        </p:nvSpPr>
        <p:spPr>
          <a:xfrm>
            <a:off x="2084832" y="2176272"/>
            <a:ext cx="1691640" cy="274320"/>
          </a:xfrm>
          <a:prstGeom prst="rect">
            <a:avLst/>
          </a:prstGeom>
          <a:noFill/>
          <a:ln/>
        </p:spPr>
        <p:txBody>
          <a:bodyPr wrap="square" lIns="0" tIns="0" rIns="0" bIns="0" rtlCol="0" anchor="ctr"/>
          <a:lstStyle/>
          <a:p>
            <a:pPr indent="0" marL="0">
              <a:buNone/>
            </a:pPr>
            <a:r>
              <a:rPr lang="en-US" sz="850" dirty="0">
                <a:solidFill>
                  <a:srgbClr val="E2E8F0"/>
                </a:solidFill>
              </a:rPr>
              <a:t>zp7</a:t>
            </a:r>
            <a:endParaRPr lang="en-US" sz="850" dirty="0"/>
          </a:p>
        </p:txBody>
      </p:sp>
      <p:sp>
        <p:nvSpPr>
          <p:cNvPr id="39" name="Text 37"/>
          <p:cNvSpPr/>
          <p:nvPr/>
        </p:nvSpPr>
        <p:spPr>
          <a:xfrm>
            <a:off x="3822192" y="2176272"/>
            <a:ext cx="1463040" cy="274320"/>
          </a:xfrm>
          <a:prstGeom prst="rect">
            <a:avLst/>
          </a:prstGeom>
          <a:noFill/>
          <a:ln/>
        </p:spPr>
        <p:txBody>
          <a:bodyPr wrap="square" lIns="0" tIns="0" rIns="0" bIns="0" rtlCol="0" anchor="ctr"/>
          <a:lstStyle/>
          <a:p>
            <a:pPr indent="0" marL="0">
              <a:buNone/>
            </a:pPr>
            <a:r>
              <a:rPr lang="en-US" sz="850" dirty="0">
                <a:solidFill>
                  <a:srgbClr val="E2E8F0"/>
                </a:solidFill>
              </a:rPr>
              <a:t>4,000</a:t>
            </a:r>
            <a:endParaRPr lang="en-US" sz="850" dirty="0"/>
          </a:p>
        </p:txBody>
      </p:sp>
      <p:sp>
        <p:nvSpPr>
          <p:cNvPr id="40" name="Shape 38"/>
          <p:cNvSpPr/>
          <p:nvPr/>
        </p:nvSpPr>
        <p:spPr>
          <a:xfrm>
            <a:off x="274320" y="2496312"/>
            <a:ext cx="5084064" cy="292608"/>
          </a:xfrm>
          <a:prstGeom prst="rect">
            <a:avLst/>
          </a:prstGeom>
          <a:solidFill>
            <a:srgbClr val="0F2438"/>
          </a:solidFill>
          <a:ln w="12700">
            <a:solidFill>
              <a:srgbClr val="0F2438"/>
            </a:solidFill>
            <a:prstDash val="solid"/>
          </a:ln>
        </p:spPr>
      </p:sp>
      <p:sp>
        <p:nvSpPr>
          <p:cNvPr id="41" name="Text 39"/>
          <p:cNvSpPr/>
          <p:nvPr/>
        </p:nvSpPr>
        <p:spPr>
          <a:xfrm>
            <a:off x="347472" y="2496312"/>
            <a:ext cx="1691640" cy="274320"/>
          </a:xfrm>
          <a:prstGeom prst="rect">
            <a:avLst/>
          </a:prstGeom>
          <a:noFill/>
          <a:ln/>
        </p:spPr>
        <p:txBody>
          <a:bodyPr wrap="square" lIns="0" tIns="0" rIns="0" bIns="0" rtlCol="0" anchor="ctr"/>
          <a:lstStyle/>
          <a:p>
            <a:pPr indent="0" marL="0">
              <a:buNone/>
            </a:pPr>
            <a:r>
              <a:rPr lang="en-US" sz="850" dirty="0">
                <a:solidFill>
                  <a:srgbClr val="E2E8F0"/>
                </a:solidFill>
              </a:rPr>
              <a:t>gear-supplier_prod</a:t>
            </a:r>
            <a:endParaRPr lang="en-US" sz="850" dirty="0"/>
          </a:p>
        </p:txBody>
      </p:sp>
      <p:sp>
        <p:nvSpPr>
          <p:cNvPr id="42" name="Text 40"/>
          <p:cNvSpPr/>
          <p:nvPr/>
        </p:nvSpPr>
        <p:spPr>
          <a:xfrm>
            <a:off x="2084832" y="2496312"/>
            <a:ext cx="1691640" cy="274320"/>
          </a:xfrm>
          <a:prstGeom prst="rect">
            <a:avLst/>
          </a:prstGeom>
          <a:noFill/>
          <a:ln/>
        </p:spPr>
        <p:txBody>
          <a:bodyPr wrap="square" lIns="0" tIns="0" rIns="0" bIns="0" rtlCol="0" anchor="ctr"/>
          <a:lstStyle/>
          <a:p>
            <a:pPr indent="0" marL="0">
              <a:buNone/>
            </a:pPr>
            <a:r>
              <a:rPr lang="en-US" sz="850" dirty="0">
                <a:solidFill>
                  <a:srgbClr val="E2E8F0"/>
                </a:solidFill>
              </a:rPr>
              <a:t>gear-supplier_inv</a:t>
            </a:r>
            <a:endParaRPr lang="en-US" sz="850" dirty="0"/>
          </a:p>
        </p:txBody>
      </p:sp>
      <p:sp>
        <p:nvSpPr>
          <p:cNvPr id="43" name="Text 41"/>
          <p:cNvSpPr/>
          <p:nvPr/>
        </p:nvSpPr>
        <p:spPr>
          <a:xfrm>
            <a:off x="3822192" y="2496312"/>
            <a:ext cx="1463040" cy="274320"/>
          </a:xfrm>
          <a:prstGeom prst="rect">
            <a:avLst/>
          </a:prstGeom>
          <a:noFill/>
          <a:ln/>
        </p:spPr>
        <p:txBody>
          <a:bodyPr wrap="square" lIns="0" tIns="0" rIns="0" bIns="0" rtlCol="0" anchor="ctr"/>
          <a:lstStyle/>
          <a:p>
            <a:pPr indent="0" marL="0">
              <a:buNone/>
            </a:pPr>
            <a:r>
              <a:rPr lang="en-US" sz="850" dirty="0">
                <a:solidFill>
                  <a:srgbClr val="E2E8F0"/>
                </a:solidFill>
              </a:rPr>
              <a:t>4,000</a:t>
            </a:r>
            <a:endParaRPr lang="en-US" sz="850" dirty="0"/>
          </a:p>
        </p:txBody>
      </p:sp>
      <p:sp>
        <p:nvSpPr>
          <p:cNvPr id="44" name="Shape 42"/>
          <p:cNvSpPr/>
          <p:nvPr/>
        </p:nvSpPr>
        <p:spPr>
          <a:xfrm>
            <a:off x="274320" y="2816352"/>
            <a:ext cx="5084064" cy="292608"/>
          </a:xfrm>
          <a:prstGeom prst="rect">
            <a:avLst/>
          </a:prstGeom>
          <a:solidFill>
            <a:srgbClr val="0D1E2E"/>
          </a:solidFill>
          <a:ln w="12700">
            <a:solidFill>
              <a:srgbClr val="0D1E2E"/>
            </a:solidFill>
            <a:prstDash val="solid"/>
          </a:ln>
        </p:spPr>
      </p:sp>
      <p:sp>
        <p:nvSpPr>
          <p:cNvPr id="45" name="Text 43"/>
          <p:cNvSpPr/>
          <p:nvPr/>
        </p:nvSpPr>
        <p:spPr>
          <a:xfrm>
            <a:off x="347472" y="2816352"/>
            <a:ext cx="1691640" cy="274320"/>
          </a:xfrm>
          <a:prstGeom prst="rect">
            <a:avLst/>
          </a:prstGeom>
          <a:noFill/>
          <a:ln/>
        </p:spPr>
        <p:txBody>
          <a:bodyPr wrap="square" lIns="0" tIns="0" rIns="0" bIns="0" rtlCol="0" anchor="ctr"/>
          <a:lstStyle/>
          <a:p>
            <a:pPr indent="0" marL="0">
              <a:buNone/>
            </a:pPr>
            <a:r>
              <a:rPr lang="en-US" sz="850" dirty="0">
                <a:solidFill>
                  <a:srgbClr val="E2E8F0"/>
                </a:solidFill>
              </a:rPr>
              <a:t>engine-supplier_inv</a:t>
            </a:r>
            <a:endParaRPr lang="en-US" sz="850" dirty="0"/>
          </a:p>
        </p:txBody>
      </p:sp>
      <p:sp>
        <p:nvSpPr>
          <p:cNvPr id="46" name="Text 44"/>
          <p:cNvSpPr/>
          <p:nvPr/>
        </p:nvSpPr>
        <p:spPr>
          <a:xfrm>
            <a:off x="2084832" y="2816352"/>
            <a:ext cx="1691640" cy="274320"/>
          </a:xfrm>
          <a:prstGeom prst="rect">
            <a:avLst/>
          </a:prstGeom>
          <a:noFill/>
          <a:ln/>
        </p:spPr>
        <p:txBody>
          <a:bodyPr wrap="square" lIns="0" tIns="0" rIns="0" bIns="0" rtlCol="0" anchor="ctr"/>
          <a:lstStyle/>
          <a:p>
            <a:pPr indent="0" marL="0">
              <a:buNone/>
            </a:pPr>
            <a:r>
              <a:rPr lang="en-US" sz="850" dirty="0">
                <a:solidFill>
                  <a:srgbClr val="E2E8F0"/>
                </a:solidFill>
              </a:rPr>
              <a:t>zp7</a:t>
            </a:r>
            <a:endParaRPr lang="en-US" sz="850" dirty="0"/>
          </a:p>
        </p:txBody>
      </p:sp>
      <p:sp>
        <p:nvSpPr>
          <p:cNvPr id="47" name="Text 45"/>
          <p:cNvSpPr/>
          <p:nvPr/>
        </p:nvSpPr>
        <p:spPr>
          <a:xfrm>
            <a:off x="3822192" y="2816352"/>
            <a:ext cx="1463040" cy="274320"/>
          </a:xfrm>
          <a:prstGeom prst="rect">
            <a:avLst/>
          </a:prstGeom>
          <a:noFill/>
          <a:ln/>
        </p:spPr>
        <p:txBody>
          <a:bodyPr wrap="square" lIns="0" tIns="0" rIns="0" bIns="0" rtlCol="0" anchor="ctr"/>
          <a:lstStyle/>
          <a:p>
            <a:pPr indent="0" marL="0">
              <a:buNone/>
            </a:pPr>
            <a:r>
              <a:rPr lang="en-US" sz="850" dirty="0">
                <a:solidFill>
                  <a:srgbClr val="E2E8F0"/>
                </a:solidFill>
              </a:rPr>
              <a:t>2,000</a:t>
            </a:r>
            <a:endParaRPr lang="en-US" sz="850" dirty="0"/>
          </a:p>
        </p:txBody>
      </p:sp>
      <p:sp>
        <p:nvSpPr>
          <p:cNvPr id="48" name="Shape 46"/>
          <p:cNvSpPr/>
          <p:nvPr/>
        </p:nvSpPr>
        <p:spPr>
          <a:xfrm>
            <a:off x="274320" y="3136392"/>
            <a:ext cx="5084064" cy="292608"/>
          </a:xfrm>
          <a:prstGeom prst="rect">
            <a:avLst/>
          </a:prstGeom>
          <a:solidFill>
            <a:srgbClr val="0F2438"/>
          </a:solidFill>
          <a:ln w="12700">
            <a:solidFill>
              <a:srgbClr val="0F2438"/>
            </a:solidFill>
            <a:prstDash val="solid"/>
          </a:ln>
        </p:spPr>
      </p:sp>
      <p:sp>
        <p:nvSpPr>
          <p:cNvPr id="49" name="Text 47"/>
          <p:cNvSpPr/>
          <p:nvPr/>
        </p:nvSpPr>
        <p:spPr>
          <a:xfrm>
            <a:off x="347472" y="3136392"/>
            <a:ext cx="1691640" cy="274320"/>
          </a:xfrm>
          <a:prstGeom prst="rect">
            <a:avLst/>
          </a:prstGeom>
          <a:noFill/>
          <a:ln/>
        </p:spPr>
        <p:txBody>
          <a:bodyPr wrap="square" lIns="0" tIns="0" rIns="0" bIns="0" rtlCol="0" anchor="ctr"/>
          <a:lstStyle/>
          <a:p>
            <a:pPr indent="0" marL="0">
              <a:buNone/>
            </a:pPr>
            <a:r>
              <a:rPr lang="en-US" sz="850" dirty="0">
                <a:solidFill>
                  <a:srgbClr val="E2E8F0"/>
                </a:solidFill>
              </a:rPr>
              <a:t>engine-supplier_prod</a:t>
            </a:r>
            <a:endParaRPr lang="en-US" sz="850" dirty="0"/>
          </a:p>
        </p:txBody>
      </p:sp>
      <p:sp>
        <p:nvSpPr>
          <p:cNvPr id="50" name="Text 48"/>
          <p:cNvSpPr/>
          <p:nvPr/>
        </p:nvSpPr>
        <p:spPr>
          <a:xfrm>
            <a:off x="2084832" y="3136392"/>
            <a:ext cx="1691640" cy="274320"/>
          </a:xfrm>
          <a:prstGeom prst="rect">
            <a:avLst/>
          </a:prstGeom>
          <a:noFill/>
          <a:ln/>
        </p:spPr>
        <p:txBody>
          <a:bodyPr wrap="square" lIns="0" tIns="0" rIns="0" bIns="0" rtlCol="0" anchor="ctr"/>
          <a:lstStyle/>
          <a:p>
            <a:pPr indent="0" marL="0">
              <a:buNone/>
            </a:pPr>
            <a:r>
              <a:rPr lang="en-US" sz="850" dirty="0">
                <a:solidFill>
                  <a:srgbClr val="E2E8F0"/>
                </a:solidFill>
              </a:rPr>
              <a:t>engine-supplier_inv</a:t>
            </a:r>
            <a:endParaRPr lang="en-US" sz="850" dirty="0"/>
          </a:p>
        </p:txBody>
      </p:sp>
      <p:sp>
        <p:nvSpPr>
          <p:cNvPr id="51" name="Text 49"/>
          <p:cNvSpPr/>
          <p:nvPr/>
        </p:nvSpPr>
        <p:spPr>
          <a:xfrm>
            <a:off x="3822192" y="3136392"/>
            <a:ext cx="1463040" cy="274320"/>
          </a:xfrm>
          <a:prstGeom prst="rect">
            <a:avLst/>
          </a:prstGeom>
          <a:noFill/>
          <a:ln/>
        </p:spPr>
        <p:txBody>
          <a:bodyPr wrap="square" lIns="0" tIns="0" rIns="0" bIns="0" rtlCol="0" anchor="ctr"/>
          <a:lstStyle/>
          <a:p>
            <a:pPr indent="0" marL="0">
              <a:buNone/>
            </a:pPr>
            <a:r>
              <a:rPr lang="en-US" sz="850" dirty="0">
                <a:solidFill>
                  <a:srgbClr val="E2E8F0"/>
                </a:solidFill>
              </a:rPr>
              <a:t>2,000</a:t>
            </a:r>
            <a:endParaRPr lang="en-US" sz="850" dirty="0"/>
          </a:p>
        </p:txBody>
      </p:sp>
      <p:sp>
        <p:nvSpPr>
          <p:cNvPr id="52" name="Shape 50"/>
          <p:cNvSpPr/>
          <p:nvPr/>
        </p:nvSpPr>
        <p:spPr>
          <a:xfrm>
            <a:off x="274320" y="3456432"/>
            <a:ext cx="5084064" cy="292608"/>
          </a:xfrm>
          <a:prstGeom prst="rect">
            <a:avLst/>
          </a:prstGeom>
          <a:solidFill>
            <a:srgbClr val="0D1E2E"/>
          </a:solidFill>
          <a:ln w="12700">
            <a:solidFill>
              <a:srgbClr val="0D1E2E"/>
            </a:solidFill>
            <a:prstDash val="solid"/>
          </a:ln>
        </p:spPr>
      </p:sp>
      <p:sp>
        <p:nvSpPr>
          <p:cNvPr id="53" name="Text 51"/>
          <p:cNvSpPr/>
          <p:nvPr/>
        </p:nvSpPr>
        <p:spPr>
          <a:xfrm>
            <a:off x="347472" y="3456432"/>
            <a:ext cx="1691640" cy="274320"/>
          </a:xfrm>
          <a:prstGeom prst="rect">
            <a:avLst/>
          </a:prstGeom>
          <a:noFill/>
          <a:ln/>
        </p:spPr>
        <p:txBody>
          <a:bodyPr wrap="square" lIns="0" tIns="0" rIns="0" bIns="0" rtlCol="0" anchor="ctr"/>
          <a:lstStyle/>
          <a:p>
            <a:pPr indent="0" marL="0">
              <a:buNone/>
            </a:pPr>
            <a:r>
              <a:rPr lang="en-US" sz="850" dirty="0">
                <a:solidFill>
                  <a:srgbClr val="E2E8F0"/>
                </a:solidFill>
              </a:rPr>
              <a:t>battery-supplier_inv</a:t>
            </a:r>
            <a:endParaRPr lang="en-US" sz="850" dirty="0"/>
          </a:p>
        </p:txBody>
      </p:sp>
      <p:sp>
        <p:nvSpPr>
          <p:cNvPr id="54" name="Text 52"/>
          <p:cNvSpPr/>
          <p:nvPr/>
        </p:nvSpPr>
        <p:spPr>
          <a:xfrm>
            <a:off x="2084832" y="3456432"/>
            <a:ext cx="1691640" cy="274320"/>
          </a:xfrm>
          <a:prstGeom prst="rect">
            <a:avLst/>
          </a:prstGeom>
          <a:noFill/>
          <a:ln/>
        </p:spPr>
        <p:txBody>
          <a:bodyPr wrap="square" lIns="0" tIns="0" rIns="0" bIns="0" rtlCol="0" anchor="ctr"/>
          <a:lstStyle/>
          <a:p>
            <a:pPr indent="0" marL="0">
              <a:buNone/>
            </a:pPr>
            <a:r>
              <a:rPr lang="en-US" sz="850" dirty="0">
                <a:solidFill>
                  <a:srgbClr val="E2E8F0"/>
                </a:solidFill>
              </a:rPr>
              <a:t>zp7</a:t>
            </a:r>
            <a:endParaRPr lang="en-US" sz="850" dirty="0"/>
          </a:p>
        </p:txBody>
      </p:sp>
      <p:sp>
        <p:nvSpPr>
          <p:cNvPr id="55" name="Text 53"/>
          <p:cNvSpPr/>
          <p:nvPr/>
        </p:nvSpPr>
        <p:spPr>
          <a:xfrm>
            <a:off x="3822192" y="3456432"/>
            <a:ext cx="1463040" cy="274320"/>
          </a:xfrm>
          <a:prstGeom prst="rect">
            <a:avLst/>
          </a:prstGeom>
          <a:noFill/>
          <a:ln/>
        </p:spPr>
        <p:txBody>
          <a:bodyPr wrap="square" lIns="0" tIns="0" rIns="0" bIns="0" rtlCol="0" anchor="ctr"/>
          <a:lstStyle/>
          <a:p>
            <a:pPr indent="0" marL="0">
              <a:buNone/>
            </a:pPr>
            <a:r>
              <a:rPr lang="en-US" sz="850" dirty="0">
                <a:solidFill>
                  <a:srgbClr val="E2E8F0"/>
                </a:solidFill>
              </a:rPr>
              <a:t>200</a:t>
            </a:r>
            <a:endParaRPr lang="en-US" sz="850" dirty="0"/>
          </a:p>
        </p:txBody>
      </p:sp>
      <p:sp>
        <p:nvSpPr>
          <p:cNvPr id="56" name="Shape 54"/>
          <p:cNvSpPr/>
          <p:nvPr/>
        </p:nvSpPr>
        <p:spPr>
          <a:xfrm>
            <a:off x="274320" y="3776472"/>
            <a:ext cx="5084064" cy="292608"/>
          </a:xfrm>
          <a:prstGeom prst="rect">
            <a:avLst/>
          </a:prstGeom>
          <a:solidFill>
            <a:srgbClr val="0F2438"/>
          </a:solidFill>
          <a:ln w="12700">
            <a:solidFill>
              <a:srgbClr val="0F2438"/>
            </a:solidFill>
            <a:prstDash val="solid"/>
          </a:ln>
        </p:spPr>
      </p:sp>
      <p:sp>
        <p:nvSpPr>
          <p:cNvPr id="57" name="Text 55"/>
          <p:cNvSpPr/>
          <p:nvPr/>
        </p:nvSpPr>
        <p:spPr>
          <a:xfrm>
            <a:off x="347472" y="3776472"/>
            <a:ext cx="1691640" cy="274320"/>
          </a:xfrm>
          <a:prstGeom prst="rect">
            <a:avLst/>
          </a:prstGeom>
          <a:noFill/>
          <a:ln/>
        </p:spPr>
        <p:txBody>
          <a:bodyPr wrap="square" lIns="0" tIns="0" rIns="0" bIns="0" rtlCol="0" anchor="ctr"/>
          <a:lstStyle/>
          <a:p>
            <a:pPr indent="0" marL="0">
              <a:buNone/>
            </a:pPr>
            <a:r>
              <a:rPr lang="en-US" sz="850" dirty="0">
                <a:solidFill>
                  <a:srgbClr val="E2E8F0"/>
                </a:solidFill>
              </a:rPr>
              <a:t>battery-supplier_prod</a:t>
            </a:r>
            <a:endParaRPr lang="en-US" sz="850" dirty="0"/>
          </a:p>
        </p:txBody>
      </p:sp>
      <p:sp>
        <p:nvSpPr>
          <p:cNvPr id="58" name="Text 56"/>
          <p:cNvSpPr/>
          <p:nvPr/>
        </p:nvSpPr>
        <p:spPr>
          <a:xfrm>
            <a:off x="2084832" y="3776472"/>
            <a:ext cx="1691640" cy="274320"/>
          </a:xfrm>
          <a:prstGeom prst="rect">
            <a:avLst/>
          </a:prstGeom>
          <a:noFill/>
          <a:ln/>
        </p:spPr>
        <p:txBody>
          <a:bodyPr wrap="square" lIns="0" tIns="0" rIns="0" bIns="0" rtlCol="0" anchor="ctr"/>
          <a:lstStyle/>
          <a:p>
            <a:pPr indent="0" marL="0">
              <a:buNone/>
            </a:pPr>
            <a:r>
              <a:rPr lang="en-US" sz="850" dirty="0">
                <a:solidFill>
                  <a:srgbClr val="E2E8F0"/>
                </a:solidFill>
              </a:rPr>
              <a:t>battery-supplier_inv</a:t>
            </a:r>
            <a:endParaRPr lang="en-US" sz="850" dirty="0"/>
          </a:p>
        </p:txBody>
      </p:sp>
      <p:sp>
        <p:nvSpPr>
          <p:cNvPr id="59" name="Text 57"/>
          <p:cNvSpPr/>
          <p:nvPr/>
        </p:nvSpPr>
        <p:spPr>
          <a:xfrm>
            <a:off x="3822192" y="3776472"/>
            <a:ext cx="1463040" cy="274320"/>
          </a:xfrm>
          <a:prstGeom prst="rect">
            <a:avLst/>
          </a:prstGeom>
          <a:noFill/>
          <a:ln/>
        </p:spPr>
        <p:txBody>
          <a:bodyPr wrap="square" lIns="0" tIns="0" rIns="0" bIns="0" rtlCol="0" anchor="ctr"/>
          <a:lstStyle/>
          <a:p>
            <a:pPr indent="0" marL="0">
              <a:buNone/>
            </a:pPr>
            <a:r>
              <a:rPr lang="en-US" sz="850" dirty="0">
                <a:solidFill>
                  <a:srgbClr val="E2E8F0"/>
                </a:solidFill>
              </a:rPr>
              <a:t>159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5943600" y="274320"/>
            <a:ext cx="2926080" cy="4114800"/>
          </a:xfrm>
          <a:prstGeom prst="rect">
            <a:avLst/>
          </a:prstGeom>
          <a:noFill/>
          <a:ln/>
        </p:spPr>
        <p:txBody>
          <a:bodyPr wrap="square" lIns="0" tIns="0" rIns="0" bIns="0" rtlCol="0" anchor="t"/>
          <a:lstStyle/>
          <a:p>
            <a:pPr algn="r" indent="0" marL="0">
              <a:buNone/>
            </a:pPr>
            <a:r>
              <a:rPr lang="en-US" sz="18000" b="1" dirty="0">
                <a:solidFill>
                  <a:srgbClr val="1A3A5C">
                    <a:alpha val="30000"/>
                  </a:srgbClr>
                </a:solidFill>
              </a:rPr>
              <a:t>06</a:t>
            </a:r>
            <a:endParaRPr lang="en-US" sz="18000" dirty="0"/>
          </a:p>
        </p:txBody>
      </p:sp>
      <p:sp>
        <p:nvSpPr>
          <p:cNvPr id="3" name="Shape 1"/>
          <p:cNvSpPr/>
          <p:nvPr/>
        </p:nvSpPr>
        <p:spPr>
          <a:xfrm>
            <a:off x="457200" y="548640"/>
            <a:ext cx="1371600" cy="292608"/>
          </a:xfrm>
          <a:prstGeom prst="rect">
            <a:avLst/>
          </a:prstGeom>
          <a:solidFill>
            <a:srgbClr val="C0392B"/>
          </a:solidFill>
          <a:ln w="12700">
            <a:solidFill>
              <a:srgbClr val="C0392B"/>
            </a:solidFill>
            <a:prstDash val="solid"/>
          </a:ln>
        </p:spPr>
      </p:sp>
      <p:sp>
        <p:nvSpPr>
          <p:cNvPr id="4" name="Text 2"/>
          <p:cNvSpPr/>
          <p:nvPr/>
        </p:nvSpPr>
        <p:spPr>
          <a:xfrm>
            <a:off x="457200" y="548640"/>
            <a:ext cx="1371600" cy="292608"/>
          </a:xfrm>
          <a:prstGeom prst="rect">
            <a:avLst/>
          </a:prstGeom>
          <a:noFill/>
          <a:ln/>
        </p:spPr>
        <p:txBody>
          <a:bodyPr wrap="square" lIns="0" tIns="0" rIns="0" bIns="0" rtlCol="0" anchor="ctr"/>
          <a:lstStyle/>
          <a:p>
            <a:pPr algn="ctr" indent="0" marL="0">
              <a:buNone/>
            </a:pPr>
            <a:r>
              <a:rPr lang="en-US" sz="900" b="1" dirty="0">
                <a:solidFill>
                  <a:srgbClr val="FFFFFF"/>
                </a:solidFill>
              </a:rPr>
              <a:t>CHAPTER 6</a:t>
            </a:r>
            <a:endParaRPr lang="en-US" sz="900" dirty="0"/>
          </a:p>
        </p:txBody>
      </p:sp>
      <p:sp>
        <p:nvSpPr>
          <p:cNvPr id="5" name="Text 3"/>
          <p:cNvSpPr/>
          <p:nvPr/>
        </p:nvSpPr>
        <p:spPr>
          <a:xfrm>
            <a:off x="457200" y="960120"/>
            <a:ext cx="5486400" cy="731520"/>
          </a:xfrm>
          <a:prstGeom prst="rect">
            <a:avLst/>
          </a:prstGeom>
          <a:noFill/>
          <a:ln/>
        </p:spPr>
        <p:txBody>
          <a:bodyPr wrap="square" lIns="0" tIns="0" rIns="0" bIns="0" rtlCol="0" anchor="ctr"/>
          <a:lstStyle/>
          <a:p>
            <a:pPr indent="0" marL="0">
              <a:buNone/>
            </a:pPr>
            <a:r>
              <a:rPr lang="en-US" sz="3200" b="1" dirty="0">
                <a:solidFill>
                  <a:srgbClr val="FFFFFF"/>
                </a:solidFill>
              </a:rPr>
              <a:t>The Blast Radius</a:t>
            </a:r>
            <a:endParaRPr lang="en-US" sz="3200" dirty="0"/>
          </a:p>
        </p:txBody>
      </p:sp>
      <p:sp>
        <p:nvSpPr>
          <p:cNvPr id="6" name="Text 4"/>
          <p:cNvSpPr/>
          <p:nvPr/>
        </p:nvSpPr>
        <p:spPr>
          <a:xfrm>
            <a:off x="457200" y="1737360"/>
            <a:ext cx="5486400" cy="365760"/>
          </a:xfrm>
          <a:prstGeom prst="rect">
            <a:avLst/>
          </a:prstGeom>
          <a:noFill/>
          <a:ln/>
        </p:spPr>
        <p:txBody>
          <a:bodyPr wrap="square" lIns="0" tIns="0" rIns="0" bIns="0" rtlCol="0" anchor="ctr"/>
          <a:lstStyle/>
          <a:p>
            <a:pPr indent="0" marL="0">
              <a:buNone/>
            </a:pPr>
            <a:r>
              <a:rPr lang="en-US" sz="1400" i="1" dirty="0">
                <a:solidFill>
                  <a:srgbClr val="C0392B"/>
                </a:solidFill>
              </a:rPr>
              <a:t>If one component disappears — how many cars stop?</a:t>
            </a:r>
            <a:endParaRPr lang="en-US" sz="1400" dirty="0"/>
          </a:p>
        </p:txBody>
      </p:sp>
      <p:sp>
        <p:nvSpPr>
          <p:cNvPr id="7" name="Shape 5"/>
          <p:cNvSpPr/>
          <p:nvPr/>
        </p:nvSpPr>
        <p:spPr>
          <a:xfrm>
            <a:off x="457200" y="2286000"/>
            <a:ext cx="5120640" cy="36576"/>
          </a:xfrm>
          <a:prstGeom prst="rect">
            <a:avLst/>
          </a:prstGeom>
          <a:solidFill>
            <a:srgbClr val="C0392B"/>
          </a:solidFill>
          <a:ln w="12700">
            <a:solidFill>
              <a:srgbClr val="C0392B"/>
            </a:solidFill>
            <a:prstDash val="solid"/>
          </a:ln>
        </p:spPr>
      </p:sp>
      <p:sp>
        <p:nvSpPr>
          <p:cNvPr id="8" name="Text 6"/>
          <p:cNvSpPr/>
          <p:nvPr/>
        </p:nvSpPr>
        <p:spPr>
          <a:xfrm>
            <a:off x="457200" y="2423160"/>
            <a:ext cx="5120640" cy="256032"/>
          </a:xfrm>
          <a:prstGeom prst="rect">
            <a:avLst/>
          </a:prstGeom>
          <a:noFill/>
          <a:ln/>
        </p:spPr>
        <p:txBody>
          <a:bodyPr wrap="square" lIns="0" tIns="0" rIns="0" bIns="0" rtlCol="0" anchor="ctr"/>
          <a:lstStyle/>
          <a:p>
            <a:pPr indent="0" marL="0">
              <a:buNone/>
            </a:pPr>
            <a:r>
              <a:rPr lang="en-US" sz="1000" b="1" dirty="0">
                <a:solidFill>
                  <a:srgbClr val="D4A843"/>
                </a:solidFill>
              </a:rPr>
              <a:t>What the operations team is asking:</a:t>
            </a:r>
            <a:endParaRPr lang="en-US" sz="1000" dirty="0"/>
          </a:p>
        </p:txBody>
      </p:sp>
      <p:sp>
        <p:nvSpPr>
          <p:cNvPr id="9" name="Text 7"/>
          <p:cNvSpPr/>
          <p:nvPr/>
        </p:nvSpPr>
        <p:spPr>
          <a:xfrm>
            <a:off x="457200" y="2724912"/>
            <a:ext cx="5120640" cy="1645920"/>
          </a:xfrm>
          <a:prstGeom prst="rect">
            <a:avLst/>
          </a:prstGeom>
          <a:noFill/>
          <a:ln/>
        </p:spPr>
        <p:txBody>
          <a:bodyPr wrap="square" lIns="0" tIns="0" rIns="0" bIns="0" rtlCol="0" anchor="ctr"/>
          <a:lstStyle/>
          <a:p>
            <a:pPr indent="0" marL="0">
              <a:buNone/>
            </a:pPr>
            <a:r>
              <a:rPr lang="en-US" sz="1100" dirty="0">
                <a:solidFill>
                  <a:srgbClr val="E2E8F0"/>
                </a:solidFill>
              </a:rPr>
              <a:t>We now know the structure, the complexity, the flow, the timeline and the buffers. The final question is the most operationally critical: which specific components, if disrupted, would cascade failure across the largest share of our finished vehicle portfolio? This is where graph traversal gives us answers spreadsheets cannot.</a:t>
            </a:r>
            <a:endParaRPr lang="en-US" sz="1100" dirty="0"/>
          </a:p>
        </p:txBody>
      </p:sp>
      <p:sp>
        <p:nvSpPr>
          <p:cNvPr id="10" name="Text 8"/>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Shape 1"/>
          <p:cNvSpPr/>
          <p:nvPr/>
        </p:nvSpPr>
        <p:spPr>
          <a:xfrm>
            <a:off x="274320" y="137160"/>
            <a:ext cx="960120" cy="329184"/>
          </a:xfrm>
          <a:prstGeom prst="rect">
            <a:avLst/>
          </a:prstGeom>
          <a:solidFill>
            <a:srgbClr val="C0392B"/>
          </a:solidFill>
          <a:ln w="12700">
            <a:solidFill>
              <a:srgbClr val="C0392B"/>
            </a:solidFill>
            <a:prstDash val="solid"/>
          </a:ln>
        </p:spPr>
      </p:sp>
      <p:sp>
        <p:nvSpPr>
          <p:cNvPr id="4" name="Text 2"/>
          <p:cNvSpPr/>
          <p:nvPr/>
        </p:nvSpPr>
        <p:spPr>
          <a:xfrm>
            <a:off x="274320" y="137160"/>
            <a:ext cx="960120" cy="329184"/>
          </a:xfrm>
          <a:prstGeom prst="rect">
            <a:avLst/>
          </a:prstGeom>
          <a:noFill/>
          <a:ln/>
        </p:spPr>
        <p:txBody>
          <a:bodyPr wrap="square" lIns="0" tIns="0" rIns="0" bIns="0" rtlCol="0" anchor="ctr"/>
          <a:lstStyle/>
          <a:p>
            <a:pPr algn="ctr" indent="0" marL="0">
              <a:buNone/>
            </a:pPr>
            <a:r>
              <a:rPr lang="en-US" sz="1000" b="1" dirty="0">
                <a:solidFill>
                  <a:srgbClr val="FFFFFF"/>
                </a:solidFill>
              </a:rPr>
              <a:t>EDA 10</a:t>
            </a:r>
            <a:endParaRPr lang="en-US" sz="1000" dirty="0"/>
          </a:p>
        </p:txBody>
      </p:sp>
      <p:sp>
        <p:nvSpPr>
          <p:cNvPr id="5" name="Text 3"/>
          <p:cNvSpPr/>
          <p:nvPr/>
        </p:nvSpPr>
        <p:spPr>
          <a:xfrm>
            <a:off x="1371600" y="128016"/>
            <a:ext cx="7498080" cy="384048"/>
          </a:xfrm>
          <a:prstGeom prst="rect">
            <a:avLst/>
          </a:prstGeom>
          <a:noFill/>
          <a:ln/>
        </p:spPr>
        <p:txBody>
          <a:bodyPr wrap="square" lIns="0" tIns="0" rIns="0" bIns="0" rtlCol="0" anchor="ctr"/>
          <a:lstStyle/>
          <a:p>
            <a:pPr indent="0" marL="0">
              <a:buNone/>
            </a:pPr>
            <a:r>
              <a:rPr lang="en-US" sz="1600" b="1" dirty="0">
                <a:solidFill>
                  <a:srgbClr val="FFFFFF"/>
                </a:solidFill>
              </a:rPr>
              <a:t>Downstream Component Impact — Which parts, if lost, take down the entire fleet?</a:t>
            </a:r>
            <a:endParaRPr lang="en-US" sz="1600" dirty="0"/>
          </a:p>
        </p:txBody>
      </p:sp>
      <p:sp>
        <p:nvSpPr>
          <p:cNvPr id="6" name="Shape 4"/>
          <p:cNvSpPr/>
          <p:nvPr/>
        </p:nvSpPr>
        <p:spPr>
          <a:xfrm>
            <a:off x="256032" y="749808"/>
            <a:ext cx="8631936" cy="347472"/>
          </a:xfrm>
          <a:prstGeom prst="rect">
            <a:avLst/>
          </a:prstGeom>
          <a:solidFill>
            <a:srgbClr val="162032"/>
          </a:solidFill>
          <a:ln w="13970">
            <a:solidFill>
              <a:srgbClr val="F6AD55"/>
            </a:solidFill>
            <a:prstDash val="solid"/>
          </a:ln>
        </p:spPr>
      </p:sp>
      <p:sp>
        <p:nvSpPr>
          <p:cNvPr id="7" name="Text 5"/>
          <p:cNvSpPr/>
          <p:nvPr/>
        </p:nvSpPr>
        <p:spPr>
          <a:xfrm>
            <a:off x="384048" y="749808"/>
            <a:ext cx="8412480" cy="347472"/>
          </a:xfrm>
          <a:prstGeom prst="rect">
            <a:avLst/>
          </a:prstGeom>
          <a:noFill/>
          <a:ln/>
        </p:spPr>
        <p:txBody>
          <a:bodyPr wrap="square" lIns="0" tIns="0" rIns="0" bIns="0" rtlCol="0" anchor="ctr"/>
          <a:lstStyle/>
          <a:p>
            <a:pPr indent="0" marL="0">
              <a:buNone/>
            </a:pPr>
            <a:r>
              <a:rPr lang="en-US" sz="1000" b="1" dirty="0">
                <a:solidFill>
                  <a:srgbClr val="D4A843"/>
                </a:solidFill>
              </a:rPr>
              <a:t>Manager asks:  </a:t>
            </a:r>
            <a:pPr indent="0" marL="0">
              <a:buNone/>
            </a:pPr>
            <a:r>
              <a:rPr lang="en-US" sz="1000" i="1" dirty="0">
                <a:solidFill>
                  <a:srgbClr val="FFFFFF"/>
                </a:solidFill>
              </a:rPr>
              <a:t>If supplier X stops tomorrow, which car models can we still build — and which ones cannot?</a:t>
            </a:r>
            <a:endParaRPr lang="en-US" sz="1000" dirty="0"/>
          </a:p>
        </p:txBody>
      </p:sp>
      <p:sp>
        <p:nvSpPr>
          <p:cNvPr id="8" name="Shape 6"/>
          <p:cNvSpPr/>
          <p:nvPr/>
        </p:nvSpPr>
        <p:spPr>
          <a:xfrm>
            <a:off x="5559552" y="1536192"/>
            <a:ext cx="3328416" cy="310896"/>
          </a:xfrm>
          <a:prstGeom prst="rect">
            <a:avLst/>
          </a:prstGeom>
          <a:solidFill>
            <a:srgbClr val="C0392B"/>
          </a:solidFill>
          <a:ln w="12700">
            <a:solidFill>
              <a:srgbClr val="C0392B"/>
            </a:solidFill>
            <a:prstDash val="solid"/>
          </a:ln>
        </p:spPr>
      </p:sp>
      <p:sp>
        <p:nvSpPr>
          <p:cNvPr id="9" name="Text 7"/>
          <p:cNvSpPr/>
          <p:nvPr/>
        </p:nvSpPr>
        <p:spPr>
          <a:xfrm>
            <a:off x="5559552" y="1536192"/>
            <a:ext cx="3328416" cy="310896"/>
          </a:xfrm>
          <a:prstGeom prst="rect">
            <a:avLst/>
          </a:prstGeom>
          <a:noFill/>
          <a:ln/>
        </p:spPr>
        <p:txBody>
          <a:bodyPr wrap="square" lIns="0" tIns="101600" rIns="0" bIns="0" rtlCol="0" anchor="ctr"/>
          <a:lstStyle/>
          <a:p>
            <a:pPr algn="l" indent="0" marL="0">
              <a:buNone/>
            </a:pPr>
            <a:r>
              <a:rPr lang="en-US" sz="1100" b="1" dirty="0">
                <a:solidFill>
                  <a:srgbClr val="FFFFFF"/>
                </a:solidFill>
              </a:rPr>
              <a:t>Key Findings</a:t>
            </a:r>
            <a:endParaRPr lang="en-US" sz="1100" dirty="0"/>
          </a:p>
        </p:txBody>
      </p:sp>
      <p:sp>
        <p:nvSpPr>
          <p:cNvPr id="10" name="Shape 8"/>
          <p:cNvSpPr/>
          <p:nvPr/>
        </p:nvSpPr>
        <p:spPr>
          <a:xfrm>
            <a:off x="5559552" y="1847088"/>
            <a:ext cx="3328416" cy="1828800"/>
          </a:xfrm>
          <a:prstGeom prst="rect">
            <a:avLst/>
          </a:prstGeom>
          <a:solidFill>
            <a:srgbClr val="1A2E44"/>
          </a:solidFill>
          <a:ln w="12700">
            <a:solidFill>
              <a:srgbClr val="1A2E44"/>
            </a:solidFill>
            <a:prstDash val="solid"/>
          </a:ln>
        </p:spPr>
      </p:sp>
      <p:sp>
        <p:nvSpPr>
          <p:cNvPr id="11" name="Shape 9"/>
          <p:cNvSpPr/>
          <p:nvPr/>
        </p:nvSpPr>
        <p:spPr>
          <a:xfrm>
            <a:off x="5632704" y="1956816"/>
            <a:ext cx="118872" cy="118872"/>
          </a:xfrm>
          <a:prstGeom prst="ellipse">
            <a:avLst/>
          </a:prstGeom>
          <a:solidFill>
            <a:srgbClr val="F6AD55"/>
          </a:solidFill>
          <a:ln w="12700">
            <a:solidFill>
              <a:srgbClr val="F6AD55"/>
            </a:solidFill>
            <a:prstDash val="solid"/>
          </a:ln>
        </p:spPr>
      </p:sp>
      <p:sp>
        <p:nvSpPr>
          <p:cNvPr id="12" name="Text 10"/>
          <p:cNvSpPr/>
          <p:nvPr/>
        </p:nvSpPr>
        <p:spPr>
          <a:xfrm>
            <a:off x="5815584" y="1901952"/>
            <a:ext cx="2999232" cy="402336"/>
          </a:xfrm>
          <a:prstGeom prst="rect">
            <a:avLst/>
          </a:prstGeom>
          <a:noFill/>
          <a:ln/>
        </p:spPr>
        <p:txBody>
          <a:bodyPr wrap="square" lIns="0" tIns="0" rIns="0" bIns="0" rtlCol="0" anchor="t"/>
          <a:lstStyle/>
          <a:p>
            <a:pPr indent="0" marL="0">
              <a:buNone/>
            </a:pPr>
            <a:r>
              <a:rPr lang="en-US" sz="950" dirty="0">
                <a:solidFill>
                  <a:srgbClr val="E2E8F0"/>
                </a:solidFill>
              </a:rPr>
              <a:t>componment_seat2 and Q4H (seat): 42.99% of car portfolio — 12,038 cars affected</a:t>
            </a:r>
            <a:endParaRPr lang="en-US" sz="950" dirty="0"/>
          </a:p>
        </p:txBody>
      </p:sp>
      <p:sp>
        <p:nvSpPr>
          <p:cNvPr id="13" name="Shape 11"/>
          <p:cNvSpPr/>
          <p:nvPr/>
        </p:nvSpPr>
        <p:spPr>
          <a:xfrm>
            <a:off x="5632704" y="2395728"/>
            <a:ext cx="118872" cy="118872"/>
          </a:xfrm>
          <a:prstGeom prst="ellipse">
            <a:avLst/>
          </a:prstGeom>
          <a:solidFill>
            <a:srgbClr val="F6AD55"/>
          </a:solidFill>
          <a:ln w="12700">
            <a:solidFill>
              <a:srgbClr val="F6AD55"/>
            </a:solidFill>
            <a:prstDash val="solid"/>
          </a:ln>
        </p:spPr>
      </p:sp>
      <p:sp>
        <p:nvSpPr>
          <p:cNvPr id="14" name="Text 12"/>
          <p:cNvSpPr/>
          <p:nvPr/>
        </p:nvSpPr>
        <p:spPr>
          <a:xfrm>
            <a:off x="5815584" y="2340864"/>
            <a:ext cx="2999232" cy="402336"/>
          </a:xfrm>
          <a:prstGeom prst="rect">
            <a:avLst/>
          </a:prstGeom>
          <a:noFill/>
          <a:ln/>
        </p:spPr>
        <p:txBody>
          <a:bodyPr wrap="square" lIns="0" tIns="0" rIns="0" bIns="0" rtlCol="0" anchor="t"/>
          <a:lstStyle/>
          <a:p>
            <a:pPr indent="0" marL="0">
              <a:buNone/>
            </a:pPr>
            <a:r>
              <a:rPr lang="en-US" sz="950" dirty="0">
                <a:solidFill>
                  <a:srgbClr val="E2E8F0"/>
                </a:solidFill>
              </a:rPr>
              <a:t>componment_seat1 and Q2J (seat): 34.74% — 9,726 cars each</a:t>
            </a:r>
            <a:endParaRPr lang="en-US" sz="950" dirty="0"/>
          </a:p>
        </p:txBody>
      </p:sp>
      <p:sp>
        <p:nvSpPr>
          <p:cNvPr id="15" name="Shape 13"/>
          <p:cNvSpPr/>
          <p:nvPr/>
        </p:nvSpPr>
        <p:spPr>
          <a:xfrm>
            <a:off x="5632704" y="2834640"/>
            <a:ext cx="118872" cy="118872"/>
          </a:xfrm>
          <a:prstGeom prst="ellipse">
            <a:avLst/>
          </a:prstGeom>
          <a:solidFill>
            <a:srgbClr val="F6AD55"/>
          </a:solidFill>
          <a:ln w="12700">
            <a:solidFill>
              <a:srgbClr val="F6AD55"/>
            </a:solidFill>
            <a:prstDash val="solid"/>
          </a:ln>
        </p:spPr>
      </p:sp>
      <p:sp>
        <p:nvSpPr>
          <p:cNvPr id="16" name="Text 14"/>
          <p:cNvSpPr/>
          <p:nvPr/>
        </p:nvSpPr>
        <p:spPr>
          <a:xfrm>
            <a:off x="5815584" y="2779776"/>
            <a:ext cx="2999232" cy="402336"/>
          </a:xfrm>
          <a:prstGeom prst="rect">
            <a:avLst/>
          </a:prstGeom>
          <a:noFill/>
          <a:ln/>
        </p:spPr>
        <p:txBody>
          <a:bodyPr wrap="square" lIns="0" tIns="0" rIns="0" bIns="0" rtlCol="0" anchor="t"/>
          <a:lstStyle/>
          <a:p>
            <a:pPr indent="0" marL="0">
              <a:buNone/>
            </a:pPr>
            <a:r>
              <a:rPr lang="en-US" sz="950" dirty="0">
                <a:solidFill>
                  <a:srgbClr val="E2E8F0"/>
                </a:solidFill>
              </a:rPr>
              <a:t>G0K (gear): 30.69% — 8,592 cars depend on this single gear component</a:t>
            </a:r>
            <a:endParaRPr lang="en-US" sz="950" dirty="0"/>
          </a:p>
        </p:txBody>
      </p:sp>
      <p:sp>
        <p:nvSpPr>
          <p:cNvPr id="17" name="Shape 15"/>
          <p:cNvSpPr/>
          <p:nvPr/>
        </p:nvSpPr>
        <p:spPr>
          <a:xfrm>
            <a:off x="5632704" y="3273552"/>
            <a:ext cx="118872" cy="118872"/>
          </a:xfrm>
          <a:prstGeom prst="ellipse">
            <a:avLst/>
          </a:prstGeom>
          <a:solidFill>
            <a:srgbClr val="F6AD55"/>
          </a:solidFill>
          <a:ln w="12700">
            <a:solidFill>
              <a:srgbClr val="F6AD55"/>
            </a:solidFill>
            <a:prstDash val="solid"/>
          </a:ln>
        </p:spPr>
      </p:sp>
      <p:sp>
        <p:nvSpPr>
          <p:cNvPr id="18" name="Text 16"/>
          <p:cNvSpPr/>
          <p:nvPr/>
        </p:nvSpPr>
        <p:spPr>
          <a:xfrm>
            <a:off x="5815584" y="3218688"/>
            <a:ext cx="2999232" cy="402336"/>
          </a:xfrm>
          <a:prstGeom prst="rect">
            <a:avLst/>
          </a:prstGeom>
          <a:noFill/>
          <a:ln/>
        </p:spPr>
        <p:txBody>
          <a:bodyPr wrap="square" lIns="0" tIns="0" rIns="0" bIns="0" rtlCol="0" anchor="t"/>
          <a:lstStyle/>
          <a:p>
            <a:pPr indent="0" marL="0">
              <a:buNone/>
            </a:pPr>
            <a:r>
              <a:rPr lang="en-US" sz="950" dirty="0">
                <a:solidFill>
                  <a:srgbClr val="E2E8F0"/>
                </a:solidFill>
              </a:rPr>
              <a:t>Engine, gear and seat components collectively affect 100% of all 28,000 car SKUs</a:t>
            </a:r>
            <a:endParaRPr lang="en-US" sz="950" dirty="0"/>
          </a:p>
        </p:txBody>
      </p:sp>
      <p:sp>
        <p:nvSpPr>
          <p:cNvPr id="19" name="Shape 17"/>
          <p:cNvSpPr/>
          <p:nvPr/>
        </p:nvSpPr>
        <p:spPr>
          <a:xfrm>
            <a:off x="5559552" y="3712464"/>
            <a:ext cx="3328416" cy="256032"/>
          </a:xfrm>
          <a:prstGeom prst="rect">
            <a:avLst/>
          </a:prstGeom>
          <a:solidFill>
            <a:srgbClr val="122030"/>
          </a:solidFill>
          <a:ln w="12700">
            <a:solidFill>
              <a:srgbClr val="F6AD55"/>
            </a:solidFill>
            <a:prstDash val="solid"/>
          </a:ln>
        </p:spPr>
      </p:sp>
      <p:sp>
        <p:nvSpPr>
          <p:cNvPr id="20" name="Text 18"/>
          <p:cNvSpPr/>
          <p:nvPr/>
        </p:nvSpPr>
        <p:spPr>
          <a:xfrm>
            <a:off x="5632704" y="3712464"/>
            <a:ext cx="3200400" cy="256032"/>
          </a:xfrm>
          <a:prstGeom prst="rect">
            <a:avLst/>
          </a:prstGeom>
          <a:noFill/>
          <a:ln/>
        </p:spPr>
        <p:txBody>
          <a:bodyPr wrap="square" lIns="0" tIns="0" rIns="0" bIns="0" rtlCol="0" anchor="ctr"/>
          <a:lstStyle/>
          <a:p>
            <a:pPr indent="0" marL="0">
              <a:buNone/>
            </a:pPr>
            <a:r>
              <a:rPr lang="en-US" sz="900" b="1" dirty="0">
                <a:solidFill>
                  <a:srgbClr val="D4A843"/>
                </a:solidFill>
              </a:rPr>
              <a:t>Story insight</a:t>
            </a:r>
            <a:endParaRPr lang="en-US" sz="900" dirty="0"/>
          </a:p>
        </p:txBody>
      </p:sp>
      <p:sp>
        <p:nvSpPr>
          <p:cNvPr id="21" name="Shape 19"/>
          <p:cNvSpPr/>
          <p:nvPr/>
        </p:nvSpPr>
        <p:spPr>
          <a:xfrm>
            <a:off x="5559552" y="3968496"/>
            <a:ext cx="3328416" cy="914400"/>
          </a:xfrm>
          <a:prstGeom prst="rect">
            <a:avLst/>
          </a:prstGeom>
          <a:solidFill>
            <a:srgbClr val="0F1E2E"/>
          </a:solidFill>
          <a:ln w="12700">
            <a:solidFill>
              <a:srgbClr val="0F1E2E"/>
            </a:solidFill>
            <a:prstDash val="solid"/>
          </a:ln>
        </p:spPr>
      </p:sp>
      <p:sp>
        <p:nvSpPr>
          <p:cNvPr id="22" name="Text 20"/>
          <p:cNvSpPr/>
          <p:nvPr/>
        </p:nvSpPr>
        <p:spPr>
          <a:xfrm>
            <a:off x="5632704" y="3986784"/>
            <a:ext cx="3200400" cy="877824"/>
          </a:xfrm>
          <a:prstGeom prst="rect">
            <a:avLst/>
          </a:prstGeom>
          <a:noFill/>
          <a:ln/>
        </p:spPr>
        <p:txBody>
          <a:bodyPr wrap="square" lIns="0" tIns="0" rIns="0" bIns="0" rtlCol="0" anchor="t"/>
          <a:lstStyle/>
          <a:p>
            <a:pPr indent="0" marL="0">
              <a:buNone/>
            </a:pPr>
            <a:r>
              <a:rPr lang="en-US" sz="900" dirty="0">
                <a:solidFill>
                  <a:srgbClr val="E2E8F0"/>
                </a:solidFill>
              </a:rPr>
              <a:t>This is the answer to the original question. The seat family is the most concentrated blast-radius risk — a single seat sub-component affects over 42% of the entire car portfolio. Engine, gear and seat together represent fleet-wide existential risk. There is no safe production subset if these fail.</a:t>
            </a:r>
            <a:endParaRPr lang="en-US" sz="900" dirty="0"/>
          </a:p>
        </p:txBody>
      </p:sp>
      <p:sp>
        <p:nvSpPr>
          <p:cNvPr id="23" name="Text 21"/>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graphicFrame>
        <p:nvGraphicFramePr>
          <p:cNvPr id="24" name="Chart 0" descr=""/>
          <p:cNvGraphicFramePr/>
          <p:nvPr/>
        </p:nvGraphicFramePr>
        <p:xfrm>
          <a:off x="256032" y="1207008"/>
          <a:ext cx="5120640" cy="3346704"/>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B20"/>
        </a:solidFill>
      </p:bgPr>
    </p:bg>
    <p:spTree>
      <p:nvGrpSpPr>
        <p:cNvPr id="1" name=""/>
        <p:cNvGrpSpPr/>
        <p:nvPr/>
      </p:nvGrpSpPr>
      <p:grpSpPr>
        <a:xfrm>
          <a:off x="0" y="0"/>
          <a:ext cx="0" cy="0"/>
          <a:chOff x="0" y="0"/>
          <a:chExt cx="0" cy="0"/>
        </a:xfrm>
      </p:grpSpPr>
      <p:sp>
        <p:nvSpPr>
          <p:cNvPr id="2" name="Text 0"/>
          <p:cNvSpPr/>
          <p:nvPr/>
        </p:nvSpPr>
        <p:spPr>
          <a:xfrm>
            <a:off x="5943600" y="274320"/>
            <a:ext cx="2926080" cy="4114800"/>
          </a:xfrm>
          <a:prstGeom prst="rect">
            <a:avLst/>
          </a:prstGeom>
          <a:noFill/>
          <a:ln/>
        </p:spPr>
        <p:txBody>
          <a:bodyPr wrap="square" lIns="0" tIns="0" rIns="0" bIns="0" rtlCol="0" anchor="t"/>
          <a:lstStyle/>
          <a:p>
            <a:pPr algn="r" indent="0" marL="0">
              <a:buNone/>
            </a:pPr>
            <a:r>
              <a:rPr lang="en-US" sz="18000" b="1" dirty="0">
                <a:solidFill>
                  <a:srgbClr val="1A1640">
                    <a:alpha val="30000"/>
                  </a:srgbClr>
                </a:solidFill>
              </a:rPr>
              <a:t>07</a:t>
            </a:r>
            <a:endParaRPr lang="en-US" sz="18000" dirty="0"/>
          </a:p>
        </p:txBody>
      </p:sp>
      <p:sp>
        <p:nvSpPr>
          <p:cNvPr id="3" name="Shape 1"/>
          <p:cNvSpPr/>
          <p:nvPr/>
        </p:nvSpPr>
        <p:spPr>
          <a:xfrm>
            <a:off x="457200" y="548640"/>
            <a:ext cx="2286000" cy="292608"/>
          </a:xfrm>
          <a:prstGeom prst="rect">
            <a:avLst/>
          </a:prstGeom>
          <a:solidFill>
            <a:srgbClr val="6C5CE7"/>
          </a:solidFill>
          <a:ln w="12700">
            <a:solidFill>
              <a:srgbClr val="6C5CE7"/>
            </a:solidFill>
            <a:prstDash val="solid"/>
          </a:ln>
        </p:spPr>
      </p:sp>
      <p:sp>
        <p:nvSpPr>
          <p:cNvPr id="4" name="Text 2"/>
          <p:cNvSpPr/>
          <p:nvPr/>
        </p:nvSpPr>
        <p:spPr>
          <a:xfrm>
            <a:off x="457200" y="548640"/>
            <a:ext cx="2286000" cy="292608"/>
          </a:xfrm>
          <a:prstGeom prst="rect">
            <a:avLst/>
          </a:prstGeom>
          <a:noFill/>
          <a:ln/>
        </p:spPr>
        <p:txBody>
          <a:bodyPr wrap="square" lIns="0" tIns="0" rIns="0" bIns="0" rtlCol="0" anchor="ctr"/>
          <a:lstStyle/>
          <a:p>
            <a:pPr algn="ctr" indent="0" marL="0">
              <a:buNone/>
            </a:pPr>
            <a:r>
              <a:rPr lang="en-US" sz="900" b="1" dirty="0">
                <a:solidFill>
                  <a:srgbClr val="FFFFFF"/>
                </a:solidFill>
              </a:rPr>
              <a:t>DEEPER ANALYTICS</a:t>
            </a:r>
            <a:endParaRPr lang="en-US" sz="900" dirty="0"/>
          </a:p>
        </p:txBody>
      </p:sp>
      <p:sp>
        <p:nvSpPr>
          <p:cNvPr id="5" name="Text 3"/>
          <p:cNvSpPr/>
          <p:nvPr/>
        </p:nvSpPr>
        <p:spPr>
          <a:xfrm>
            <a:off x="457200" y="960120"/>
            <a:ext cx="5486400" cy="731520"/>
          </a:xfrm>
          <a:prstGeom prst="rect">
            <a:avLst/>
          </a:prstGeom>
          <a:noFill/>
          <a:ln/>
        </p:spPr>
        <p:txBody>
          <a:bodyPr wrap="square" lIns="0" tIns="0" rIns="0" bIns="0" rtlCol="0" anchor="ctr"/>
          <a:lstStyle/>
          <a:p>
            <a:pPr indent="0" marL="0">
              <a:buNone/>
            </a:pPr>
            <a:r>
              <a:rPr lang="en-US" sz="2800" b="1" dirty="0">
                <a:solidFill>
                  <a:srgbClr val="FFFFFF"/>
                </a:solidFill>
              </a:rPr>
              <a:t>Strategic Analytical Questions</a:t>
            </a:r>
            <a:endParaRPr lang="en-US" sz="2800" dirty="0"/>
          </a:p>
        </p:txBody>
      </p:sp>
      <p:sp>
        <p:nvSpPr>
          <p:cNvPr id="6" name="Text 4"/>
          <p:cNvSpPr/>
          <p:nvPr/>
        </p:nvSpPr>
        <p:spPr>
          <a:xfrm>
            <a:off x="457200" y="1737360"/>
            <a:ext cx="5486400" cy="365760"/>
          </a:xfrm>
          <a:prstGeom prst="rect">
            <a:avLst/>
          </a:prstGeom>
          <a:noFill/>
          <a:ln/>
        </p:spPr>
        <p:txBody>
          <a:bodyPr wrap="square" lIns="0" tIns="0" rIns="0" bIns="0" rtlCol="0" anchor="ctr"/>
          <a:lstStyle/>
          <a:p>
            <a:pPr indent="0" marL="0">
              <a:buNone/>
            </a:pPr>
            <a:r>
              <a:rPr lang="en-US" sz="1300" i="1" dirty="0">
                <a:solidFill>
                  <a:srgbClr val="6C5CE7"/>
                </a:solidFill>
              </a:rPr>
              <a:t>Going beyond EDA to answer operational risk questions</a:t>
            </a:r>
            <a:endParaRPr lang="en-US" sz="1300" dirty="0"/>
          </a:p>
        </p:txBody>
      </p:sp>
      <p:sp>
        <p:nvSpPr>
          <p:cNvPr id="7" name="Shape 5"/>
          <p:cNvSpPr/>
          <p:nvPr/>
        </p:nvSpPr>
        <p:spPr>
          <a:xfrm>
            <a:off x="457200" y="2286000"/>
            <a:ext cx="5120640" cy="36576"/>
          </a:xfrm>
          <a:prstGeom prst="rect">
            <a:avLst/>
          </a:prstGeom>
          <a:solidFill>
            <a:srgbClr val="6C5CE7"/>
          </a:solidFill>
          <a:ln w="12700">
            <a:solidFill>
              <a:srgbClr val="6C5CE7"/>
            </a:solidFill>
            <a:prstDash val="solid"/>
          </a:ln>
        </p:spPr>
      </p:sp>
      <p:sp>
        <p:nvSpPr>
          <p:cNvPr id="8" name="Text 6"/>
          <p:cNvSpPr/>
          <p:nvPr/>
        </p:nvSpPr>
        <p:spPr>
          <a:xfrm>
            <a:off x="457200" y="2423160"/>
            <a:ext cx="5120640" cy="256032"/>
          </a:xfrm>
          <a:prstGeom prst="rect">
            <a:avLst/>
          </a:prstGeom>
          <a:noFill/>
          <a:ln/>
        </p:spPr>
        <p:txBody>
          <a:bodyPr wrap="square" lIns="0" tIns="0" rIns="0" bIns="0" rtlCol="0" anchor="ctr"/>
          <a:lstStyle/>
          <a:p>
            <a:pPr indent="0" marL="0">
              <a:buNone/>
            </a:pPr>
            <a:r>
              <a:rPr lang="en-US" sz="1000" b="1" dirty="0">
                <a:solidFill>
                  <a:srgbClr val="F6AD55"/>
                </a:solidFill>
              </a:rPr>
              <a:t>Three strategic questions:</a:t>
            </a:r>
            <a:endParaRPr lang="en-US" sz="1000" dirty="0"/>
          </a:p>
        </p:txBody>
      </p:sp>
      <p:sp>
        <p:nvSpPr>
          <p:cNvPr id="9" name="Shape 7"/>
          <p:cNvSpPr/>
          <p:nvPr/>
        </p:nvSpPr>
        <p:spPr>
          <a:xfrm>
            <a:off x="457200" y="2852928"/>
            <a:ext cx="128016" cy="128016"/>
          </a:xfrm>
          <a:prstGeom prst="ellipse">
            <a:avLst/>
          </a:prstGeom>
          <a:solidFill>
            <a:srgbClr val="6C5CE7"/>
          </a:solidFill>
          <a:ln w="12700">
            <a:solidFill>
              <a:srgbClr val="6C5CE7"/>
            </a:solidFill>
            <a:prstDash val="solid"/>
          </a:ln>
        </p:spPr>
      </p:sp>
      <p:sp>
        <p:nvSpPr>
          <p:cNvPr id="10" name="Text 8"/>
          <p:cNvSpPr/>
          <p:nvPr/>
        </p:nvSpPr>
        <p:spPr>
          <a:xfrm>
            <a:off x="658368" y="2788920"/>
            <a:ext cx="4754880" cy="347472"/>
          </a:xfrm>
          <a:prstGeom prst="rect">
            <a:avLst/>
          </a:prstGeom>
          <a:noFill/>
          <a:ln/>
        </p:spPr>
        <p:txBody>
          <a:bodyPr wrap="square" lIns="0" tIns="0" rIns="0" bIns="0" rtlCol="0" anchor="ctr"/>
          <a:lstStyle/>
          <a:p>
            <a:pPr indent="0" marL="0">
              <a:buNone/>
            </a:pPr>
            <a:r>
              <a:rPr lang="en-US" sz="1050" dirty="0">
                <a:solidFill>
                  <a:srgbClr val="E2E8F0"/>
                </a:solidFill>
              </a:rPr>
              <a:t>AQ1: Component Concentration Risk Map — which BOM hubs have the largest blast radius?</a:t>
            </a:r>
            <a:endParaRPr lang="en-US" sz="1050" dirty="0"/>
          </a:p>
        </p:txBody>
      </p:sp>
      <p:sp>
        <p:nvSpPr>
          <p:cNvPr id="11" name="Shape 9"/>
          <p:cNvSpPr/>
          <p:nvPr/>
        </p:nvSpPr>
        <p:spPr>
          <a:xfrm>
            <a:off x="457200" y="3236976"/>
            <a:ext cx="128016" cy="128016"/>
          </a:xfrm>
          <a:prstGeom prst="ellipse">
            <a:avLst/>
          </a:prstGeom>
          <a:solidFill>
            <a:srgbClr val="6C5CE7"/>
          </a:solidFill>
          <a:ln w="12700">
            <a:solidFill>
              <a:srgbClr val="6C5CE7"/>
            </a:solidFill>
            <a:prstDash val="solid"/>
          </a:ln>
        </p:spPr>
      </p:sp>
      <p:sp>
        <p:nvSpPr>
          <p:cNvPr id="12" name="Text 10"/>
          <p:cNvSpPr/>
          <p:nvPr/>
        </p:nvSpPr>
        <p:spPr>
          <a:xfrm>
            <a:off x="658368" y="3172968"/>
            <a:ext cx="4754880" cy="347472"/>
          </a:xfrm>
          <a:prstGeom prst="rect">
            <a:avLst/>
          </a:prstGeom>
          <a:noFill/>
          <a:ln/>
        </p:spPr>
        <p:txBody>
          <a:bodyPr wrap="square" lIns="0" tIns="0" rIns="0" bIns="0" rtlCol="0" anchor="ctr"/>
          <a:lstStyle/>
          <a:p>
            <a:pPr indent="0" marL="0">
              <a:buNone/>
            </a:pPr>
            <a:r>
              <a:rPr lang="en-US" sz="1050" dirty="0">
                <a:solidFill>
                  <a:srgbClr val="E2E8F0"/>
                </a:solidFill>
              </a:rPr>
              <a:t>AQ2: Arc Structural Fragility — which supply routes are most exposed to disruption?</a:t>
            </a:r>
            <a:endParaRPr lang="en-US" sz="1050" dirty="0"/>
          </a:p>
        </p:txBody>
      </p:sp>
      <p:sp>
        <p:nvSpPr>
          <p:cNvPr id="13" name="Shape 11"/>
          <p:cNvSpPr/>
          <p:nvPr/>
        </p:nvSpPr>
        <p:spPr>
          <a:xfrm>
            <a:off x="457200" y="3621024"/>
            <a:ext cx="128016" cy="128016"/>
          </a:xfrm>
          <a:prstGeom prst="ellipse">
            <a:avLst/>
          </a:prstGeom>
          <a:solidFill>
            <a:srgbClr val="6C5CE7"/>
          </a:solidFill>
          <a:ln w="12700">
            <a:solidFill>
              <a:srgbClr val="6C5CE7"/>
            </a:solidFill>
            <a:prstDash val="solid"/>
          </a:ln>
        </p:spPr>
      </p:sp>
      <p:sp>
        <p:nvSpPr>
          <p:cNvPr id="14" name="Text 12"/>
          <p:cNvSpPr/>
          <p:nvPr/>
        </p:nvSpPr>
        <p:spPr>
          <a:xfrm>
            <a:off x="658368" y="3557016"/>
            <a:ext cx="4754880" cy="347472"/>
          </a:xfrm>
          <a:prstGeom prst="rect">
            <a:avLst/>
          </a:prstGeom>
          <a:noFill/>
          <a:ln/>
        </p:spPr>
        <p:txBody>
          <a:bodyPr wrap="square" lIns="0" tIns="0" rIns="0" bIns="0" rtlCol="0" anchor="ctr"/>
          <a:lstStyle/>
          <a:p>
            <a:pPr indent="0" marL="0">
              <a:buNone/>
            </a:pPr>
            <a:r>
              <a:rPr lang="en-US" sz="1050" dirty="0">
                <a:solidFill>
                  <a:srgbClr val="E2E8F0"/>
                </a:solidFill>
              </a:rPr>
              <a:t>AQ3: Risk-Adjusted Component Priority — which parts need mitigation first?</a:t>
            </a:r>
            <a:endParaRPr lang="en-US" sz="1050" dirty="0"/>
          </a:p>
        </p:txBody>
      </p:sp>
      <p:sp>
        <p:nvSpPr>
          <p:cNvPr id="15" name="Text 13"/>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040"/>
          </a:solidFill>
          <a:ln w="12700">
            <a:solidFill>
              <a:srgbClr val="1A1040"/>
            </a:solidFill>
            <a:prstDash val="solid"/>
          </a:ln>
        </p:spPr>
      </p:sp>
      <p:sp>
        <p:nvSpPr>
          <p:cNvPr id="3" name="Shape 1"/>
          <p:cNvSpPr/>
          <p:nvPr/>
        </p:nvSpPr>
        <p:spPr>
          <a:xfrm>
            <a:off x="274320" y="137160"/>
            <a:ext cx="1188720" cy="329184"/>
          </a:xfrm>
          <a:prstGeom prst="rect">
            <a:avLst/>
          </a:prstGeom>
          <a:solidFill>
            <a:srgbClr val="6C5CE7"/>
          </a:solidFill>
          <a:ln w="12700">
            <a:solidFill>
              <a:srgbClr val="6C5CE7"/>
            </a:solidFill>
            <a:prstDash val="solid"/>
          </a:ln>
        </p:spPr>
      </p:sp>
      <p:sp>
        <p:nvSpPr>
          <p:cNvPr id="4" name="Text 2"/>
          <p:cNvSpPr/>
          <p:nvPr/>
        </p:nvSpPr>
        <p:spPr>
          <a:xfrm>
            <a:off x="274320" y="137160"/>
            <a:ext cx="1188720" cy="329184"/>
          </a:xfrm>
          <a:prstGeom prst="rect">
            <a:avLst/>
          </a:prstGeom>
          <a:noFill/>
          <a:ln/>
        </p:spPr>
        <p:txBody>
          <a:bodyPr wrap="square" lIns="0" tIns="0" rIns="0" bIns="0" rtlCol="0" anchor="ctr"/>
          <a:lstStyle/>
          <a:p>
            <a:pPr algn="ctr" indent="0" marL="0">
              <a:buNone/>
            </a:pPr>
            <a:r>
              <a:rPr lang="en-US" sz="900" b="1" dirty="0">
                <a:solidFill>
                  <a:srgbClr val="FFFFFF"/>
                </a:solidFill>
              </a:rPr>
              <a:t>AQ 1</a:t>
            </a:r>
            <a:endParaRPr lang="en-US" sz="900" dirty="0"/>
          </a:p>
        </p:txBody>
      </p:sp>
      <p:sp>
        <p:nvSpPr>
          <p:cNvPr id="5" name="Text 3"/>
          <p:cNvSpPr/>
          <p:nvPr/>
        </p:nvSpPr>
        <p:spPr>
          <a:xfrm>
            <a:off x="1600200" y="128016"/>
            <a:ext cx="7315200" cy="384048"/>
          </a:xfrm>
          <a:prstGeom prst="rect">
            <a:avLst/>
          </a:prstGeom>
          <a:noFill/>
          <a:ln/>
        </p:spPr>
        <p:txBody>
          <a:bodyPr wrap="square" lIns="0" tIns="0" rIns="0" bIns="0" rtlCol="0" anchor="ctr"/>
          <a:lstStyle/>
          <a:p>
            <a:pPr indent="0" marL="0">
              <a:buNone/>
            </a:pPr>
            <a:r>
              <a:rPr lang="en-US" sz="1500" b="1" dirty="0">
                <a:solidFill>
                  <a:srgbClr val="FFFFFF"/>
                </a:solidFill>
              </a:rPr>
              <a:t>Component Concentration Risk Map</a:t>
            </a:r>
            <a:endParaRPr lang="en-US" sz="1500" dirty="0"/>
          </a:p>
        </p:txBody>
      </p:sp>
      <p:sp>
        <p:nvSpPr>
          <p:cNvPr id="6" name="Shape 4"/>
          <p:cNvSpPr/>
          <p:nvPr/>
        </p:nvSpPr>
        <p:spPr>
          <a:xfrm>
            <a:off x="256032" y="749808"/>
            <a:ext cx="8631936" cy="347472"/>
          </a:xfrm>
          <a:prstGeom prst="rect">
            <a:avLst/>
          </a:prstGeom>
          <a:solidFill>
            <a:srgbClr val="1A1040"/>
          </a:solidFill>
          <a:ln w="13970">
            <a:solidFill>
              <a:srgbClr val="6C5CE7"/>
            </a:solidFill>
            <a:prstDash val="solid"/>
          </a:ln>
        </p:spPr>
      </p:sp>
      <p:sp>
        <p:nvSpPr>
          <p:cNvPr id="7" name="Text 5"/>
          <p:cNvSpPr/>
          <p:nvPr/>
        </p:nvSpPr>
        <p:spPr>
          <a:xfrm>
            <a:off x="384048" y="749808"/>
            <a:ext cx="8412480" cy="347472"/>
          </a:xfrm>
          <a:prstGeom prst="rect">
            <a:avLst/>
          </a:prstGeom>
          <a:noFill/>
          <a:ln/>
        </p:spPr>
        <p:txBody>
          <a:bodyPr wrap="square" lIns="0" tIns="0" rIns="0" bIns="0" rtlCol="0" anchor="ctr"/>
          <a:lstStyle/>
          <a:p>
            <a:pPr indent="0" marL="0">
              <a:buNone/>
            </a:pPr>
            <a:r>
              <a:rPr lang="en-US" sz="1000" b="1" dirty="0">
                <a:solidFill>
                  <a:srgbClr val="6C5CE7"/>
                </a:solidFill>
              </a:rPr>
              <a:t>Business question:  </a:t>
            </a:r>
            <a:pPr indent="0" marL="0">
              <a:buNone/>
            </a:pPr>
            <a:r>
              <a:rPr lang="en-US" sz="1000" i="1" dirty="0">
                <a:solidFill>
                  <a:srgbClr val="FFFFFF"/>
                </a:solidFill>
              </a:rPr>
              <a:t>Which components are the strongest shared dependency hubs in the BOM — the ones with the largest structural blast-radius if disrupted?</a:t>
            </a:r>
            <a:endParaRPr lang="en-US" sz="1000" dirty="0"/>
          </a:p>
        </p:txBody>
      </p:sp>
      <p:sp>
        <p:nvSpPr>
          <p:cNvPr id="8" name="Shape 6"/>
          <p:cNvSpPr/>
          <p:nvPr/>
        </p:nvSpPr>
        <p:spPr>
          <a:xfrm>
            <a:off x="256032" y="1207008"/>
            <a:ext cx="5120640" cy="274320"/>
          </a:xfrm>
          <a:prstGeom prst="rect">
            <a:avLst/>
          </a:prstGeom>
          <a:solidFill>
            <a:srgbClr val="6C5CE7"/>
          </a:solidFill>
          <a:ln w="12700">
            <a:solidFill>
              <a:srgbClr val="6C5CE7"/>
            </a:solidFill>
            <a:prstDash val="solid"/>
          </a:ln>
        </p:spPr>
      </p:sp>
      <p:sp>
        <p:nvSpPr>
          <p:cNvPr id="9" name="Text 7"/>
          <p:cNvSpPr/>
          <p:nvPr/>
        </p:nvSpPr>
        <p:spPr>
          <a:xfrm>
            <a:off x="329184" y="1207008"/>
            <a:ext cx="4974336" cy="274320"/>
          </a:xfrm>
          <a:prstGeom prst="rect">
            <a:avLst/>
          </a:prstGeom>
          <a:noFill/>
          <a:ln/>
        </p:spPr>
        <p:txBody>
          <a:bodyPr wrap="square" lIns="0" tIns="0" rIns="0" bIns="0" rtlCol="0" anchor="ctr"/>
          <a:lstStyle/>
          <a:p>
            <a:pPr indent="0" marL="0">
              <a:buNone/>
            </a:pPr>
            <a:r>
              <a:rPr lang="en-US" sz="1000" b="1" dirty="0">
                <a:solidFill>
                  <a:srgbClr val="FFFFFF"/>
                </a:solidFill>
              </a:rPr>
              <a:t>Operational Context</a:t>
            </a:r>
            <a:endParaRPr lang="en-US" sz="1000" dirty="0"/>
          </a:p>
        </p:txBody>
      </p:sp>
      <p:sp>
        <p:nvSpPr>
          <p:cNvPr id="10" name="Shape 8"/>
          <p:cNvSpPr/>
          <p:nvPr/>
        </p:nvSpPr>
        <p:spPr>
          <a:xfrm>
            <a:off x="256032" y="1481328"/>
            <a:ext cx="5120640" cy="2468880"/>
          </a:xfrm>
          <a:prstGeom prst="rect">
            <a:avLst/>
          </a:prstGeom>
          <a:solidFill>
            <a:srgbClr val="110E2A"/>
          </a:solidFill>
          <a:ln w="12700">
            <a:solidFill>
              <a:srgbClr val="110E2A"/>
            </a:solidFill>
            <a:prstDash val="solid"/>
          </a:ln>
        </p:spPr>
      </p:sp>
      <p:sp>
        <p:nvSpPr>
          <p:cNvPr id="11" name="Text 9"/>
          <p:cNvSpPr/>
          <p:nvPr/>
        </p:nvSpPr>
        <p:spPr>
          <a:xfrm>
            <a:off x="347472" y="1536192"/>
            <a:ext cx="4937760" cy="2377440"/>
          </a:xfrm>
          <a:prstGeom prst="rect">
            <a:avLst/>
          </a:prstGeom>
          <a:noFill/>
          <a:ln/>
        </p:spPr>
        <p:txBody>
          <a:bodyPr wrap="square" lIns="0" tIns="0" rIns="0" bIns="0" rtlCol="0" anchor="t"/>
          <a:lstStyle/>
          <a:p>
            <a:pPr indent="0" marL="0">
              <a:buNone/>
            </a:pPr>
            <a:r>
              <a:rPr lang="en-US" sz="1000" dirty="0">
                <a:solidFill>
                  <a:srgbClr val="E2E8F0"/>
                </a:solidFill>
              </a:rPr>
              <a:t>Systemic BOM risk is concentrated in a small set of reused components. A disruption in one high-concentration component propagates across large portions of the product portfolio. This query traverses the full transitive BOM — not just tier-1 — to find every component that is an indirect dependency of the maximum number of finished products.</a:t>
            </a:r>
            <a:endParaRPr lang="en-US" sz="1000" dirty="0"/>
          </a:p>
          <a:p>
            <a:pPr indent="0" marL="0">
              <a:buNone/>
            </a:pPr>
            <a:endParaRPr lang="en-US" sz="1000" dirty="0"/>
          </a:p>
          <a:p>
            <a:pPr indent="0" marL="0">
              <a:buNone/>
            </a:pPr>
            <a:r>
              <a:rPr lang="en-US" sz="1000" dirty="0">
                <a:solidFill>
                  <a:srgbClr val="E2E8F0"/>
                </a:solidFill>
              </a:rPr>
              <a:t>The fragility score combines: (1) how many upstream products depend on the component, and (2) how many distinct dependency paths connect those products to it.</a:t>
            </a:r>
            <a:endParaRPr lang="en-US" sz="1000" dirty="0"/>
          </a:p>
        </p:txBody>
      </p:sp>
      <p:sp>
        <p:nvSpPr>
          <p:cNvPr id="12" name="Shape 10"/>
          <p:cNvSpPr/>
          <p:nvPr/>
        </p:nvSpPr>
        <p:spPr>
          <a:xfrm>
            <a:off x="5559552" y="1207008"/>
            <a:ext cx="3328416" cy="274320"/>
          </a:xfrm>
          <a:prstGeom prst="rect">
            <a:avLst/>
          </a:prstGeom>
          <a:solidFill>
            <a:srgbClr val="6C5CE7"/>
          </a:solidFill>
          <a:ln w="12700">
            <a:solidFill>
              <a:srgbClr val="6C5CE7"/>
            </a:solidFill>
            <a:prstDash val="solid"/>
          </a:ln>
        </p:spPr>
      </p:sp>
      <p:sp>
        <p:nvSpPr>
          <p:cNvPr id="13" name="Text 11"/>
          <p:cNvSpPr/>
          <p:nvPr/>
        </p:nvSpPr>
        <p:spPr>
          <a:xfrm>
            <a:off x="5559552" y="1207008"/>
            <a:ext cx="3328416" cy="274320"/>
          </a:xfrm>
          <a:prstGeom prst="rect">
            <a:avLst/>
          </a:prstGeom>
          <a:noFill/>
          <a:ln/>
        </p:spPr>
        <p:txBody>
          <a:bodyPr wrap="square" lIns="0" tIns="101600" rIns="0" bIns="0" rtlCol="0" anchor="ctr"/>
          <a:lstStyle/>
          <a:p>
            <a:pPr algn="l" indent="0" marL="0">
              <a:buNone/>
            </a:pPr>
            <a:r>
              <a:rPr lang="en-US" sz="1000" b="1" dirty="0">
                <a:solidFill>
                  <a:srgbClr val="FFFFFF"/>
                </a:solidFill>
              </a:rPr>
              <a:t>Key Findings</a:t>
            </a:r>
            <a:endParaRPr lang="en-US" sz="1000" dirty="0"/>
          </a:p>
        </p:txBody>
      </p:sp>
      <p:sp>
        <p:nvSpPr>
          <p:cNvPr id="14" name="Shape 12"/>
          <p:cNvSpPr/>
          <p:nvPr/>
        </p:nvSpPr>
        <p:spPr>
          <a:xfrm>
            <a:off x="5559552" y="1481328"/>
            <a:ext cx="3328416" cy="1956816"/>
          </a:xfrm>
          <a:prstGeom prst="rect">
            <a:avLst/>
          </a:prstGeom>
          <a:solidFill>
            <a:srgbClr val="1A2E44"/>
          </a:solidFill>
          <a:ln w="12700">
            <a:solidFill>
              <a:srgbClr val="1A2E44"/>
            </a:solidFill>
            <a:prstDash val="solid"/>
          </a:ln>
        </p:spPr>
      </p:sp>
      <p:sp>
        <p:nvSpPr>
          <p:cNvPr id="15" name="Shape 13"/>
          <p:cNvSpPr/>
          <p:nvPr/>
        </p:nvSpPr>
        <p:spPr>
          <a:xfrm>
            <a:off x="5632704" y="1600200"/>
            <a:ext cx="118872" cy="118872"/>
          </a:xfrm>
          <a:prstGeom prst="ellipse">
            <a:avLst/>
          </a:prstGeom>
          <a:solidFill>
            <a:srgbClr val="6C5CE7"/>
          </a:solidFill>
          <a:ln w="12700">
            <a:solidFill>
              <a:srgbClr val="6C5CE7"/>
            </a:solidFill>
            <a:prstDash val="solid"/>
          </a:ln>
        </p:spPr>
      </p:sp>
      <p:sp>
        <p:nvSpPr>
          <p:cNvPr id="16" name="Text 14"/>
          <p:cNvSpPr/>
          <p:nvPr/>
        </p:nvSpPr>
        <p:spPr>
          <a:xfrm>
            <a:off x="5815584" y="1536192"/>
            <a:ext cx="2999232" cy="420624"/>
          </a:xfrm>
          <a:prstGeom prst="rect">
            <a:avLst/>
          </a:prstGeom>
          <a:noFill/>
          <a:ln/>
        </p:spPr>
        <p:txBody>
          <a:bodyPr wrap="square" lIns="0" tIns="0" rIns="0" bIns="0" rtlCol="0" anchor="t"/>
          <a:lstStyle/>
          <a:p>
            <a:pPr indent="0" marL="0">
              <a:buNone/>
            </a:pPr>
            <a:r>
              <a:rPr lang="en-US" sz="950" dirty="0">
                <a:solidFill>
                  <a:srgbClr val="E2E8F0"/>
                </a:solidFill>
              </a:rPr>
              <a:t>componment_seat2: 12,039 upstream products, 48,156 dependency paths — largest BOM hub</a:t>
            </a:r>
            <a:endParaRPr lang="en-US" sz="950" dirty="0"/>
          </a:p>
        </p:txBody>
      </p:sp>
      <p:sp>
        <p:nvSpPr>
          <p:cNvPr id="17" name="Shape 15"/>
          <p:cNvSpPr/>
          <p:nvPr/>
        </p:nvSpPr>
        <p:spPr>
          <a:xfrm>
            <a:off x="5632704" y="2057400"/>
            <a:ext cx="118872" cy="118872"/>
          </a:xfrm>
          <a:prstGeom prst="ellipse">
            <a:avLst/>
          </a:prstGeom>
          <a:solidFill>
            <a:srgbClr val="6C5CE7"/>
          </a:solidFill>
          <a:ln w="12700">
            <a:solidFill>
              <a:srgbClr val="6C5CE7"/>
            </a:solidFill>
            <a:prstDash val="solid"/>
          </a:ln>
        </p:spPr>
      </p:sp>
      <p:sp>
        <p:nvSpPr>
          <p:cNvPr id="18" name="Text 16"/>
          <p:cNvSpPr/>
          <p:nvPr/>
        </p:nvSpPr>
        <p:spPr>
          <a:xfrm>
            <a:off x="5815584" y="1993392"/>
            <a:ext cx="2999232" cy="420624"/>
          </a:xfrm>
          <a:prstGeom prst="rect">
            <a:avLst/>
          </a:prstGeom>
          <a:noFill/>
          <a:ln/>
        </p:spPr>
        <p:txBody>
          <a:bodyPr wrap="square" lIns="0" tIns="0" rIns="0" bIns="0" rtlCol="0" anchor="t"/>
          <a:lstStyle/>
          <a:p>
            <a:pPr indent="0" marL="0">
              <a:buNone/>
            </a:pPr>
            <a:r>
              <a:rPr lang="en-US" sz="950" dirty="0">
                <a:solidFill>
                  <a:srgbClr val="E2E8F0"/>
                </a:solidFill>
              </a:rPr>
              <a:t>Q4H (seat): 12,038 products, 24,076 paths — second largest</a:t>
            </a:r>
            <a:endParaRPr lang="en-US" sz="950" dirty="0"/>
          </a:p>
        </p:txBody>
      </p:sp>
      <p:sp>
        <p:nvSpPr>
          <p:cNvPr id="19" name="Shape 17"/>
          <p:cNvSpPr/>
          <p:nvPr/>
        </p:nvSpPr>
        <p:spPr>
          <a:xfrm>
            <a:off x="5632704" y="2514600"/>
            <a:ext cx="118872" cy="118872"/>
          </a:xfrm>
          <a:prstGeom prst="ellipse">
            <a:avLst/>
          </a:prstGeom>
          <a:solidFill>
            <a:srgbClr val="6C5CE7"/>
          </a:solidFill>
          <a:ln w="12700">
            <a:solidFill>
              <a:srgbClr val="6C5CE7"/>
            </a:solidFill>
            <a:prstDash val="solid"/>
          </a:ln>
        </p:spPr>
      </p:sp>
      <p:sp>
        <p:nvSpPr>
          <p:cNvPr id="20" name="Text 18"/>
          <p:cNvSpPr/>
          <p:nvPr/>
        </p:nvSpPr>
        <p:spPr>
          <a:xfrm>
            <a:off x="5815584" y="2450592"/>
            <a:ext cx="2999232" cy="420624"/>
          </a:xfrm>
          <a:prstGeom prst="rect">
            <a:avLst/>
          </a:prstGeom>
          <a:noFill/>
          <a:ln/>
        </p:spPr>
        <p:txBody>
          <a:bodyPr wrap="square" lIns="0" tIns="0" rIns="0" bIns="0" rtlCol="0" anchor="t"/>
          <a:lstStyle/>
          <a:p>
            <a:pPr indent="0" marL="0">
              <a:buNone/>
            </a:pPr>
            <a:r>
              <a:rPr lang="en-US" sz="950" dirty="0">
                <a:solidFill>
                  <a:srgbClr val="E2E8F0"/>
                </a:solidFill>
              </a:rPr>
              <a:t>componment_seat1 &amp; Q2J: ~9,726 each — seat family dominates top 4</a:t>
            </a:r>
            <a:endParaRPr lang="en-US" sz="950" dirty="0"/>
          </a:p>
        </p:txBody>
      </p:sp>
      <p:sp>
        <p:nvSpPr>
          <p:cNvPr id="21" name="Shape 19"/>
          <p:cNvSpPr/>
          <p:nvPr/>
        </p:nvSpPr>
        <p:spPr>
          <a:xfrm>
            <a:off x="5632704" y="2971800"/>
            <a:ext cx="118872" cy="118872"/>
          </a:xfrm>
          <a:prstGeom prst="ellipse">
            <a:avLst/>
          </a:prstGeom>
          <a:solidFill>
            <a:srgbClr val="6C5CE7"/>
          </a:solidFill>
          <a:ln w="12700">
            <a:solidFill>
              <a:srgbClr val="6C5CE7"/>
            </a:solidFill>
            <a:prstDash val="solid"/>
          </a:ln>
        </p:spPr>
      </p:sp>
      <p:sp>
        <p:nvSpPr>
          <p:cNvPr id="22" name="Text 20"/>
          <p:cNvSpPr/>
          <p:nvPr/>
        </p:nvSpPr>
        <p:spPr>
          <a:xfrm>
            <a:off x="5815584" y="2907792"/>
            <a:ext cx="2999232" cy="420624"/>
          </a:xfrm>
          <a:prstGeom prst="rect">
            <a:avLst/>
          </a:prstGeom>
          <a:noFill/>
          <a:ln/>
        </p:spPr>
        <p:txBody>
          <a:bodyPr wrap="square" lIns="0" tIns="0" rIns="0" bIns="0" rtlCol="0" anchor="t"/>
          <a:lstStyle/>
          <a:p>
            <a:pPr indent="0" marL="0">
              <a:buNone/>
            </a:pPr>
            <a:r>
              <a:rPr lang="en-US" sz="950" dirty="0">
                <a:solidFill>
                  <a:srgbClr val="E2E8F0"/>
                </a:solidFill>
              </a:rPr>
              <a:t>Gear components (G0K, G1C, G1D) appear in top-10 — broad but lower than seat</a:t>
            </a:r>
            <a:endParaRPr lang="en-US" sz="950" dirty="0"/>
          </a:p>
        </p:txBody>
      </p:sp>
      <p:sp>
        <p:nvSpPr>
          <p:cNvPr id="23" name="Shape 21"/>
          <p:cNvSpPr/>
          <p:nvPr/>
        </p:nvSpPr>
        <p:spPr>
          <a:xfrm>
            <a:off x="256032" y="4005072"/>
            <a:ext cx="8631936" cy="237744"/>
          </a:xfrm>
          <a:prstGeom prst="rect">
            <a:avLst/>
          </a:prstGeom>
          <a:solidFill>
            <a:srgbClr val="110E2A"/>
          </a:solidFill>
          <a:ln w="12700">
            <a:solidFill>
              <a:srgbClr val="6C5CE7"/>
            </a:solidFill>
            <a:prstDash val="solid"/>
          </a:ln>
        </p:spPr>
      </p:sp>
      <p:sp>
        <p:nvSpPr>
          <p:cNvPr id="24" name="Text 22"/>
          <p:cNvSpPr/>
          <p:nvPr/>
        </p:nvSpPr>
        <p:spPr>
          <a:xfrm>
            <a:off x="347472" y="4005072"/>
            <a:ext cx="8412480" cy="237744"/>
          </a:xfrm>
          <a:prstGeom prst="rect">
            <a:avLst/>
          </a:prstGeom>
          <a:noFill/>
          <a:ln/>
        </p:spPr>
        <p:txBody>
          <a:bodyPr wrap="square" lIns="0" tIns="0" rIns="0" bIns="0" rtlCol="0" anchor="ctr"/>
          <a:lstStyle/>
          <a:p>
            <a:pPr indent="0" marL="0">
              <a:buNone/>
            </a:pPr>
            <a:r>
              <a:rPr lang="en-US" sz="900" b="1" dirty="0">
                <a:solidFill>
                  <a:srgbClr val="6C5CE7"/>
                </a:solidFill>
              </a:rPr>
              <a:t>Story insight</a:t>
            </a:r>
            <a:endParaRPr lang="en-US" sz="900" dirty="0"/>
          </a:p>
        </p:txBody>
      </p:sp>
      <p:sp>
        <p:nvSpPr>
          <p:cNvPr id="25" name="Shape 23"/>
          <p:cNvSpPr/>
          <p:nvPr/>
        </p:nvSpPr>
        <p:spPr>
          <a:xfrm>
            <a:off x="256032" y="4242816"/>
            <a:ext cx="8631936" cy="658368"/>
          </a:xfrm>
          <a:prstGeom prst="rect">
            <a:avLst/>
          </a:prstGeom>
          <a:solidFill>
            <a:srgbClr val="0D0B1E"/>
          </a:solidFill>
          <a:ln w="12700">
            <a:solidFill>
              <a:srgbClr val="0D0B1E"/>
            </a:solidFill>
            <a:prstDash val="solid"/>
          </a:ln>
        </p:spPr>
      </p:sp>
      <p:sp>
        <p:nvSpPr>
          <p:cNvPr id="26" name="Text 24"/>
          <p:cNvSpPr/>
          <p:nvPr/>
        </p:nvSpPr>
        <p:spPr>
          <a:xfrm>
            <a:off x="347472" y="4261104"/>
            <a:ext cx="8412480" cy="621792"/>
          </a:xfrm>
          <a:prstGeom prst="rect">
            <a:avLst/>
          </a:prstGeom>
          <a:noFill/>
          <a:ln/>
        </p:spPr>
        <p:txBody>
          <a:bodyPr wrap="square" lIns="0" tIns="0" rIns="0" bIns="0" rtlCol="0" anchor="t"/>
          <a:lstStyle/>
          <a:p>
            <a:pPr indent="0" marL="0">
              <a:buNone/>
            </a:pPr>
            <a:r>
              <a:rPr lang="en-US" sz="950" dirty="0">
                <a:solidFill>
                  <a:srgbClr val="E2E8F0"/>
                </a:solidFill>
              </a:rPr>
              <a:t>Concentration is not evenly distributed. The seat and seat-component family dominates the BOM hub rankings by a significant margin, followed by gear. This means a seat sub-component failure propagates through more dependency chains than any other disruption scenario in this network.</a:t>
            </a:r>
            <a:endParaRPr lang="en-US" sz="950" dirty="0"/>
          </a:p>
        </p:txBody>
      </p:sp>
      <p:sp>
        <p:nvSpPr>
          <p:cNvPr id="27" name="Text 25"/>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040"/>
          </a:solidFill>
          <a:ln w="12700">
            <a:solidFill>
              <a:srgbClr val="1A1040"/>
            </a:solidFill>
            <a:prstDash val="solid"/>
          </a:ln>
        </p:spPr>
      </p:sp>
      <p:sp>
        <p:nvSpPr>
          <p:cNvPr id="3" name="Shape 1"/>
          <p:cNvSpPr/>
          <p:nvPr/>
        </p:nvSpPr>
        <p:spPr>
          <a:xfrm>
            <a:off x="274320" y="137160"/>
            <a:ext cx="1188720" cy="329184"/>
          </a:xfrm>
          <a:prstGeom prst="rect">
            <a:avLst/>
          </a:prstGeom>
          <a:solidFill>
            <a:srgbClr val="6C5CE7"/>
          </a:solidFill>
          <a:ln w="12700">
            <a:solidFill>
              <a:srgbClr val="6C5CE7"/>
            </a:solidFill>
            <a:prstDash val="solid"/>
          </a:ln>
        </p:spPr>
      </p:sp>
      <p:sp>
        <p:nvSpPr>
          <p:cNvPr id="4" name="Text 2"/>
          <p:cNvSpPr/>
          <p:nvPr/>
        </p:nvSpPr>
        <p:spPr>
          <a:xfrm>
            <a:off x="274320" y="137160"/>
            <a:ext cx="1188720" cy="329184"/>
          </a:xfrm>
          <a:prstGeom prst="rect">
            <a:avLst/>
          </a:prstGeom>
          <a:noFill/>
          <a:ln/>
        </p:spPr>
        <p:txBody>
          <a:bodyPr wrap="square" lIns="0" tIns="0" rIns="0" bIns="0" rtlCol="0" anchor="ctr"/>
          <a:lstStyle/>
          <a:p>
            <a:pPr algn="ctr" indent="0" marL="0">
              <a:buNone/>
            </a:pPr>
            <a:r>
              <a:rPr lang="en-US" sz="900" b="1" dirty="0">
                <a:solidFill>
                  <a:srgbClr val="FFFFFF"/>
                </a:solidFill>
              </a:rPr>
              <a:t>AQ 2</a:t>
            </a:r>
            <a:endParaRPr lang="en-US" sz="900" dirty="0"/>
          </a:p>
        </p:txBody>
      </p:sp>
      <p:sp>
        <p:nvSpPr>
          <p:cNvPr id="5" name="Text 3"/>
          <p:cNvSpPr/>
          <p:nvPr/>
        </p:nvSpPr>
        <p:spPr>
          <a:xfrm>
            <a:off x="1600200" y="128016"/>
            <a:ext cx="7315200" cy="384048"/>
          </a:xfrm>
          <a:prstGeom prst="rect">
            <a:avLst/>
          </a:prstGeom>
          <a:noFill/>
          <a:ln/>
        </p:spPr>
        <p:txBody>
          <a:bodyPr wrap="square" lIns="0" tIns="0" rIns="0" bIns="0" rtlCol="0" anchor="ctr"/>
          <a:lstStyle/>
          <a:p>
            <a:pPr indent="0" marL="0">
              <a:buNone/>
            </a:pPr>
            <a:r>
              <a:rPr lang="en-US" sz="1500" b="1" dirty="0">
                <a:solidFill>
                  <a:srgbClr val="FFFFFF"/>
                </a:solidFill>
              </a:rPr>
              <a:t>Arc Structural Fragility Score</a:t>
            </a:r>
            <a:endParaRPr lang="en-US" sz="1500" dirty="0"/>
          </a:p>
        </p:txBody>
      </p:sp>
      <p:sp>
        <p:nvSpPr>
          <p:cNvPr id="6" name="Shape 4"/>
          <p:cNvSpPr/>
          <p:nvPr/>
        </p:nvSpPr>
        <p:spPr>
          <a:xfrm>
            <a:off x="256032" y="749808"/>
            <a:ext cx="8631936" cy="347472"/>
          </a:xfrm>
          <a:prstGeom prst="rect">
            <a:avLst/>
          </a:prstGeom>
          <a:solidFill>
            <a:srgbClr val="1A1040"/>
          </a:solidFill>
          <a:ln w="13970">
            <a:solidFill>
              <a:srgbClr val="6C5CE7"/>
            </a:solidFill>
            <a:prstDash val="solid"/>
          </a:ln>
        </p:spPr>
      </p:sp>
      <p:sp>
        <p:nvSpPr>
          <p:cNvPr id="7" name="Text 5"/>
          <p:cNvSpPr/>
          <p:nvPr/>
        </p:nvSpPr>
        <p:spPr>
          <a:xfrm>
            <a:off x="384048" y="749808"/>
            <a:ext cx="8412480" cy="347472"/>
          </a:xfrm>
          <a:prstGeom prst="rect">
            <a:avLst/>
          </a:prstGeom>
          <a:noFill/>
          <a:ln/>
        </p:spPr>
        <p:txBody>
          <a:bodyPr wrap="square" lIns="0" tIns="0" rIns="0" bIns="0" rtlCol="0" anchor="ctr"/>
          <a:lstStyle/>
          <a:p>
            <a:pPr indent="0" marL="0">
              <a:buNone/>
            </a:pPr>
            <a:r>
              <a:rPr lang="en-US" sz="1000" b="1" dirty="0">
                <a:solidFill>
                  <a:srgbClr val="6C5CE7"/>
                </a:solidFill>
              </a:rPr>
              <a:t>Business question:  </a:t>
            </a:r>
            <a:pPr indent="0" marL="0">
              <a:buNone/>
            </a:pPr>
            <a:r>
              <a:rPr lang="en-US" sz="1000" i="1" dirty="0">
                <a:solidFill>
                  <a:srgbClr val="FFFFFF"/>
                </a:solidFill>
              </a:rPr>
              <a:t>Which logistics routes are structurally fragile based on long lead times, low installed capacity, and weak destination opening stock?</a:t>
            </a:r>
            <a:endParaRPr lang="en-US" sz="1000" dirty="0"/>
          </a:p>
        </p:txBody>
      </p:sp>
      <p:sp>
        <p:nvSpPr>
          <p:cNvPr id="8" name="Shape 6"/>
          <p:cNvSpPr/>
          <p:nvPr/>
        </p:nvSpPr>
        <p:spPr>
          <a:xfrm>
            <a:off x="256032" y="1207008"/>
            <a:ext cx="5120640" cy="274320"/>
          </a:xfrm>
          <a:prstGeom prst="rect">
            <a:avLst/>
          </a:prstGeom>
          <a:solidFill>
            <a:srgbClr val="6C5CE7"/>
          </a:solidFill>
          <a:ln w="12700">
            <a:solidFill>
              <a:srgbClr val="6C5CE7"/>
            </a:solidFill>
            <a:prstDash val="solid"/>
          </a:ln>
        </p:spPr>
      </p:sp>
      <p:sp>
        <p:nvSpPr>
          <p:cNvPr id="9" name="Text 7"/>
          <p:cNvSpPr/>
          <p:nvPr/>
        </p:nvSpPr>
        <p:spPr>
          <a:xfrm>
            <a:off x="329184" y="1207008"/>
            <a:ext cx="4974336" cy="274320"/>
          </a:xfrm>
          <a:prstGeom prst="rect">
            <a:avLst/>
          </a:prstGeom>
          <a:noFill/>
          <a:ln/>
        </p:spPr>
        <p:txBody>
          <a:bodyPr wrap="square" lIns="0" tIns="0" rIns="0" bIns="0" rtlCol="0" anchor="ctr"/>
          <a:lstStyle/>
          <a:p>
            <a:pPr indent="0" marL="0">
              <a:buNone/>
            </a:pPr>
            <a:r>
              <a:rPr lang="en-US" sz="1000" b="1" dirty="0">
                <a:solidFill>
                  <a:srgbClr val="FFFFFF"/>
                </a:solidFill>
              </a:rPr>
              <a:t>Operational Context</a:t>
            </a:r>
            <a:endParaRPr lang="en-US" sz="1000" dirty="0"/>
          </a:p>
        </p:txBody>
      </p:sp>
      <p:sp>
        <p:nvSpPr>
          <p:cNvPr id="10" name="Shape 8"/>
          <p:cNvSpPr/>
          <p:nvPr/>
        </p:nvSpPr>
        <p:spPr>
          <a:xfrm>
            <a:off x="256032" y="1481328"/>
            <a:ext cx="5120640" cy="2468880"/>
          </a:xfrm>
          <a:prstGeom prst="rect">
            <a:avLst/>
          </a:prstGeom>
          <a:solidFill>
            <a:srgbClr val="110E2A"/>
          </a:solidFill>
          <a:ln w="12700">
            <a:solidFill>
              <a:srgbClr val="110E2A"/>
            </a:solidFill>
            <a:prstDash val="solid"/>
          </a:ln>
        </p:spPr>
      </p:sp>
      <p:sp>
        <p:nvSpPr>
          <p:cNvPr id="11" name="Text 9"/>
          <p:cNvSpPr/>
          <p:nvPr/>
        </p:nvSpPr>
        <p:spPr>
          <a:xfrm>
            <a:off x="347472" y="1536192"/>
            <a:ext cx="4937760" cy="2377440"/>
          </a:xfrm>
          <a:prstGeom prst="rect">
            <a:avLst/>
          </a:prstGeom>
          <a:noFill/>
          <a:ln/>
        </p:spPr>
        <p:txBody>
          <a:bodyPr wrap="square" lIns="0" tIns="0" rIns="0" bIns="0" rtlCol="0" anchor="t"/>
          <a:lstStyle/>
          <a:p>
            <a:pPr indent="0" marL="0">
              <a:buNone/>
            </a:pPr>
            <a:r>
              <a:rPr lang="en-US" sz="1000" dirty="0">
                <a:solidFill>
                  <a:srgbClr val="E2E8F0"/>
                </a:solidFill>
              </a:rPr>
              <a:t>Planned flow data is sparsely populated, so utilisation-based scoring is unreliable. Instead this analysis builds a structural fragility score from three consistently available signals:</a:t>
            </a:r>
            <a:endParaRPr lang="en-US" sz="1000" dirty="0"/>
          </a:p>
          <a:p>
            <a:pPr indent="0" marL="0">
              <a:buNone/>
            </a:pPr>
            <a:endParaRPr lang="en-US" sz="1000" dirty="0"/>
          </a:p>
          <a:p>
            <a:pPr indent="0" marL="0">
              <a:buNone/>
            </a:pPr>
            <a:r>
              <a:rPr lang="en-US" sz="1000" dirty="0">
                <a:solidFill>
                  <a:srgbClr val="E2E8F0"/>
                </a:solidFill>
              </a:rPr>
              <a:t>1. Lead time (weeks) — longer delay = less ability to react</a:t>
            </a:r>
            <a:endParaRPr lang="en-US" sz="1000" dirty="0"/>
          </a:p>
          <a:p>
            <a:pPr indent="0" marL="0">
              <a:buNone/>
            </a:pPr>
            <a:r>
              <a:rPr lang="en-US" sz="1000" dirty="0">
                <a:solidFill>
                  <a:srgbClr val="E2E8F0"/>
                </a:solidFill>
              </a:rPr>
              <a:t>2. Minimum installed capacity across weeks 1–14 — structural ceiling</a:t>
            </a:r>
            <a:endParaRPr lang="en-US" sz="1000" dirty="0"/>
          </a:p>
          <a:p>
            <a:pPr indent="0" marL="0">
              <a:buNone/>
            </a:pPr>
            <a:r>
              <a:rPr lang="en-US" sz="1000" dirty="0">
                <a:solidFill>
                  <a:srgbClr val="E2E8F0"/>
                </a:solidFill>
              </a:rPr>
              <a:t>3. Destination opening stock at week 0 — buffer available before the route matters</a:t>
            </a:r>
            <a:endParaRPr lang="en-US" sz="1000" dirty="0"/>
          </a:p>
          <a:p>
            <a:pPr indent="0" marL="0">
              <a:buNone/>
            </a:pPr>
            <a:endParaRPr lang="en-US" sz="1000" dirty="0"/>
          </a:p>
          <a:p>
            <a:pPr indent="0" marL="0">
              <a:buNone/>
            </a:pPr>
            <a:r>
              <a:rPr lang="en-US" sz="1000" dirty="0">
                <a:solidFill>
                  <a:srgbClr val="E2E8F0"/>
                </a:solidFill>
              </a:rPr>
              <a:t>The composite score surfaces routes that combine all three risk factors simultaneously.</a:t>
            </a:r>
            <a:endParaRPr lang="en-US" sz="1000" dirty="0"/>
          </a:p>
        </p:txBody>
      </p:sp>
      <p:sp>
        <p:nvSpPr>
          <p:cNvPr id="12" name="Shape 10"/>
          <p:cNvSpPr/>
          <p:nvPr/>
        </p:nvSpPr>
        <p:spPr>
          <a:xfrm>
            <a:off x="5559552" y="1207008"/>
            <a:ext cx="3328416" cy="274320"/>
          </a:xfrm>
          <a:prstGeom prst="rect">
            <a:avLst/>
          </a:prstGeom>
          <a:solidFill>
            <a:srgbClr val="6C5CE7"/>
          </a:solidFill>
          <a:ln w="12700">
            <a:solidFill>
              <a:srgbClr val="6C5CE7"/>
            </a:solidFill>
            <a:prstDash val="solid"/>
          </a:ln>
        </p:spPr>
      </p:sp>
      <p:sp>
        <p:nvSpPr>
          <p:cNvPr id="13" name="Text 11"/>
          <p:cNvSpPr/>
          <p:nvPr/>
        </p:nvSpPr>
        <p:spPr>
          <a:xfrm>
            <a:off x="5559552" y="1207008"/>
            <a:ext cx="3328416" cy="274320"/>
          </a:xfrm>
          <a:prstGeom prst="rect">
            <a:avLst/>
          </a:prstGeom>
          <a:noFill/>
          <a:ln/>
        </p:spPr>
        <p:txBody>
          <a:bodyPr wrap="square" lIns="0" tIns="101600" rIns="0" bIns="0" rtlCol="0" anchor="ctr"/>
          <a:lstStyle/>
          <a:p>
            <a:pPr algn="l" indent="0" marL="0">
              <a:buNone/>
            </a:pPr>
            <a:r>
              <a:rPr lang="en-US" sz="1000" b="1" dirty="0">
                <a:solidFill>
                  <a:srgbClr val="FFFFFF"/>
                </a:solidFill>
              </a:rPr>
              <a:t>Key Findings</a:t>
            </a:r>
            <a:endParaRPr lang="en-US" sz="1000" dirty="0"/>
          </a:p>
        </p:txBody>
      </p:sp>
      <p:sp>
        <p:nvSpPr>
          <p:cNvPr id="14" name="Shape 12"/>
          <p:cNvSpPr/>
          <p:nvPr/>
        </p:nvSpPr>
        <p:spPr>
          <a:xfrm>
            <a:off x="5559552" y="1481328"/>
            <a:ext cx="3328416" cy="1956816"/>
          </a:xfrm>
          <a:prstGeom prst="rect">
            <a:avLst/>
          </a:prstGeom>
          <a:solidFill>
            <a:srgbClr val="1A2E44"/>
          </a:solidFill>
          <a:ln w="12700">
            <a:solidFill>
              <a:srgbClr val="1A2E44"/>
            </a:solidFill>
            <a:prstDash val="solid"/>
          </a:ln>
        </p:spPr>
      </p:sp>
      <p:sp>
        <p:nvSpPr>
          <p:cNvPr id="15" name="Shape 13"/>
          <p:cNvSpPr/>
          <p:nvPr/>
        </p:nvSpPr>
        <p:spPr>
          <a:xfrm>
            <a:off x="5632704" y="1600200"/>
            <a:ext cx="118872" cy="118872"/>
          </a:xfrm>
          <a:prstGeom prst="ellipse">
            <a:avLst/>
          </a:prstGeom>
          <a:solidFill>
            <a:srgbClr val="6C5CE7"/>
          </a:solidFill>
          <a:ln w="12700">
            <a:solidFill>
              <a:srgbClr val="6C5CE7"/>
            </a:solidFill>
            <a:prstDash val="solid"/>
          </a:ln>
        </p:spPr>
      </p:sp>
      <p:sp>
        <p:nvSpPr>
          <p:cNvPr id="16" name="Text 14"/>
          <p:cNvSpPr/>
          <p:nvPr/>
        </p:nvSpPr>
        <p:spPr>
          <a:xfrm>
            <a:off x="5815584" y="1536192"/>
            <a:ext cx="2999232" cy="420624"/>
          </a:xfrm>
          <a:prstGeom prst="rect">
            <a:avLst/>
          </a:prstGeom>
          <a:noFill/>
          <a:ln/>
        </p:spPr>
        <p:txBody>
          <a:bodyPr wrap="square" lIns="0" tIns="0" rIns="0" bIns="0" rtlCol="0" anchor="t"/>
          <a:lstStyle/>
          <a:p>
            <a:pPr indent="0" marL="0">
              <a:buNone/>
            </a:pPr>
            <a:r>
              <a:rPr lang="en-US" sz="950" dirty="0">
                <a:solidFill>
                  <a:srgbClr val="E2E8F0"/>
                </a:solidFill>
              </a:rPr>
              <a:t>seat-supplier_trans → seat-supplier_prod: top fragility — lead time 23 weeks, zero active buffer</a:t>
            </a:r>
            <a:endParaRPr lang="en-US" sz="950" dirty="0"/>
          </a:p>
        </p:txBody>
      </p:sp>
      <p:sp>
        <p:nvSpPr>
          <p:cNvPr id="17" name="Shape 15"/>
          <p:cNvSpPr/>
          <p:nvPr/>
        </p:nvSpPr>
        <p:spPr>
          <a:xfrm>
            <a:off x="5632704" y="2057400"/>
            <a:ext cx="118872" cy="118872"/>
          </a:xfrm>
          <a:prstGeom prst="ellipse">
            <a:avLst/>
          </a:prstGeom>
          <a:solidFill>
            <a:srgbClr val="6C5CE7"/>
          </a:solidFill>
          <a:ln w="12700">
            <a:solidFill>
              <a:srgbClr val="6C5CE7"/>
            </a:solidFill>
            <a:prstDash val="solid"/>
          </a:ln>
        </p:spPr>
      </p:sp>
      <p:sp>
        <p:nvSpPr>
          <p:cNvPr id="18" name="Text 16"/>
          <p:cNvSpPr/>
          <p:nvPr/>
        </p:nvSpPr>
        <p:spPr>
          <a:xfrm>
            <a:off x="5815584" y="1993392"/>
            <a:ext cx="2999232" cy="420624"/>
          </a:xfrm>
          <a:prstGeom prst="rect">
            <a:avLst/>
          </a:prstGeom>
          <a:noFill/>
          <a:ln/>
        </p:spPr>
        <p:txBody>
          <a:bodyPr wrap="square" lIns="0" tIns="0" rIns="0" bIns="0" rtlCol="0" anchor="t"/>
          <a:lstStyle/>
          <a:p>
            <a:pPr indent="0" marL="0">
              <a:buNone/>
            </a:pPr>
            <a:r>
              <a:rPr lang="en-US" sz="950" dirty="0">
                <a:solidFill>
                  <a:srgbClr val="E2E8F0"/>
                </a:solidFill>
              </a:rPr>
              <a:t>battery-supplier_trans → battery-supplier_prod: second — lead time 20 weeks, only 294 units/week capacity</a:t>
            </a:r>
            <a:endParaRPr lang="en-US" sz="950" dirty="0"/>
          </a:p>
        </p:txBody>
      </p:sp>
      <p:sp>
        <p:nvSpPr>
          <p:cNvPr id="19" name="Shape 17"/>
          <p:cNvSpPr/>
          <p:nvPr/>
        </p:nvSpPr>
        <p:spPr>
          <a:xfrm>
            <a:off x="5632704" y="2514600"/>
            <a:ext cx="118872" cy="118872"/>
          </a:xfrm>
          <a:prstGeom prst="ellipse">
            <a:avLst/>
          </a:prstGeom>
          <a:solidFill>
            <a:srgbClr val="6C5CE7"/>
          </a:solidFill>
          <a:ln w="12700">
            <a:solidFill>
              <a:srgbClr val="6C5CE7"/>
            </a:solidFill>
            <a:prstDash val="solid"/>
          </a:ln>
        </p:spPr>
      </p:sp>
      <p:sp>
        <p:nvSpPr>
          <p:cNvPr id="20" name="Text 18"/>
          <p:cNvSpPr/>
          <p:nvPr/>
        </p:nvSpPr>
        <p:spPr>
          <a:xfrm>
            <a:off x="5815584" y="2450592"/>
            <a:ext cx="2999232" cy="420624"/>
          </a:xfrm>
          <a:prstGeom prst="rect">
            <a:avLst/>
          </a:prstGeom>
          <a:noFill/>
          <a:ln/>
        </p:spPr>
        <p:txBody>
          <a:bodyPr wrap="square" lIns="0" tIns="0" rIns="0" bIns="0" rtlCol="0" anchor="t"/>
          <a:lstStyle/>
          <a:p>
            <a:pPr indent="0" marL="0">
              <a:buNone/>
            </a:pPr>
            <a:r>
              <a:rPr lang="en-US" sz="950" dirty="0">
                <a:solidFill>
                  <a:srgbClr val="E2E8F0"/>
                </a:solidFill>
              </a:rPr>
              <a:t>gear and battery transfer arcs: mid-tier fragility — lower lead times but smaller capacities</a:t>
            </a:r>
            <a:endParaRPr lang="en-US" sz="950" dirty="0"/>
          </a:p>
        </p:txBody>
      </p:sp>
      <p:sp>
        <p:nvSpPr>
          <p:cNvPr id="21" name="Shape 19"/>
          <p:cNvSpPr/>
          <p:nvPr/>
        </p:nvSpPr>
        <p:spPr>
          <a:xfrm>
            <a:off x="5632704" y="2971800"/>
            <a:ext cx="118872" cy="118872"/>
          </a:xfrm>
          <a:prstGeom prst="ellipse">
            <a:avLst/>
          </a:prstGeom>
          <a:solidFill>
            <a:srgbClr val="6C5CE7"/>
          </a:solidFill>
          <a:ln w="12700">
            <a:solidFill>
              <a:srgbClr val="6C5CE7"/>
            </a:solidFill>
            <a:prstDash val="solid"/>
          </a:ln>
        </p:spPr>
      </p:sp>
      <p:sp>
        <p:nvSpPr>
          <p:cNvPr id="22" name="Text 20"/>
          <p:cNvSpPr/>
          <p:nvPr/>
        </p:nvSpPr>
        <p:spPr>
          <a:xfrm>
            <a:off x="5815584" y="2907792"/>
            <a:ext cx="2999232" cy="420624"/>
          </a:xfrm>
          <a:prstGeom prst="rect">
            <a:avLst/>
          </a:prstGeom>
          <a:noFill/>
          <a:ln/>
        </p:spPr>
        <p:txBody>
          <a:bodyPr wrap="square" lIns="0" tIns="0" rIns="0" bIns="0" rtlCol="0" anchor="t"/>
          <a:lstStyle/>
          <a:p>
            <a:pPr indent="0" marL="0">
              <a:buNone/>
            </a:pPr>
            <a:r>
              <a:rPr lang="en-US" sz="950" dirty="0">
                <a:solidFill>
                  <a:srgbClr val="E2E8F0"/>
                </a:solidFill>
              </a:rPr>
              <a:t>Short lead-time arcs with large capacity rank lowest — structurally resilient</a:t>
            </a:r>
            <a:endParaRPr lang="en-US" sz="950" dirty="0"/>
          </a:p>
        </p:txBody>
      </p:sp>
      <p:sp>
        <p:nvSpPr>
          <p:cNvPr id="23" name="Shape 21"/>
          <p:cNvSpPr/>
          <p:nvPr/>
        </p:nvSpPr>
        <p:spPr>
          <a:xfrm>
            <a:off x="256032" y="4005072"/>
            <a:ext cx="8631936" cy="237744"/>
          </a:xfrm>
          <a:prstGeom prst="rect">
            <a:avLst/>
          </a:prstGeom>
          <a:solidFill>
            <a:srgbClr val="110E2A"/>
          </a:solidFill>
          <a:ln w="12700">
            <a:solidFill>
              <a:srgbClr val="6C5CE7"/>
            </a:solidFill>
            <a:prstDash val="solid"/>
          </a:ln>
        </p:spPr>
      </p:sp>
      <p:sp>
        <p:nvSpPr>
          <p:cNvPr id="24" name="Text 22"/>
          <p:cNvSpPr/>
          <p:nvPr/>
        </p:nvSpPr>
        <p:spPr>
          <a:xfrm>
            <a:off x="347472" y="4005072"/>
            <a:ext cx="8412480" cy="237744"/>
          </a:xfrm>
          <a:prstGeom prst="rect">
            <a:avLst/>
          </a:prstGeom>
          <a:noFill/>
          <a:ln/>
        </p:spPr>
        <p:txBody>
          <a:bodyPr wrap="square" lIns="0" tIns="0" rIns="0" bIns="0" rtlCol="0" anchor="ctr"/>
          <a:lstStyle/>
          <a:p>
            <a:pPr indent="0" marL="0">
              <a:buNone/>
            </a:pPr>
            <a:r>
              <a:rPr lang="en-US" sz="900" b="1" dirty="0">
                <a:solidFill>
                  <a:srgbClr val="6C5CE7"/>
                </a:solidFill>
              </a:rPr>
              <a:t>Story insight</a:t>
            </a:r>
            <a:endParaRPr lang="en-US" sz="900" dirty="0"/>
          </a:p>
        </p:txBody>
      </p:sp>
      <p:sp>
        <p:nvSpPr>
          <p:cNvPr id="25" name="Shape 23"/>
          <p:cNvSpPr/>
          <p:nvPr/>
        </p:nvSpPr>
        <p:spPr>
          <a:xfrm>
            <a:off x="256032" y="4242816"/>
            <a:ext cx="8631936" cy="658368"/>
          </a:xfrm>
          <a:prstGeom prst="rect">
            <a:avLst/>
          </a:prstGeom>
          <a:solidFill>
            <a:srgbClr val="0D0B1E"/>
          </a:solidFill>
          <a:ln w="12700">
            <a:solidFill>
              <a:srgbClr val="0D0B1E"/>
            </a:solidFill>
            <a:prstDash val="solid"/>
          </a:ln>
        </p:spPr>
      </p:sp>
      <p:sp>
        <p:nvSpPr>
          <p:cNvPr id="26" name="Text 24"/>
          <p:cNvSpPr/>
          <p:nvPr/>
        </p:nvSpPr>
        <p:spPr>
          <a:xfrm>
            <a:off x="347472" y="4261104"/>
            <a:ext cx="8412480" cy="621792"/>
          </a:xfrm>
          <a:prstGeom prst="rect">
            <a:avLst/>
          </a:prstGeom>
          <a:noFill/>
          <a:ln/>
        </p:spPr>
        <p:txBody>
          <a:bodyPr wrap="square" lIns="0" tIns="0" rIns="0" bIns="0" rtlCol="0" anchor="t"/>
          <a:lstStyle/>
          <a:p>
            <a:pPr indent="0" marL="0">
              <a:buNone/>
            </a:pPr>
            <a:r>
              <a:rPr lang="en-US" sz="950" dirty="0">
                <a:solidFill>
                  <a:srgbClr val="E2E8F0"/>
                </a:solidFill>
              </a:rPr>
              <a:t>The fragility ranking confirms what EDA 5 suggested: the two transit arcs for seat and battery components are the most structurally exposed routes in the network. A disruption on either cannot be corrected for 20–23 weeks — and the destination buffers at those nodes are already thin.</a:t>
            </a:r>
            <a:endParaRPr lang="en-US" sz="950" dirty="0"/>
          </a:p>
        </p:txBody>
      </p:sp>
      <p:sp>
        <p:nvSpPr>
          <p:cNvPr id="27" name="Text 25"/>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040"/>
          </a:solidFill>
          <a:ln w="12700">
            <a:solidFill>
              <a:srgbClr val="1A1040"/>
            </a:solidFill>
            <a:prstDash val="solid"/>
          </a:ln>
        </p:spPr>
      </p:sp>
      <p:sp>
        <p:nvSpPr>
          <p:cNvPr id="3" name="Shape 1"/>
          <p:cNvSpPr/>
          <p:nvPr/>
        </p:nvSpPr>
        <p:spPr>
          <a:xfrm>
            <a:off x="274320" y="137160"/>
            <a:ext cx="1188720" cy="329184"/>
          </a:xfrm>
          <a:prstGeom prst="rect">
            <a:avLst/>
          </a:prstGeom>
          <a:solidFill>
            <a:srgbClr val="6C5CE7"/>
          </a:solidFill>
          <a:ln w="12700">
            <a:solidFill>
              <a:srgbClr val="6C5CE7"/>
            </a:solidFill>
            <a:prstDash val="solid"/>
          </a:ln>
        </p:spPr>
      </p:sp>
      <p:sp>
        <p:nvSpPr>
          <p:cNvPr id="4" name="Text 2"/>
          <p:cNvSpPr/>
          <p:nvPr/>
        </p:nvSpPr>
        <p:spPr>
          <a:xfrm>
            <a:off x="274320" y="137160"/>
            <a:ext cx="1188720" cy="329184"/>
          </a:xfrm>
          <a:prstGeom prst="rect">
            <a:avLst/>
          </a:prstGeom>
          <a:noFill/>
          <a:ln/>
        </p:spPr>
        <p:txBody>
          <a:bodyPr wrap="square" lIns="0" tIns="0" rIns="0" bIns="0" rtlCol="0" anchor="ctr"/>
          <a:lstStyle/>
          <a:p>
            <a:pPr algn="ctr" indent="0" marL="0">
              <a:buNone/>
            </a:pPr>
            <a:r>
              <a:rPr lang="en-US" sz="900" b="1" dirty="0">
                <a:solidFill>
                  <a:srgbClr val="FFFFFF"/>
                </a:solidFill>
              </a:rPr>
              <a:t>AQ 3</a:t>
            </a:r>
            <a:endParaRPr lang="en-US" sz="900" dirty="0"/>
          </a:p>
        </p:txBody>
      </p:sp>
      <p:sp>
        <p:nvSpPr>
          <p:cNvPr id="5" name="Text 3"/>
          <p:cNvSpPr/>
          <p:nvPr/>
        </p:nvSpPr>
        <p:spPr>
          <a:xfrm>
            <a:off x="1600200" y="128016"/>
            <a:ext cx="7315200" cy="384048"/>
          </a:xfrm>
          <a:prstGeom prst="rect">
            <a:avLst/>
          </a:prstGeom>
          <a:noFill/>
          <a:ln/>
        </p:spPr>
        <p:txBody>
          <a:bodyPr wrap="square" lIns="0" tIns="0" rIns="0" bIns="0" rtlCol="0" anchor="ctr"/>
          <a:lstStyle/>
          <a:p>
            <a:pPr indent="0" marL="0">
              <a:buNone/>
            </a:pPr>
            <a:r>
              <a:rPr lang="en-US" sz="1500" b="1" dirty="0">
                <a:solidFill>
                  <a:srgbClr val="FFFFFF"/>
                </a:solidFill>
              </a:rPr>
              <a:t>Risk-Adjusted Component Priority</a:t>
            </a:r>
            <a:endParaRPr lang="en-US" sz="1500" dirty="0"/>
          </a:p>
        </p:txBody>
      </p:sp>
      <p:sp>
        <p:nvSpPr>
          <p:cNvPr id="6" name="Shape 4"/>
          <p:cNvSpPr/>
          <p:nvPr/>
        </p:nvSpPr>
        <p:spPr>
          <a:xfrm>
            <a:off x="256032" y="749808"/>
            <a:ext cx="8631936" cy="347472"/>
          </a:xfrm>
          <a:prstGeom prst="rect">
            <a:avLst/>
          </a:prstGeom>
          <a:solidFill>
            <a:srgbClr val="1A1040"/>
          </a:solidFill>
          <a:ln w="13970">
            <a:solidFill>
              <a:srgbClr val="6C5CE7"/>
            </a:solidFill>
            <a:prstDash val="solid"/>
          </a:ln>
        </p:spPr>
      </p:sp>
      <p:sp>
        <p:nvSpPr>
          <p:cNvPr id="7" name="Text 5"/>
          <p:cNvSpPr/>
          <p:nvPr/>
        </p:nvSpPr>
        <p:spPr>
          <a:xfrm>
            <a:off x="384048" y="749808"/>
            <a:ext cx="8412480" cy="347472"/>
          </a:xfrm>
          <a:prstGeom prst="rect">
            <a:avLst/>
          </a:prstGeom>
          <a:noFill/>
          <a:ln/>
        </p:spPr>
        <p:txBody>
          <a:bodyPr wrap="square" lIns="0" tIns="0" rIns="0" bIns="0" rtlCol="0" anchor="ctr"/>
          <a:lstStyle/>
          <a:p>
            <a:pPr indent="0" marL="0">
              <a:buNone/>
            </a:pPr>
            <a:r>
              <a:rPr lang="en-US" sz="1000" b="1" dirty="0">
                <a:solidFill>
                  <a:srgbClr val="6C5CE7"/>
                </a:solidFill>
              </a:rPr>
              <a:t>Business question:  </a:t>
            </a:r>
            <a:pPr indent="0" marL="0">
              <a:buNone/>
            </a:pPr>
            <a:r>
              <a:rPr lang="en-US" sz="1000" i="1" dirty="0">
                <a:solidFill>
                  <a:srgbClr val="FFFFFF"/>
                </a:solidFill>
              </a:rPr>
              <a:t>Which components should be prioritised first for mitigation — considering BOM centrality, supplier redundancy, and logistics fragility together?</a:t>
            </a:r>
            <a:endParaRPr lang="en-US" sz="1000" dirty="0"/>
          </a:p>
        </p:txBody>
      </p:sp>
      <p:sp>
        <p:nvSpPr>
          <p:cNvPr id="8" name="Shape 6"/>
          <p:cNvSpPr/>
          <p:nvPr/>
        </p:nvSpPr>
        <p:spPr>
          <a:xfrm>
            <a:off x="256032" y="1207008"/>
            <a:ext cx="5120640" cy="274320"/>
          </a:xfrm>
          <a:prstGeom prst="rect">
            <a:avLst/>
          </a:prstGeom>
          <a:solidFill>
            <a:srgbClr val="6C5CE7"/>
          </a:solidFill>
          <a:ln w="12700">
            <a:solidFill>
              <a:srgbClr val="6C5CE7"/>
            </a:solidFill>
            <a:prstDash val="solid"/>
          </a:ln>
        </p:spPr>
      </p:sp>
      <p:sp>
        <p:nvSpPr>
          <p:cNvPr id="9" name="Text 7"/>
          <p:cNvSpPr/>
          <p:nvPr/>
        </p:nvSpPr>
        <p:spPr>
          <a:xfrm>
            <a:off x="329184" y="1207008"/>
            <a:ext cx="4974336" cy="274320"/>
          </a:xfrm>
          <a:prstGeom prst="rect">
            <a:avLst/>
          </a:prstGeom>
          <a:noFill/>
          <a:ln/>
        </p:spPr>
        <p:txBody>
          <a:bodyPr wrap="square" lIns="0" tIns="0" rIns="0" bIns="0" rtlCol="0" anchor="ctr"/>
          <a:lstStyle/>
          <a:p>
            <a:pPr indent="0" marL="0">
              <a:buNone/>
            </a:pPr>
            <a:r>
              <a:rPr lang="en-US" sz="1000" b="1" dirty="0">
                <a:solidFill>
                  <a:srgbClr val="FFFFFF"/>
                </a:solidFill>
              </a:rPr>
              <a:t>Operational Context</a:t>
            </a:r>
            <a:endParaRPr lang="en-US" sz="1000" dirty="0"/>
          </a:p>
        </p:txBody>
      </p:sp>
      <p:sp>
        <p:nvSpPr>
          <p:cNvPr id="10" name="Shape 8"/>
          <p:cNvSpPr/>
          <p:nvPr/>
        </p:nvSpPr>
        <p:spPr>
          <a:xfrm>
            <a:off x="256032" y="1481328"/>
            <a:ext cx="5120640" cy="2468880"/>
          </a:xfrm>
          <a:prstGeom prst="rect">
            <a:avLst/>
          </a:prstGeom>
          <a:solidFill>
            <a:srgbClr val="110E2A"/>
          </a:solidFill>
          <a:ln w="12700">
            <a:solidFill>
              <a:srgbClr val="110E2A"/>
            </a:solidFill>
            <a:prstDash val="solid"/>
          </a:ln>
        </p:spPr>
      </p:sp>
      <p:sp>
        <p:nvSpPr>
          <p:cNvPr id="11" name="Text 9"/>
          <p:cNvSpPr/>
          <p:nvPr/>
        </p:nvSpPr>
        <p:spPr>
          <a:xfrm>
            <a:off x="347472" y="1536192"/>
            <a:ext cx="4937760" cy="2377440"/>
          </a:xfrm>
          <a:prstGeom prst="rect">
            <a:avLst/>
          </a:prstGeom>
          <a:noFill/>
          <a:ln/>
        </p:spPr>
        <p:txBody>
          <a:bodyPr wrap="square" lIns="0" tIns="0" rIns="0" bIns="0" rtlCol="0" anchor="t"/>
          <a:lstStyle/>
          <a:p>
            <a:pPr indent="0" marL="0">
              <a:buNone/>
            </a:pPr>
            <a:r>
              <a:rPr lang="en-US" sz="1000" dirty="0">
                <a:solidFill>
                  <a:srgbClr val="E2E8F0"/>
                </a:solidFill>
              </a:rPr>
              <a:t>A component can be structurally central in the BOM yet operationally safer if it has multiple suppliers and robust outbound routes. Conversely, a component with moderate BOM reach can be the highest priority if it is single-sourced and tied to fragile logistics.</a:t>
            </a:r>
            <a:endParaRPr lang="en-US" sz="1000" dirty="0"/>
          </a:p>
          <a:p>
            <a:pPr indent="0" marL="0">
              <a:buNone/>
            </a:pPr>
            <a:endParaRPr lang="en-US" sz="1000" dirty="0"/>
          </a:p>
          <a:p>
            <a:pPr indent="0" marL="0">
              <a:buNone/>
            </a:pPr>
            <a:r>
              <a:rPr lang="en-US" sz="1000" dirty="0">
                <a:solidFill>
                  <a:srgbClr val="E2E8F0"/>
                </a:solidFill>
              </a:rPr>
              <a:t>This query integrates three signals:</a:t>
            </a:r>
            <a:endParaRPr lang="en-US" sz="1000" dirty="0"/>
          </a:p>
          <a:p>
            <a:pPr indent="0" marL="0">
              <a:buNone/>
            </a:pPr>
            <a:r>
              <a:rPr lang="en-US" sz="1000" dirty="0">
                <a:solidFill>
                  <a:srgbClr val="E2E8F0"/>
                </a:solidFill>
              </a:rPr>
              <a:t>1. Dependency concentration: distinct upstream products</a:t>
            </a:r>
            <a:endParaRPr lang="en-US" sz="1000" dirty="0"/>
          </a:p>
          <a:p>
            <a:pPr indent="0" marL="0">
              <a:buNone/>
            </a:pPr>
            <a:r>
              <a:rPr lang="en-US" sz="1000" dirty="0">
                <a:solidFill>
                  <a:srgbClr val="E2E8F0"/>
                </a:solidFill>
              </a:rPr>
              <a:t>2. Supplier redundancy: how many facilities produce this component</a:t>
            </a:r>
            <a:endParaRPr lang="en-US" sz="1000" dirty="0"/>
          </a:p>
          <a:p>
            <a:pPr indent="0" marL="0">
              <a:buNone/>
            </a:pPr>
            <a:r>
              <a:rPr lang="en-US" sz="1000" dirty="0">
                <a:solidFill>
                  <a:srgbClr val="E2E8F0"/>
                </a:solidFill>
              </a:rPr>
              <a:t>3. Outbound lane fragility: minimum capacity on the component's shipping routes</a:t>
            </a:r>
            <a:endParaRPr lang="en-US" sz="1000" dirty="0"/>
          </a:p>
          <a:p>
            <a:pPr indent="0" marL="0">
              <a:buNone/>
            </a:pPr>
            <a:endParaRPr lang="en-US" sz="1000" dirty="0"/>
          </a:p>
          <a:p>
            <a:pPr indent="0" marL="0">
              <a:buNone/>
            </a:pPr>
            <a:r>
              <a:rPr lang="en-US" sz="1000" dirty="0">
                <a:solidFill>
                  <a:srgbClr val="E2E8F0"/>
                </a:solidFill>
              </a:rPr>
              <a:t>The composite priority score identifies where to act first.</a:t>
            </a:r>
            <a:endParaRPr lang="en-US" sz="1000" dirty="0"/>
          </a:p>
        </p:txBody>
      </p:sp>
      <p:sp>
        <p:nvSpPr>
          <p:cNvPr id="12" name="Shape 10"/>
          <p:cNvSpPr/>
          <p:nvPr/>
        </p:nvSpPr>
        <p:spPr>
          <a:xfrm>
            <a:off x="5559552" y="1207008"/>
            <a:ext cx="3328416" cy="274320"/>
          </a:xfrm>
          <a:prstGeom prst="rect">
            <a:avLst/>
          </a:prstGeom>
          <a:solidFill>
            <a:srgbClr val="6C5CE7"/>
          </a:solidFill>
          <a:ln w="12700">
            <a:solidFill>
              <a:srgbClr val="6C5CE7"/>
            </a:solidFill>
            <a:prstDash val="solid"/>
          </a:ln>
        </p:spPr>
      </p:sp>
      <p:sp>
        <p:nvSpPr>
          <p:cNvPr id="13" name="Text 11"/>
          <p:cNvSpPr/>
          <p:nvPr/>
        </p:nvSpPr>
        <p:spPr>
          <a:xfrm>
            <a:off x="5559552" y="1207008"/>
            <a:ext cx="3328416" cy="274320"/>
          </a:xfrm>
          <a:prstGeom prst="rect">
            <a:avLst/>
          </a:prstGeom>
          <a:noFill/>
          <a:ln/>
        </p:spPr>
        <p:txBody>
          <a:bodyPr wrap="square" lIns="0" tIns="101600" rIns="0" bIns="0" rtlCol="0" anchor="ctr"/>
          <a:lstStyle/>
          <a:p>
            <a:pPr algn="l" indent="0" marL="0">
              <a:buNone/>
            </a:pPr>
            <a:r>
              <a:rPr lang="en-US" sz="1000" b="1" dirty="0">
                <a:solidFill>
                  <a:srgbClr val="FFFFFF"/>
                </a:solidFill>
              </a:rPr>
              <a:t>Key Findings</a:t>
            </a:r>
            <a:endParaRPr lang="en-US" sz="1000" dirty="0"/>
          </a:p>
        </p:txBody>
      </p:sp>
      <p:sp>
        <p:nvSpPr>
          <p:cNvPr id="14" name="Shape 12"/>
          <p:cNvSpPr/>
          <p:nvPr/>
        </p:nvSpPr>
        <p:spPr>
          <a:xfrm>
            <a:off x="5559552" y="1481328"/>
            <a:ext cx="3328416" cy="1956816"/>
          </a:xfrm>
          <a:prstGeom prst="rect">
            <a:avLst/>
          </a:prstGeom>
          <a:solidFill>
            <a:srgbClr val="1A2E44"/>
          </a:solidFill>
          <a:ln w="12700">
            <a:solidFill>
              <a:srgbClr val="1A2E44"/>
            </a:solidFill>
            <a:prstDash val="solid"/>
          </a:ln>
        </p:spPr>
      </p:sp>
      <p:sp>
        <p:nvSpPr>
          <p:cNvPr id="15" name="Shape 13"/>
          <p:cNvSpPr/>
          <p:nvPr/>
        </p:nvSpPr>
        <p:spPr>
          <a:xfrm>
            <a:off x="5632704" y="1600200"/>
            <a:ext cx="118872" cy="118872"/>
          </a:xfrm>
          <a:prstGeom prst="ellipse">
            <a:avLst/>
          </a:prstGeom>
          <a:solidFill>
            <a:srgbClr val="6C5CE7"/>
          </a:solidFill>
          <a:ln w="12700">
            <a:solidFill>
              <a:srgbClr val="6C5CE7"/>
            </a:solidFill>
            <a:prstDash val="solid"/>
          </a:ln>
        </p:spPr>
      </p:sp>
      <p:sp>
        <p:nvSpPr>
          <p:cNvPr id="16" name="Text 14"/>
          <p:cNvSpPr/>
          <p:nvPr/>
        </p:nvSpPr>
        <p:spPr>
          <a:xfrm>
            <a:off x="5815584" y="1536192"/>
            <a:ext cx="2999232" cy="420624"/>
          </a:xfrm>
          <a:prstGeom prst="rect">
            <a:avLst/>
          </a:prstGeom>
          <a:noFill/>
          <a:ln/>
        </p:spPr>
        <p:txBody>
          <a:bodyPr wrap="square" lIns="0" tIns="0" rIns="0" bIns="0" rtlCol="0" anchor="t"/>
          <a:lstStyle/>
          <a:p>
            <a:pPr indent="0" marL="0">
              <a:buNone/>
            </a:pPr>
            <a:r>
              <a:rPr lang="en-US" sz="950" dirty="0">
                <a:solidFill>
                  <a:srgbClr val="E2E8F0"/>
                </a:solidFill>
              </a:rPr>
              <a:t>Single-sourced seat sub-components rank highest — maximum BOM reach + zero supplier redundancy</a:t>
            </a:r>
            <a:endParaRPr lang="en-US" sz="950" dirty="0"/>
          </a:p>
        </p:txBody>
      </p:sp>
      <p:sp>
        <p:nvSpPr>
          <p:cNvPr id="17" name="Shape 15"/>
          <p:cNvSpPr/>
          <p:nvPr/>
        </p:nvSpPr>
        <p:spPr>
          <a:xfrm>
            <a:off x="5632704" y="2057400"/>
            <a:ext cx="118872" cy="118872"/>
          </a:xfrm>
          <a:prstGeom prst="ellipse">
            <a:avLst/>
          </a:prstGeom>
          <a:solidFill>
            <a:srgbClr val="6C5CE7"/>
          </a:solidFill>
          <a:ln w="12700">
            <a:solidFill>
              <a:srgbClr val="6C5CE7"/>
            </a:solidFill>
            <a:prstDash val="solid"/>
          </a:ln>
        </p:spPr>
      </p:sp>
      <p:sp>
        <p:nvSpPr>
          <p:cNvPr id="18" name="Text 16"/>
          <p:cNvSpPr/>
          <p:nvPr/>
        </p:nvSpPr>
        <p:spPr>
          <a:xfrm>
            <a:off x="5815584" y="1993392"/>
            <a:ext cx="2999232" cy="420624"/>
          </a:xfrm>
          <a:prstGeom prst="rect">
            <a:avLst/>
          </a:prstGeom>
          <a:noFill/>
          <a:ln/>
        </p:spPr>
        <p:txBody>
          <a:bodyPr wrap="square" lIns="0" tIns="0" rIns="0" bIns="0" rtlCol="0" anchor="t"/>
          <a:lstStyle/>
          <a:p>
            <a:pPr indent="0" marL="0">
              <a:buNone/>
            </a:pPr>
            <a:r>
              <a:rPr lang="en-US" sz="950" dirty="0">
                <a:solidFill>
                  <a:srgbClr val="E2E8F0"/>
                </a:solidFill>
              </a:rPr>
              <a:t>Battery components: moderate BOM reach but 294-unit/week capacity ceiling makes them critical</a:t>
            </a:r>
            <a:endParaRPr lang="en-US" sz="950" dirty="0"/>
          </a:p>
        </p:txBody>
      </p:sp>
      <p:sp>
        <p:nvSpPr>
          <p:cNvPr id="19" name="Shape 17"/>
          <p:cNvSpPr/>
          <p:nvPr/>
        </p:nvSpPr>
        <p:spPr>
          <a:xfrm>
            <a:off x="5632704" y="2514600"/>
            <a:ext cx="118872" cy="118872"/>
          </a:xfrm>
          <a:prstGeom prst="ellipse">
            <a:avLst/>
          </a:prstGeom>
          <a:solidFill>
            <a:srgbClr val="6C5CE7"/>
          </a:solidFill>
          <a:ln w="12700">
            <a:solidFill>
              <a:srgbClr val="6C5CE7"/>
            </a:solidFill>
            <a:prstDash val="solid"/>
          </a:ln>
        </p:spPr>
      </p:sp>
      <p:sp>
        <p:nvSpPr>
          <p:cNvPr id="20" name="Text 18"/>
          <p:cNvSpPr/>
          <p:nvPr/>
        </p:nvSpPr>
        <p:spPr>
          <a:xfrm>
            <a:off x="5815584" y="2450592"/>
            <a:ext cx="2999232" cy="420624"/>
          </a:xfrm>
          <a:prstGeom prst="rect">
            <a:avLst/>
          </a:prstGeom>
          <a:noFill/>
          <a:ln/>
        </p:spPr>
        <p:txBody>
          <a:bodyPr wrap="square" lIns="0" tIns="0" rIns="0" bIns="0" rtlCol="0" anchor="t"/>
          <a:lstStyle/>
          <a:p>
            <a:pPr indent="0" marL="0">
              <a:buNone/>
            </a:pPr>
            <a:r>
              <a:rPr lang="en-US" sz="950" dirty="0">
                <a:solidFill>
                  <a:srgbClr val="E2E8F0"/>
                </a:solidFill>
              </a:rPr>
              <a:t>Gear components: strong BOM presence but multi-sourced reduces priority vs seat</a:t>
            </a:r>
            <a:endParaRPr lang="en-US" sz="950" dirty="0"/>
          </a:p>
        </p:txBody>
      </p:sp>
      <p:sp>
        <p:nvSpPr>
          <p:cNvPr id="21" name="Shape 19"/>
          <p:cNvSpPr/>
          <p:nvPr/>
        </p:nvSpPr>
        <p:spPr>
          <a:xfrm>
            <a:off x="5632704" y="2971800"/>
            <a:ext cx="118872" cy="118872"/>
          </a:xfrm>
          <a:prstGeom prst="ellipse">
            <a:avLst/>
          </a:prstGeom>
          <a:solidFill>
            <a:srgbClr val="6C5CE7"/>
          </a:solidFill>
          <a:ln w="12700">
            <a:solidFill>
              <a:srgbClr val="6C5CE7"/>
            </a:solidFill>
            <a:prstDash val="solid"/>
          </a:ln>
        </p:spPr>
      </p:sp>
      <p:sp>
        <p:nvSpPr>
          <p:cNvPr id="22" name="Text 20"/>
          <p:cNvSpPr/>
          <p:nvPr/>
        </p:nvSpPr>
        <p:spPr>
          <a:xfrm>
            <a:off x="5815584" y="2907792"/>
            <a:ext cx="2999232" cy="420624"/>
          </a:xfrm>
          <a:prstGeom prst="rect">
            <a:avLst/>
          </a:prstGeom>
          <a:noFill/>
          <a:ln/>
        </p:spPr>
        <p:txBody>
          <a:bodyPr wrap="square" lIns="0" tIns="0" rIns="0" bIns="0" rtlCol="0" anchor="t"/>
          <a:lstStyle/>
          <a:p>
            <a:pPr indent="0" marL="0">
              <a:buNone/>
            </a:pPr>
            <a:r>
              <a:rPr lang="en-US" sz="950" dirty="0">
                <a:solidFill>
                  <a:srgbClr val="E2E8F0"/>
                </a:solidFill>
              </a:rPr>
              <a:t>Engine components: broad BOM reach but redundant sourcing keeps risk lower than seat</a:t>
            </a:r>
            <a:endParaRPr lang="en-US" sz="950" dirty="0"/>
          </a:p>
        </p:txBody>
      </p:sp>
      <p:sp>
        <p:nvSpPr>
          <p:cNvPr id="23" name="Shape 21"/>
          <p:cNvSpPr/>
          <p:nvPr/>
        </p:nvSpPr>
        <p:spPr>
          <a:xfrm>
            <a:off x="256032" y="4005072"/>
            <a:ext cx="8631936" cy="237744"/>
          </a:xfrm>
          <a:prstGeom prst="rect">
            <a:avLst/>
          </a:prstGeom>
          <a:solidFill>
            <a:srgbClr val="110E2A"/>
          </a:solidFill>
          <a:ln w="12700">
            <a:solidFill>
              <a:srgbClr val="6C5CE7"/>
            </a:solidFill>
            <a:prstDash val="solid"/>
          </a:ln>
        </p:spPr>
      </p:sp>
      <p:sp>
        <p:nvSpPr>
          <p:cNvPr id="24" name="Text 22"/>
          <p:cNvSpPr/>
          <p:nvPr/>
        </p:nvSpPr>
        <p:spPr>
          <a:xfrm>
            <a:off x="347472" y="4005072"/>
            <a:ext cx="8412480" cy="237744"/>
          </a:xfrm>
          <a:prstGeom prst="rect">
            <a:avLst/>
          </a:prstGeom>
          <a:noFill/>
          <a:ln/>
        </p:spPr>
        <p:txBody>
          <a:bodyPr wrap="square" lIns="0" tIns="0" rIns="0" bIns="0" rtlCol="0" anchor="ctr"/>
          <a:lstStyle/>
          <a:p>
            <a:pPr indent="0" marL="0">
              <a:buNone/>
            </a:pPr>
            <a:r>
              <a:rPr lang="en-US" sz="900" b="1" dirty="0">
                <a:solidFill>
                  <a:srgbClr val="6C5CE7"/>
                </a:solidFill>
              </a:rPr>
              <a:t>Story insight</a:t>
            </a:r>
            <a:endParaRPr lang="en-US" sz="900" dirty="0"/>
          </a:p>
        </p:txBody>
      </p:sp>
      <p:sp>
        <p:nvSpPr>
          <p:cNvPr id="25" name="Shape 23"/>
          <p:cNvSpPr/>
          <p:nvPr/>
        </p:nvSpPr>
        <p:spPr>
          <a:xfrm>
            <a:off x="256032" y="4242816"/>
            <a:ext cx="8631936" cy="658368"/>
          </a:xfrm>
          <a:prstGeom prst="rect">
            <a:avLst/>
          </a:prstGeom>
          <a:solidFill>
            <a:srgbClr val="0D0B1E"/>
          </a:solidFill>
          <a:ln w="12700">
            <a:solidFill>
              <a:srgbClr val="0D0B1E"/>
            </a:solidFill>
            <a:prstDash val="solid"/>
          </a:ln>
        </p:spPr>
      </p:sp>
      <p:sp>
        <p:nvSpPr>
          <p:cNvPr id="26" name="Text 24"/>
          <p:cNvSpPr/>
          <p:nvPr/>
        </p:nvSpPr>
        <p:spPr>
          <a:xfrm>
            <a:off x="347472" y="4261104"/>
            <a:ext cx="8412480" cy="621792"/>
          </a:xfrm>
          <a:prstGeom prst="rect">
            <a:avLst/>
          </a:prstGeom>
          <a:noFill/>
          <a:ln/>
        </p:spPr>
        <p:txBody>
          <a:bodyPr wrap="square" lIns="0" tIns="0" rIns="0" bIns="0" rtlCol="0" anchor="t"/>
          <a:lstStyle/>
          <a:p>
            <a:pPr indent="0" marL="0">
              <a:buNone/>
            </a:pPr>
            <a:r>
              <a:rPr lang="en-US" sz="950" dirty="0">
                <a:solidFill>
                  <a:srgbClr val="E2E8F0"/>
                </a:solidFill>
              </a:rPr>
              <a:t>The risk-adjusted view changes the priority order vs raw BOM concentration alone. Seat sub-components remain top priority due to combined single-sourcing + fragile logistics. Battery moves up the priority list disproportionate to its BOM weight because of the 294-unit structural capacity ceiling — a ceiling no planning decision can raise without capital investment.</a:t>
            </a:r>
            <a:endParaRPr lang="en-US" sz="950" dirty="0"/>
          </a:p>
        </p:txBody>
      </p:sp>
      <p:sp>
        <p:nvSpPr>
          <p:cNvPr id="27" name="Text 25"/>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E0A"/>
        </a:solidFill>
      </p:bgPr>
    </p:bg>
    <p:spTree>
      <p:nvGrpSpPr>
        <p:cNvPr id="1" name=""/>
        <p:cNvGrpSpPr/>
        <p:nvPr/>
      </p:nvGrpSpPr>
      <p:grpSpPr>
        <a:xfrm>
          <a:off x="0" y="0"/>
          <a:ext cx="0" cy="0"/>
          <a:chOff x="0" y="0"/>
          <a:chExt cx="0" cy="0"/>
        </a:xfrm>
      </p:grpSpPr>
      <p:sp>
        <p:nvSpPr>
          <p:cNvPr id="2" name="Text 0"/>
          <p:cNvSpPr/>
          <p:nvPr/>
        </p:nvSpPr>
        <p:spPr>
          <a:xfrm>
            <a:off x="5943600" y="274320"/>
            <a:ext cx="2926080" cy="4114800"/>
          </a:xfrm>
          <a:prstGeom prst="rect">
            <a:avLst/>
          </a:prstGeom>
          <a:noFill/>
          <a:ln/>
        </p:spPr>
        <p:txBody>
          <a:bodyPr wrap="square" lIns="0" tIns="0" rIns="0" bIns="0" rtlCol="0" anchor="t"/>
          <a:lstStyle/>
          <a:p>
            <a:pPr algn="r" indent="0" marL="0">
              <a:buNone/>
            </a:pPr>
            <a:r>
              <a:rPr lang="en-US" sz="18000" b="1" dirty="0">
                <a:solidFill>
                  <a:srgbClr val="091A10">
                    <a:alpha val="30000"/>
                  </a:srgbClr>
                </a:solidFill>
              </a:rPr>
              <a:t>08</a:t>
            </a:r>
            <a:endParaRPr lang="en-US" sz="18000" dirty="0"/>
          </a:p>
        </p:txBody>
      </p:sp>
      <p:sp>
        <p:nvSpPr>
          <p:cNvPr id="3" name="Shape 1"/>
          <p:cNvSpPr/>
          <p:nvPr/>
        </p:nvSpPr>
        <p:spPr>
          <a:xfrm>
            <a:off x="457200" y="548640"/>
            <a:ext cx="2560320" cy="292608"/>
          </a:xfrm>
          <a:prstGeom prst="rect">
            <a:avLst/>
          </a:prstGeom>
          <a:solidFill>
            <a:srgbClr val="00B894"/>
          </a:solidFill>
          <a:ln w="12700">
            <a:solidFill>
              <a:srgbClr val="00B894"/>
            </a:solidFill>
            <a:prstDash val="solid"/>
          </a:ln>
        </p:spPr>
      </p:sp>
      <p:sp>
        <p:nvSpPr>
          <p:cNvPr id="4" name="Text 2"/>
          <p:cNvSpPr/>
          <p:nvPr/>
        </p:nvSpPr>
        <p:spPr>
          <a:xfrm>
            <a:off x="457200" y="548640"/>
            <a:ext cx="2560320" cy="292608"/>
          </a:xfrm>
          <a:prstGeom prst="rect">
            <a:avLst/>
          </a:prstGeom>
          <a:noFill/>
          <a:ln/>
        </p:spPr>
        <p:txBody>
          <a:bodyPr wrap="square" lIns="0" tIns="0" rIns="0" bIns="0" rtlCol="0" anchor="ctr"/>
          <a:lstStyle/>
          <a:p>
            <a:pPr algn="ctr" indent="0" marL="0">
              <a:buNone/>
            </a:pPr>
            <a:r>
              <a:rPr lang="en-US" sz="900" b="1" dirty="0">
                <a:solidFill>
                  <a:srgbClr val="FFFFFF"/>
                </a:solidFill>
              </a:rPr>
              <a:t>GRAPH DATA SCIENCE</a:t>
            </a:r>
            <a:endParaRPr lang="en-US" sz="900" dirty="0"/>
          </a:p>
        </p:txBody>
      </p:sp>
      <p:sp>
        <p:nvSpPr>
          <p:cNvPr id="5" name="Text 3"/>
          <p:cNvSpPr/>
          <p:nvPr/>
        </p:nvSpPr>
        <p:spPr>
          <a:xfrm>
            <a:off x="457200" y="960120"/>
            <a:ext cx="5486400" cy="731520"/>
          </a:xfrm>
          <a:prstGeom prst="rect">
            <a:avLst/>
          </a:prstGeom>
          <a:noFill/>
          <a:ln/>
        </p:spPr>
        <p:txBody>
          <a:bodyPr wrap="square" lIns="0" tIns="0" rIns="0" bIns="0" rtlCol="0" anchor="ctr"/>
          <a:lstStyle/>
          <a:p>
            <a:pPr indent="0" marL="0">
              <a:buNone/>
            </a:pPr>
            <a:r>
              <a:rPr lang="en-US" sz="3200" b="1" dirty="0">
                <a:solidFill>
                  <a:srgbClr val="FFFFFF"/>
                </a:solidFill>
              </a:rPr>
              <a:t>GDS Algorithms</a:t>
            </a:r>
            <a:endParaRPr lang="en-US" sz="3200" dirty="0"/>
          </a:p>
        </p:txBody>
      </p:sp>
      <p:sp>
        <p:nvSpPr>
          <p:cNvPr id="6" name="Text 4"/>
          <p:cNvSpPr/>
          <p:nvPr/>
        </p:nvSpPr>
        <p:spPr>
          <a:xfrm>
            <a:off x="457200" y="1737360"/>
            <a:ext cx="5943600" cy="365760"/>
          </a:xfrm>
          <a:prstGeom prst="rect">
            <a:avLst/>
          </a:prstGeom>
          <a:noFill/>
          <a:ln/>
        </p:spPr>
        <p:txBody>
          <a:bodyPr wrap="square" lIns="0" tIns="0" rIns="0" bIns="0" rtlCol="0" anchor="ctr"/>
          <a:lstStyle/>
          <a:p>
            <a:pPr indent="0" marL="0">
              <a:buNone/>
            </a:pPr>
            <a:r>
              <a:rPr lang="en-US" sz="1300" i="1" dirty="0">
                <a:solidFill>
                  <a:srgbClr val="00B894"/>
                </a:solidFill>
              </a:rPr>
              <a:t>PageRank centrality + Louvain community detection</a:t>
            </a:r>
            <a:endParaRPr lang="en-US" sz="1300" dirty="0"/>
          </a:p>
        </p:txBody>
      </p:sp>
      <p:sp>
        <p:nvSpPr>
          <p:cNvPr id="7" name="Shape 5"/>
          <p:cNvSpPr/>
          <p:nvPr/>
        </p:nvSpPr>
        <p:spPr>
          <a:xfrm>
            <a:off x="457200" y="2286000"/>
            <a:ext cx="5120640" cy="36576"/>
          </a:xfrm>
          <a:prstGeom prst="rect">
            <a:avLst/>
          </a:prstGeom>
          <a:solidFill>
            <a:srgbClr val="00B894"/>
          </a:solidFill>
          <a:ln w="12700">
            <a:solidFill>
              <a:srgbClr val="00B894"/>
            </a:solidFill>
            <a:prstDash val="solid"/>
          </a:ln>
        </p:spPr>
      </p:sp>
      <p:sp>
        <p:nvSpPr>
          <p:cNvPr id="8" name="Text 6"/>
          <p:cNvSpPr/>
          <p:nvPr/>
        </p:nvSpPr>
        <p:spPr>
          <a:xfrm>
            <a:off x="457200" y="2423160"/>
            <a:ext cx="5120640" cy="256032"/>
          </a:xfrm>
          <a:prstGeom prst="rect">
            <a:avLst/>
          </a:prstGeom>
          <a:noFill/>
          <a:ln/>
        </p:spPr>
        <p:txBody>
          <a:bodyPr wrap="square" lIns="0" tIns="0" rIns="0" bIns="0" rtlCol="0" anchor="ctr"/>
          <a:lstStyle/>
          <a:p>
            <a:pPr indent="0" marL="0">
              <a:buNone/>
            </a:pPr>
            <a:r>
              <a:rPr lang="en-US" sz="1000" b="1" dirty="0">
                <a:solidFill>
                  <a:srgbClr val="F6AD55"/>
                </a:solidFill>
              </a:rPr>
              <a:t>Why graph algorithms?</a:t>
            </a:r>
            <a:endParaRPr lang="en-US" sz="1000" dirty="0"/>
          </a:p>
        </p:txBody>
      </p:sp>
      <p:sp>
        <p:nvSpPr>
          <p:cNvPr id="9" name="Text 7"/>
          <p:cNvSpPr/>
          <p:nvPr/>
        </p:nvSpPr>
        <p:spPr>
          <a:xfrm>
            <a:off x="457200" y="2724912"/>
            <a:ext cx="5120640" cy="1188720"/>
          </a:xfrm>
          <a:prstGeom prst="rect">
            <a:avLst/>
          </a:prstGeom>
          <a:noFill/>
          <a:ln/>
        </p:spPr>
        <p:txBody>
          <a:bodyPr wrap="square" lIns="0" tIns="0" rIns="0" bIns="0" rtlCol="0" anchor="ctr"/>
          <a:lstStyle/>
          <a:p>
            <a:pPr indent="0" marL="0">
              <a:buNone/>
            </a:pPr>
            <a:r>
              <a:rPr lang="en-US" sz="1100" dirty="0">
                <a:solidFill>
                  <a:srgbClr val="E2E8F0"/>
                </a:solidFill>
              </a:rPr>
              <a:t>Cypher queries answer questions about specific nodes and paths. GDS algorithms score every node simultaneously — surfacing structural importance that no single query can reveal. We project the full network into memory and run two algorithms that have proven value in supply chain risk analysis.</a:t>
            </a:r>
            <a:endParaRPr lang="en-US" sz="1100" dirty="0"/>
          </a:p>
        </p:txBody>
      </p:sp>
      <p:sp>
        <p:nvSpPr>
          <p:cNvPr id="10" name="Text 8"/>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018"/>
          </a:solidFill>
          <a:ln w="12700">
            <a:solidFill>
              <a:srgbClr val="0A2018"/>
            </a:solidFill>
            <a:prstDash val="solid"/>
          </a:ln>
        </p:spPr>
      </p:sp>
      <p:sp>
        <p:nvSpPr>
          <p:cNvPr id="3" name="Shape 1"/>
          <p:cNvSpPr/>
          <p:nvPr/>
        </p:nvSpPr>
        <p:spPr>
          <a:xfrm>
            <a:off x="274320" y="137160"/>
            <a:ext cx="1005840" cy="329184"/>
          </a:xfrm>
          <a:prstGeom prst="rect">
            <a:avLst/>
          </a:prstGeom>
          <a:solidFill>
            <a:srgbClr val="00B894"/>
          </a:solidFill>
          <a:ln w="12700">
            <a:solidFill>
              <a:srgbClr val="00B894"/>
            </a:solidFill>
            <a:prstDash val="solid"/>
          </a:ln>
        </p:spPr>
      </p:sp>
      <p:sp>
        <p:nvSpPr>
          <p:cNvPr id="4" name="Text 2"/>
          <p:cNvSpPr/>
          <p:nvPr/>
        </p:nvSpPr>
        <p:spPr>
          <a:xfrm>
            <a:off x="274320" y="137160"/>
            <a:ext cx="1005840" cy="329184"/>
          </a:xfrm>
          <a:prstGeom prst="rect">
            <a:avLst/>
          </a:prstGeom>
          <a:noFill/>
          <a:ln/>
        </p:spPr>
        <p:txBody>
          <a:bodyPr wrap="square" lIns="0" tIns="0" rIns="0" bIns="0" rtlCol="0" anchor="ctr"/>
          <a:lstStyle/>
          <a:p>
            <a:pPr algn="ctr" indent="0" marL="0">
              <a:buNone/>
            </a:pPr>
            <a:r>
              <a:rPr lang="en-US" sz="900" b="1" dirty="0">
                <a:solidFill>
                  <a:srgbClr val="FFFFFF"/>
                </a:solidFill>
              </a:rPr>
              <a:t>GDS 1</a:t>
            </a:r>
            <a:endParaRPr lang="en-US" sz="900" dirty="0"/>
          </a:p>
        </p:txBody>
      </p:sp>
      <p:sp>
        <p:nvSpPr>
          <p:cNvPr id="5" name="Text 3"/>
          <p:cNvSpPr/>
          <p:nvPr/>
        </p:nvSpPr>
        <p:spPr>
          <a:xfrm>
            <a:off x="1417320" y="128016"/>
            <a:ext cx="7498080" cy="384048"/>
          </a:xfrm>
          <a:prstGeom prst="rect">
            <a:avLst/>
          </a:prstGeom>
          <a:noFill/>
          <a:ln/>
        </p:spPr>
        <p:txBody>
          <a:bodyPr wrap="square" lIns="0" tIns="0" rIns="0" bIns="0" rtlCol="0" anchor="ctr"/>
          <a:lstStyle/>
          <a:p>
            <a:pPr indent="0" marL="0">
              <a:buNone/>
            </a:pPr>
            <a:r>
              <a:rPr lang="en-US" sz="1500" b="1" dirty="0">
                <a:solidFill>
                  <a:srgbClr val="FFFFFF"/>
                </a:solidFill>
              </a:rPr>
              <a:t>PageRank — Critical Node Identification</a:t>
            </a:r>
            <a:endParaRPr lang="en-US" sz="1500" dirty="0"/>
          </a:p>
        </p:txBody>
      </p:sp>
      <p:sp>
        <p:nvSpPr>
          <p:cNvPr id="6" name="Shape 4"/>
          <p:cNvSpPr/>
          <p:nvPr/>
        </p:nvSpPr>
        <p:spPr>
          <a:xfrm>
            <a:off x="256032" y="768096"/>
            <a:ext cx="5120640" cy="274320"/>
          </a:xfrm>
          <a:prstGeom prst="rect">
            <a:avLst/>
          </a:prstGeom>
          <a:solidFill>
            <a:srgbClr val="00B894"/>
          </a:solidFill>
          <a:ln w="12700">
            <a:solidFill>
              <a:srgbClr val="00B894"/>
            </a:solidFill>
            <a:prstDash val="solid"/>
          </a:ln>
        </p:spPr>
      </p:sp>
      <p:sp>
        <p:nvSpPr>
          <p:cNvPr id="7" name="Text 5"/>
          <p:cNvSpPr/>
          <p:nvPr/>
        </p:nvSpPr>
        <p:spPr>
          <a:xfrm>
            <a:off x="329184" y="768096"/>
            <a:ext cx="4974336" cy="274320"/>
          </a:xfrm>
          <a:prstGeom prst="rect">
            <a:avLst/>
          </a:prstGeom>
          <a:noFill/>
          <a:ln/>
        </p:spPr>
        <p:txBody>
          <a:bodyPr wrap="square" lIns="0" tIns="0" rIns="0" bIns="0" rtlCol="0" anchor="ctr"/>
          <a:lstStyle/>
          <a:p>
            <a:pPr indent="0" marL="0">
              <a:buNone/>
            </a:pPr>
            <a:r>
              <a:rPr lang="en-US" sz="1000" b="1" dirty="0">
                <a:solidFill>
                  <a:srgbClr val="FFFFFF"/>
                </a:solidFill>
              </a:rPr>
              <a:t>Algorithm Theory</a:t>
            </a:r>
            <a:endParaRPr lang="en-US" sz="1000" dirty="0"/>
          </a:p>
        </p:txBody>
      </p:sp>
      <p:sp>
        <p:nvSpPr>
          <p:cNvPr id="8" name="Shape 6"/>
          <p:cNvSpPr/>
          <p:nvPr/>
        </p:nvSpPr>
        <p:spPr>
          <a:xfrm>
            <a:off x="256032" y="1042416"/>
            <a:ext cx="5120640" cy="2944368"/>
          </a:xfrm>
          <a:prstGeom prst="rect">
            <a:avLst/>
          </a:prstGeom>
          <a:solidFill>
            <a:srgbClr val="091A10"/>
          </a:solidFill>
          <a:ln w="12700">
            <a:solidFill>
              <a:srgbClr val="091A10"/>
            </a:solidFill>
            <a:prstDash val="solid"/>
          </a:ln>
        </p:spPr>
      </p:sp>
      <p:sp>
        <p:nvSpPr>
          <p:cNvPr id="9" name="Text 7"/>
          <p:cNvSpPr/>
          <p:nvPr/>
        </p:nvSpPr>
        <p:spPr>
          <a:xfrm>
            <a:off x="347472" y="1097280"/>
            <a:ext cx="4937760" cy="2834640"/>
          </a:xfrm>
          <a:prstGeom prst="rect">
            <a:avLst/>
          </a:prstGeom>
          <a:noFill/>
          <a:ln/>
        </p:spPr>
        <p:txBody>
          <a:bodyPr wrap="square" lIns="0" tIns="0" rIns="0" bIns="0" rtlCol="0" anchor="t"/>
          <a:lstStyle/>
          <a:p>
            <a:pPr indent="0" marL="0">
              <a:buNone/>
            </a:pPr>
            <a:r>
              <a:rPr lang="en-US" sz="950" dirty="0">
                <a:solidFill>
                  <a:srgbClr val="E2E8F0"/>
                </a:solidFill>
              </a:rPr>
              <a:t>PageRank is an iterative eigenvector centrality algorithm developed by Page et al. (1999). It measures node influence by iteratively distributing rank from nodes to their neighbours:</a:t>
            </a:r>
            <a:endParaRPr lang="en-US" sz="950" dirty="0"/>
          </a:p>
          <a:p>
            <a:pPr indent="0" marL="0">
              <a:buNone/>
            </a:pPr>
            <a:endParaRPr lang="en-US" sz="950" dirty="0"/>
          </a:p>
          <a:p>
            <a:pPr indent="0" marL="0">
              <a:buNone/>
            </a:pPr>
            <a:r>
              <a:rPr lang="en-US" sz="950" dirty="0">
                <a:solidFill>
                  <a:srgbClr val="E2E8F0"/>
                </a:solidFill>
              </a:rPr>
              <a:t>PR(n) = (1-d)/N + d × Σ(PR(m)/L(m))</a:t>
            </a:r>
            <a:endParaRPr lang="en-US" sz="950" dirty="0"/>
          </a:p>
          <a:p>
            <a:pPr indent="0" marL="0">
              <a:buNone/>
            </a:pPr>
            <a:endParaRPr lang="en-US" sz="950" dirty="0"/>
          </a:p>
          <a:p>
            <a:pPr indent="0" marL="0">
              <a:buNone/>
            </a:pPr>
            <a:r>
              <a:rPr lang="en-US" sz="950" dirty="0">
                <a:solidFill>
                  <a:srgbClr val="E2E8F0"/>
                </a:solidFill>
              </a:rPr>
              <a:t>Where d = 0.85 damping factor, N = total nodes, m = nodes pointing to n, L(m) = outbound degree of m.</a:t>
            </a:r>
            <a:endParaRPr lang="en-US" sz="950" dirty="0"/>
          </a:p>
          <a:p>
            <a:pPr indent="0" marL="0">
              <a:buNone/>
            </a:pPr>
            <a:endParaRPr lang="en-US" sz="950" dirty="0"/>
          </a:p>
          <a:p>
            <a:pPr indent="0" marL="0">
              <a:buNone/>
            </a:pPr>
            <a:r>
              <a:rPr lang="en-US" sz="950" dirty="0">
                <a:solidFill>
                  <a:srgbClr val="E2E8F0"/>
                </a:solidFill>
              </a:rPr>
              <a:t>In supply chain context: a facility that receives flow from many high-influence suppliers accumulates high PageRank — meaning its failure would cascade broadly. We run 50 iterations on the full projected network.</a:t>
            </a:r>
            <a:endParaRPr lang="en-US" sz="950" dirty="0"/>
          </a:p>
        </p:txBody>
      </p:sp>
      <p:sp>
        <p:nvSpPr>
          <p:cNvPr id="10" name="Shape 8"/>
          <p:cNvSpPr/>
          <p:nvPr/>
        </p:nvSpPr>
        <p:spPr>
          <a:xfrm>
            <a:off x="5559552" y="768096"/>
            <a:ext cx="3328416" cy="274320"/>
          </a:xfrm>
          <a:prstGeom prst="rect">
            <a:avLst/>
          </a:prstGeom>
          <a:solidFill>
            <a:srgbClr val="00B894"/>
          </a:solidFill>
          <a:ln w="12700">
            <a:solidFill>
              <a:srgbClr val="00B894"/>
            </a:solidFill>
            <a:prstDash val="solid"/>
          </a:ln>
        </p:spPr>
      </p:sp>
      <p:sp>
        <p:nvSpPr>
          <p:cNvPr id="11" name="Text 9"/>
          <p:cNvSpPr/>
          <p:nvPr/>
        </p:nvSpPr>
        <p:spPr>
          <a:xfrm>
            <a:off x="5559552" y="768096"/>
            <a:ext cx="3328416" cy="274320"/>
          </a:xfrm>
          <a:prstGeom prst="rect">
            <a:avLst/>
          </a:prstGeom>
          <a:noFill/>
          <a:ln/>
        </p:spPr>
        <p:txBody>
          <a:bodyPr wrap="square" lIns="0" tIns="101600" rIns="0" bIns="0" rtlCol="0" anchor="ctr"/>
          <a:lstStyle/>
          <a:p>
            <a:pPr algn="l" indent="0" marL="0">
              <a:buNone/>
            </a:pPr>
            <a:r>
              <a:rPr lang="en-US" sz="1000" b="1" dirty="0">
                <a:solidFill>
                  <a:srgbClr val="FFFFFF"/>
                </a:solidFill>
              </a:rPr>
              <a:t>Key Results</a:t>
            </a:r>
            <a:endParaRPr lang="en-US" sz="1000" dirty="0"/>
          </a:p>
        </p:txBody>
      </p:sp>
      <p:sp>
        <p:nvSpPr>
          <p:cNvPr id="12" name="Shape 10"/>
          <p:cNvSpPr/>
          <p:nvPr/>
        </p:nvSpPr>
        <p:spPr>
          <a:xfrm>
            <a:off x="5559552" y="1042416"/>
            <a:ext cx="3328416" cy="2944368"/>
          </a:xfrm>
          <a:prstGeom prst="rect">
            <a:avLst/>
          </a:prstGeom>
          <a:solidFill>
            <a:srgbClr val="091A10"/>
          </a:solidFill>
          <a:ln w="12700">
            <a:solidFill>
              <a:srgbClr val="091A10"/>
            </a:solidFill>
            <a:prstDash val="solid"/>
          </a:ln>
        </p:spPr>
      </p:sp>
      <p:sp>
        <p:nvSpPr>
          <p:cNvPr id="13" name="Shape 11"/>
          <p:cNvSpPr/>
          <p:nvPr/>
        </p:nvSpPr>
        <p:spPr>
          <a:xfrm>
            <a:off x="5632704" y="1170432"/>
            <a:ext cx="118872" cy="118872"/>
          </a:xfrm>
          <a:prstGeom prst="ellipse">
            <a:avLst/>
          </a:prstGeom>
          <a:solidFill>
            <a:srgbClr val="00B894"/>
          </a:solidFill>
          <a:ln w="12700">
            <a:solidFill>
              <a:srgbClr val="00B894"/>
            </a:solidFill>
            <a:prstDash val="solid"/>
          </a:ln>
        </p:spPr>
      </p:sp>
      <p:sp>
        <p:nvSpPr>
          <p:cNvPr id="14" name="Text 12"/>
          <p:cNvSpPr/>
          <p:nvPr/>
        </p:nvSpPr>
        <p:spPr>
          <a:xfrm>
            <a:off x="5815584" y="1097280"/>
            <a:ext cx="2999232" cy="475488"/>
          </a:xfrm>
          <a:prstGeom prst="rect">
            <a:avLst/>
          </a:prstGeom>
          <a:noFill/>
          <a:ln/>
        </p:spPr>
        <p:txBody>
          <a:bodyPr wrap="square" lIns="0" tIns="0" rIns="0" bIns="0" rtlCol="0" anchor="t"/>
          <a:lstStyle/>
          <a:p>
            <a:pPr indent="0" marL="0">
              <a:buNone/>
            </a:pPr>
            <a:r>
              <a:rPr lang="en-US" sz="950" dirty="0">
                <a:solidFill>
                  <a:srgbClr val="E2E8F0"/>
                </a:solidFill>
              </a:rPr>
              <a:t>engine-supplier_inv and gear-supplier_inv: highest-scoring facilities — critical Tier-1 consolidation points</a:t>
            </a:r>
            <a:endParaRPr lang="en-US" sz="950" dirty="0"/>
          </a:p>
        </p:txBody>
      </p:sp>
      <p:sp>
        <p:nvSpPr>
          <p:cNvPr id="15" name="Shape 13"/>
          <p:cNvSpPr/>
          <p:nvPr/>
        </p:nvSpPr>
        <p:spPr>
          <a:xfrm>
            <a:off x="5632704" y="1700784"/>
            <a:ext cx="118872" cy="118872"/>
          </a:xfrm>
          <a:prstGeom prst="ellipse">
            <a:avLst/>
          </a:prstGeom>
          <a:solidFill>
            <a:srgbClr val="00B894"/>
          </a:solidFill>
          <a:ln w="12700">
            <a:solidFill>
              <a:srgbClr val="00B894"/>
            </a:solidFill>
            <a:prstDash val="solid"/>
          </a:ln>
        </p:spPr>
      </p:sp>
      <p:sp>
        <p:nvSpPr>
          <p:cNvPr id="16" name="Text 14"/>
          <p:cNvSpPr/>
          <p:nvPr/>
        </p:nvSpPr>
        <p:spPr>
          <a:xfrm>
            <a:off x="5815584" y="1627632"/>
            <a:ext cx="2999232" cy="475488"/>
          </a:xfrm>
          <a:prstGeom prst="rect">
            <a:avLst/>
          </a:prstGeom>
          <a:noFill/>
          <a:ln/>
        </p:spPr>
        <p:txBody>
          <a:bodyPr wrap="square" lIns="0" tIns="0" rIns="0" bIns="0" rtlCol="0" anchor="t"/>
          <a:lstStyle/>
          <a:p>
            <a:pPr indent="0" marL="0">
              <a:buNone/>
            </a:pPr>
            <a:r>
              <a:rPr lang="en-US" sz="950" dirty="0">
                <a:solidFill>
                  <a:srgbClr val="E2E8F0"/>
                </a:solidFill>
              </a:rPr>
              <a:t>ZP7 and ZP8 (OEM plants): elevated scores — all component flows converge here before reaching customers</a:t>
            </a:r>
            <a:endParaRPr lang="en-US" sz="950" dirty="0"/>
          </a:p>
        </p:txBody>
      </p:sp>
      <p:sp>
        <p:nvSpPr>
          <p:cNvPr id="17" name="Shape 15"/>
          <p:cNvSpPr/>
          <p:nvPr/>
        </p:nvSpPr>
        <p:spPr>
          <a:xfrm>
            <a:off x="5632704" y="2231136"/>
            <a:ext cx="118872" cy="118872"/>
          </a:xfrm>
          <a:prstGeom prst="ellipse">
            <a:avLst/>
          </a:prstGeom>
          <a:solidFill>
            <a:srgbClr val="00B894"/>
          </a:solidFill>
          <a:ln w="12700">
            <a:solidFill>
              <a:srgbClr val="00B894"/>
            </a:solidFill>
            <a:prstDash val="solid"/>
          </a:ln>
        </p:spPr>
      </p:sp>
      <p:sp>
        <p:nvSpPr>
          <p:cNvPr id="18" name="Text 16"/>
          <p:cNvSpPr/>
          <p:nvPr/>
        </p:nvSpPr>
        <p:spPr>
          <a:xfrm>
            <a:off x="5815584" y="2157984"/>
            <a:ext cx="2999232" cy="475488"/>
          </a:xfrm>
          <a:prstGeom prst="rect">
            <a:avLst/>
          </a:prstGeom>
          <a:noFill/>
          <a:ln/>
        </p:spPr>
        <p:txBody>
          <a:bodyPr wrap="square" lIns="0" tIns="0" rIns="0" bIns="0" rtlCol="0" anchor="t"/>
          <a:lstStyle/>
          <a:p>
            <a:pPr indent="0" marL="0">
              <a:buNone/>
            </a:pPr>
            <a:r>
              <a:rPr lang="en-US" sz="950" dirty="0">
                <a:solidFill>
                  <a:srgbClr val="E2E8F0"/>
                </a:solidFill>
              </a:rPr>
              <a:t>Tier-2 production facilities: lower scores — upstream but one hop removed from convergence</a:t>
            </a:r>
            <a:endParaRPr lang="en-US" sz="950" dirty="0"/>
          </a:p>
        </p:txBody>
      </p:sp>
      <p:sp>
        <p:nvSpPr>
          <p:cNvPr id="19" name="Shape 17"/>
          <p:cNvSpPr/>
          <p:nvPr/>
        </p:nvSpPr>
        <p:spPr>
          <a:xfrm>
            <a:off x="5632704" y="2761488"/>
            <a:ext cx="118872" cy="118872"/>
          </a:xfrm>
          <a:prstGeom prst="ellipse">
            <a:avLst/>
          </a:prstGeom>
          <a:solidFill>
            <a:srgbClr val="00B894"/>
          </a:solidFill>
          <a:ln w="12700">
            <a:solidFill>
              <a:srgbClr val="00B894"/>
            </a:solidFill>
            <a:prstDash val="solid"/>
          </a:ln>
        </p:spPr>
      </p:sp>
      <p:sp>
        <p:nvSpPr>
          <p:cNvPr id="20" name="Text 18"/>
          <p:cNvSpPr/>
          <p:nvPr/>
        </p:nvSpPr>
        <p:spPr>
          <a:xfrm>
            <a:off x="5815584" y="2688336"/>
            <a:ext cx="2999232" cy="475488"/>
          </a:xfrm>
          <a:prstGeom prst="rect">
            <a:avLst/>
          </a:prstGeom>
          <a:noFill/>
          <a:ln/>
        </p:spPr>
        <p:txBody>
          <a:bodyPr wrap="square" lIns="0" tIns="0" rIns="0" bIns="0" rtlCol="0" anchor="t"/>
          <a:lstStyle/>
          <a:p>
            <a:pPr indent="0" marL="0">
              <a:buNone/>
            </a:pPr>
            <a:r>
              <a:rPr lang="en-US" sz="950" dirty="0">
                <a:solidFill>
                  <a:srgbClr val="E2E8F0"/>
                </a:solidFill>
              </a:rPr>
              <a:t>Transit nodes: lowest scores — pass-through, not consolidation points</a:t>
            </a:r>
            <a:endParaRPr lang="en-US" sz="950" dirty="0"/>
          </a:p>
        </p:txBody>
      </p:sp>
      <p:sp>
        <p:nvSpPr>
          <p:cNvPr id="21" name="Shape 19"/>
          <p:cNvSpPr/>
          <p:nvPr/>
        </p:nvSpPr>
        <p:spPr>
          <a:xfrm>
            <a:off x="256032" y="4041648"/>
            <a:ext cx="8631936" cy="237744"/>
          </a:xfrm>
          <a:prstGeom prst="rect">
            <a:avLst/>
          </a:prstGeom>
          <a:solidFill>
            <a:srgbClr val="091A10"/>
          </a:solidFill>
          <a:ln w="12700">
            <a:solidFill>
              <a:srgbClr val="00B894"/>
            </a:solidFill>
            <a:prstDash val="solid"/>
          </a:ln>
        </p:spPr>
      </p:sp>
      <p:sp>
        <p:nvSpPr>
          <p:cNvPr id="22" name="Text 20"/>
          <p:cNvSpPr/>
          <p:nvPr/>
        </p:nvSpPr>
        <p:spPr>
          <a:xfrm>
            <a:off x="347472" y="4041648"/>
            <a:ext cx="8412480" cy="237744"/>
          </a:xfrm>
          <a:prstGeom prst="rect">
            <a:avLst/>
          </a:prstGeom>
          <a:noFill/>
          <a:ln/>
        </p:spPr>
        <p:txBody>
          <a:bodyPr wrap="square" lIns="0" tIns="0" rIns="0" bIns="0" rtlCol="0" anchor="ctr"/>
          <a:lstStyle/>
          <a:p>
            <a:pPr indent="0" marL="0">
              <a:buNone/>
            </a:pPr>
            <a:r>
              <a:rPr lang="en-US" sz="900" b="1" dirty="0">
                <a:solidFill>
                  <a:srgbClr val="00B894"/>
                </a:solidFill>
              </a:rPr>
              <a:t>Story insight</a:t>
            </a:r>
            <a:endParaRPr lang="en-US" sz="900" dirty="0"/>
          </a:p>
        </p:txBody>
      </p:sp>
      <p:sp>
        <p:nvSpPr>
          <p:cNvPr id="23" name="Shape 21"/>
          <p:cNvSpPr/>
          <p:nvPr/>
        </p:nvSpPr>
        <p:spPr>
          <a:xfrm>
            <a:off x="256032" y="4279392"/>
            <a:ext cx="8631936" cy="621792"/>
          </a:xfrm>
          <a:prstGeom prst="rect">
            <a:avLst/>
          </a:prstGeom>
          <a:solidFill>
            <a:srgbClr val="060E0A"/>
          </a:solidFill>
          <a:ln w="12700">
            <a:solidFill>
              <a:srgbClr val="060E0A"/>
            </a:solidFill>
            <a:prstDash val="solid"/>
          </a:ln>
        </p:spPr>
      </p:sp>
      <p:sp>
        <p:nvSpPr>
          <p:cNvPr id="24" name="Text 22"/>
          <p:cNvSpPr/>
          <p:nvPr/>
        </p:nvSpPr>
        <p:spPr>
          <a:xfrm>
            <a:off x="347472" y="4297680"/>
            <a:ext cx="8412480" cy="585216"/>
          </a:xfrm>
          <a:prstGeom prst="rect">
            <a:avLst/>
          </a:prstGeom>
          <a:noFill/>
          <a:ln/>
        </p:spPr>
        <p:txBody>
          <a:bodyPr wrap="square" lIns="0" tIns="0" rIns="0" bIns="0" rtlCol="0" anchor="t"/>
          <a:lstStyle/>
          <a:p>
            <a:pPr indent="0" marL="0">
              <a:buNone/>
            </a:pPr>
            <a:r>
              <a:rPr lang="en-US" sz="950" dirty="0">
                <a:solidFill>
                  <a:srgbClr val="E2E8F0"/>
                </a:solidFill>
              </a:rPr>
              <a:t>PageRank formally quantifies what EDA 5–9 suggested qualitatively. The Tier-1 inventory facilities — engine-supplier_inv and gear-supplier_inv — are the highest-influence nodes in the network. A disruption there cascades to every downstream path. This confirms they are the correct targets for buffer investment and redundancy planning.</a:t>
            </a:r>
            <a:endParaRPr lang="en-US" sz="950" dirty="0"/>
          </a:p>
        </p:txBody>
      </p:sp>
      <p:sp>
        <p:nvSpPr>
          <p:cNvPr id="25" name="Text 23"/>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018"/>
          </a:solidFill>
          <a:ln w="12700">
            <a:solidFill>
              <a:srgbClr val="0A2018"/>
            </a:solidFill>
            <a:prstDash val="solid"/>
          </a:ln>
        </p:spPr>
      </p:sp>
      <p:sp>
        <p:nvSpPr>
          <p:cNvPr id="3" name="Shape 1"/>
          <p:cNvSpPr/>
          <p:nvPr/>
        </p:nvSpPr>
        <p:spPr>
          <a:xfrm>
            <a:off x="274320" y="137160"/>
            <a:ext cx="1005840" cy="329184"/>
          </a:xfrm>
          <a:prstGeom prst="rect">
            <a:avLst/>
          </a:prstGeom>
          <a:solidFill>
            <a:srgbClr val="00B894"/>
          </a:solidFill>
          <a:ln w="12700">
            <a:solidFill>
              <a:srgbClr val="00B894"/>
            </a:solidFill>
            <a:prstDash val="solid"/>
          </a:ln>
        </p:spPr>
      </p:sp>
      <p:sp>
        <p:nvSpPr>
          <p:cNvPr id="4" name="Text 2"/>
          <p:cNvSpPr/>
          <p:nvPr/>
        </p:nvSpPr>
        <p:spPr>
          <a:xfrm>
            <a:off x="274320" y="137160"/>
            <a:ext cx="1005840" cy="329184"/>
          </a:xfrm>
          <a:prstGeom prst="rect">
            <a:avLst/>
          </a:prstGeom>
          <a:noFill/>
          <a:ln/>
        </p:spPr>
        <p:txBody>
          <a:bodyPr wrap="square" lIns="0" tIns="0" rIns="0" bIns="0" rtlCol="0" anchor="ctr"/>
          <a:lstStyle/>
          <a:p>
            <a:pPr algn="ctr" indent="0" marL="0">
              <a:buNone/>
            </a:pPr>
            <a:r>
              <a:rPr lang="en-US" sz="900" b="1" dirty="0">
                <a:solidFill>
                  <a:srgbClr val="FFFFFF"/>
                </a:solidFill>
              </a:rPr>
              <a:t>GDS 2</a:t>
            </a:r>
            <a:endParaRPr lang="en-US" sz="900" dirty="0"/>
          </a:p>
        </p:txBody>
      </p:sp>
      <p:sp>
        <p:nvSpPr>
          <p:cNvPr id="5" name="Text 3"/>
          <p:cNvSpPr/>
          <p:nvPr/>
        </p:nvSpPr>
        <p:spPr>
          <a:xfrm>
            <a:off x="1417320" y="128016"/>
            <a:ext cx="7498080" cy="384048"/>
          </a:xfrm>
          <a:prstGeom prst="rect">
            <a:avLst/>
          </a:prstGeom>
          <a:noFill/>
          <a:ln/>
        </p:spPr>
        <p:txBody>
          <a:bodyPr wrap="square" lIns="0" tIns="0" rIns="0" bIns="0" rtlCol="0" anchor="ctr"/>
          <a:lstStyle/>
          <a:p>
            <a:pPr indent="0" marL="0">
              <a:buNone/>
            </a:pPr>
            <a:r>
              <a:rPr lang="en-US" sz="1500" b="1" dirty="0">
                <a:solidFill>
                  <a:srgbClr val="FFFFFF"/>
                </a:solidFill>
              </a:rPr>
              <a:t>Louvain Community Detection — Supply Chain Clusters</a:t>
            </a:r>
            <a:endParaRPr lang="en-US" sz="1500" dirty="0"/>
          </a:p>
        </p:txBody>
      </p:sp>
      <p:sp>
        <p:nvSpPr>
          <p:cNvPr id="6" name="Shape 4"/>
          <p:cNvSpPr/>
          <p:nvPr/>
        </p:nvSpPr>
        <p:spPr>
          <a:xfrm>
            <a:off x="256032" y="768096"/>
            <a:ext cx="5120640" cy="274320"/>
          </a:xfrm>
          <a:prstGeom prst="rect">
            <a:avLst/>
          </a:prstGeom>
          <a:solidFill>
            <a:srgbClr val="00B894"/>
          </a:solidFill>
          <a:ln w="12700">
            <a:solidFill>
              <a:srgbClr val="00B894"/>
            </a:solidFill>
            <a:prstDash val="solid"/>
          </a:ln>
        </p:spPr>
      </p:sp>
      <p:sp>
        <p:nvSpPr>
          <p:cNvPr id="7" name="Text 5"/>
          <p:cNvSpPr/>
          <p:nvPr/>
        </p:nvSpPr>
        <p:spPr>
          <a:xfrm>
            <a:off x="329184" y="768096"/>
            <a:ext cx="4974336" cy="274320"/>
          </a:xfrm>
          <a:prstGeom prst="rect">
            <a:avLst/>
          </a:prstGeom>
          <a:noFill/>
          <a:ln/>
        </p:spPr>
        <p:txBody>
          <a:bodyPr wrap="square" lIns="0" tIns="0" rIns="0" bIns="0" rtlCol="0" anchor="ctr"/>
          <a:lstStyle/>
          <a:p>
            <a:pPr indent="0" marL="0">
              <a:buNone/>
            </a:pPr>
            <a:r>
              <a:rPr lang="en-US" sz="1000" b="1" dirty="0">
                <a:solidFill>
                  <a:srgbClr val="FFFFFF"/>
                </a:solidFill>
              </a:rPr>
              <a:t>Algorithm Theory</a:t>
            </a:r>
            <a:endParaRPr lang="en-US" sz="1000" dirty="0"/>
          </a:p>
        </p:txBody>
      </p:sp>
      <p:sp>
        <p:nvSpPr>
          <p:cNvPr id="8" name="Shape 6"/>
          <p:cNvSpPr/>
          <p:nvPr/>
        </p:nvSpPr>
        <p:spPr>
          <a:xfrm>
            <a:off x="256032" y="1042416"/>
            <a:ext cx="5120640" cy="2944368"/>
          </a:xfrm>
          <a:prstGeom prst="rect">
            <a:avLst/>
          </a:prstGeom>
          <a:solidFill>
            <a:srgbClr val="091A10"/>
          </a:solidFill>
          <a:ln w="12700">
            <a:solidFill>
              <a:srgbClr val="091A10"/>
            </a:solidFill>
            <a:prstDash val="solid"/>
          </a:ln>
        </p:spPr>
      </p:sp>
      <p:sp>
        <p:nvSpPr>
          <p:cNvPr id="9" name="Text 7"/>
          <p:cNvSpPr/>
          <p:nvPr/>
        </p:nvSpPr>
        <p:spPr>
          <a:xfrm>
            <a:off x="347472" y="1097280"/>
            <a:ext cx="4937760" cy="2834640"/>
          </a:xfrm>
          <a:prstGeom prst="rect">
            <a:avLst/>
          </a:prstGeom>
          <a:noFill/>
          <a:ln/>
        </p:spPr>
        <p:txBody>
          <a:bodyPr wrap="square" lIns="0" tIns="0" rIns="0" bIns="0" rtlCol="0" anchor="t"/>
          <a:lstStyle/>
          <a:p>
            <a:pPr indent="0" marL="0">
              <a:buNone/>
            </a:pPr>
            <a:r>
              <a:rPr lang="en-US" sz="950" dirty="0">
                <a:solidFill>
                  <a:srgbClr val="E2E8F0"/>
                </a:solidFill>
              </a:rPr>
              <a:t>Louvain is a hierarchical modularity optimisation algorithm by Blondel et al. (2008). It maximises the modularity function:</a:t>
            </a:r>
            <a:endParaRPr lang="en-US" sz="950" dirty="0"/>
          </a:p>
          <a:p>
            <a:pPr indent="0" marL="0">
              <a:buNone/>
            </a:pPr>
            <a:endParaRPr lang="en-US" sz="950" dirty="0"/>
          </a:p>
          <a:p>
            <a:pPr indent="0" marL="0">
              <a:buNone/>
            </a:pPr>
            <a:r>
              <a:rPr lang="en-US" sz="950" dirty="0">
                <a:solidFill>
                  <a:srgbClr val="E2E8F0"/>
                </a:solidFill>
              </a:rPr>
              <a:t>Q = (1/2m) × Σ[Aᵢⱼ − (kᵢkⱼ/2m)] × δ(cᵢ, cⱼ)</a:t>
            </a:r>
            <a:endParaRPr lang="en-US" sz="950" dirty="0"/>
          </a:p>
          <a:p>
            <a:pPr indent="0" marL="0">
              <a:buNone/>
            </a:pPr>
            <a:endParaRPr lang="en-US" sz="950" dirty="0"/>
          </a:p>
          <a:p>
            <a:pPr indent="0" marL="0">
              <a:buNone/>
            </a:pPr>
            <a:r>
              <a:rPr lang="en-US" sz="950" dirty="0">
                <a:solidFill>
                  <a:srgbClr val="E2E8F0"/>
                </a:solidFill>
              </a:rPr>
              <a:t>Where m = total edges, Aᵢⱼ = adjacency matrix, kᵢ/kⱼ = node degrees, δ = 1 if same community.</a:t>
            </a:r>
            <a:endParaRPr lang="en-US" sz="950" dirty="0"/>
          </a:p>
          <a:p>
            <a:pPr indent="0" marL="0">
              <a:buNone/>
            </a:pPr>
            <a:endParaRPr lang="en-US" sz="950" dirty="0"/>
          </a:p>
          <a:p>
            <a:pPr indent="0" marL="0">
              <a:buNone/>
            </a:pPr>
            <a:r>
              <a:rPr lang="en-US" sz="950" dirty="0">
                <a:solidFill>
                  <a:srgbClr val="E2E8F0"/>
                </a:solidFill>
              </a:rPr>
              <a:t>The algorithm runs in two phases: (1) assign each node to its best neighbour community, (2) aggregate communities into super-nodes and repeat. This produces a hierarchical partition revealing natural clusters in the graph.</a:t>
            </a:r>
            <a:endParaRPr lang="en-US" sz="950" dirty="0"/>
          </a:p>
        </p:txBody>
      </p:sp>
      <p:sp>
        <p:nvSpPr>
          <p:cNvPr id="10" name="Shape 8"/>
          <p:cNvSpPr/>
          <p:nvPr/>
        </p:nvSpPr>
        <p:spPr>
          <a:xfrm>
            <a:off x="5559552" y="768096"/>
            <a:ext cx="3328416" cy="274320"/>
          </a:xfrm>
          <a:prstGeom prst="rect">
            <a:avLst/>
          </a:prstGeom>
          <a:solidFill>
            <a:srgbClr val="00B894"/>
          </a:solidFill>
          <a:ln w="12700">
            <a:solidFill>
              <a:srgbClr val="00B894"/>
            </a:solidFill>
            <a:prstDash val="solid"/>
          </a:ln>
        </p:spPr>
      </p:sp>
      <p:sp>
        <p:nvSpPr>
          <p:cNvPr id="11" name="Text 9"/>
          <p:cNvSpPr/>
          <p:nvPr/>
        </p:nvSpPr>
        <p:spPr>
          <a:xfrm>
            <a:off x="5559552" y="768096"/>
            <a:ext cx="3328416" cy="274320"/>
          </a:xfrm>
          <a:prstGeom prst="rect">
            <a:avLst/>
          </a:prstGeom>
          <a:noFill/>
          <a:ln/>
        </p:spPr>
        <p:txBody>
          <a:bodyPr wrap="square" lIns="0" tIns="101600" rIns="0" bIns="0" rtlCol="0" anchor="ctr"/>
          <a:lstStyle/>
          <a:p>
            <a:pPr algn="l" indent="0" marL="0">
              <a:buNone/>
            </a:pPr>
            <a:r>
              <a:rPr lang="en-US" sz="1000" b="1" dirty="0">
                <a:solidFill>
                  <a:srgbClr val="FFFFFF"/>
                </a:solidFill>
              </a:rPr>
              <a:t>Key Results</a:t>
            </a:r>
            <a:endParaRPr lang="en-US" sz="1000" dirty="0"/>
          </a:p>
        </p:txBody>
      </p:sp>
      <p:sp>
        <p:nvSpPr>
          <p:cNvPr id="12" name="Shape 10"/>
          <p:cNvSpPr/>
          <p:nvPr/>
        </p:nvSpPr>
        <p:spPr>
          <a:xfrm>
            <a:off x="5559552" y="1042416"/>
            <a:ext cx="3328416" cy="2944368"/>
          </a:xfrm>
          <a:prstGeom prst="rect">
            <a:avLst/>
          </a:prstGeom>
          <a:solidFill>
            <a:srgbClr val="091A10"/>
          </a:solidFill>
          <a:ln w="12700">
            <a:solidFill>
              <a:srgbClr val="091A10"/>
            </a:solidFill>
            <a:prstDash val="solid"/>
          </a:ln>
        </p:spPr>
      </p:sp>
      <p:sp>
        <p:nvSpPr>
          <p:cNvPr id="13" name="Shape 11"/>
          <p:cNvSpPr/>
          <p:nvPr/>
        </p:nvSpPr>
        <p:spPr>
          <a:xfrm>
            <a:off x="5632704" y="1170432"/>
            <a:ext cx="118872" cy="118872"/>
          </a:xfrm>
          <a:prstGeom prst="ellipse">
            <a:avLst/>
          </a:prstGeom>
          <a:solidFill>
            <a:srgbClr val="00B894"/>
          </a:solidFill>
          <a:ln w="12700">
            <a:solidFill>
              <a:srgbClr val="00B894"/>
            </a:solidFill>
            <a:prstDash val="solid"/>
          </a:ln>
        </p:spPr>
      </p:sp>
      <p:sp>
        <p:nvSpPr>
          <p:cNvPr id="14" name="Text 12"/>
          <p:cNvSpPr/>
          <p:nvPr/>
        </p:nvSpPr>
        <p:spPr>
          <a:xfrm>
            <a:off x="5815584" y="1097280"/>
            <a:ext cx="2999232" cy="475488"/>
          </a:xfrm>
          <a:prstGeom prst="rect">
            <a:avLst/>
          </a:prstGeom>
          <a:noFill/>
          <a:ln/>
        </p:spPr>
        <p:txBody>
          <a:bodyPr wrap="square" lIns="0" tIns="0" rIns="0" bIns="0" rtlCol="0" anchor="t"/>
          <a:lstStyle/>
          <a:p>
            <a:pPr indent="0" marL="0">
              <a:buNone/>
            </a:pPr>
            <a:r>
              <a:rPr lang="en-US" sz="950" dirty="0">
                <a:solidFill>
                  <a:srgbClr val="E2E8F0"/>
                </a:solidFill>
              </a:rPr>
              <a:t>Largest communities: major product families — all engine-related products and their dedicated suppliers</a:t>
            </a:r>
            <a:endParaRPr lang="en-US" sz="950" dirty="0"/>
          </a:p>
        </p:txBody>
      </p:sp>
      <p:sp>
        <p:nvSpPr>
          <p:cNvPr id="15" name="Shape 13"/>
          <p:cNvSpPr/>
          <p:nvPr/>
        </p:nvSpPr>
        <p:spPr>
          <a:xfrm>
            <a:off x="5632704" y="1700784"/>
            <a:ext cx="118872" cy="118872"/>
          </a:xfrm>
          <a:prstGeom prst="ellipse">
            <a:avLst/>
          </a:prstGeom>
          <a:solidFill>
            <a:srgbClr val="00B894"/>
          </a:solidFill>
          <a:ln w="12700">
            <a:solidFill>
              <a:srgbClr val="00B894"/>
            </a:solidFill>
            <a:prstDash val="solid"/>
          </a:ln>
        </p:spPr>
      </p:sp>
      <p:sp>
        <p:nvSpPr>
          <p:cNvPr id="16" name="Text 14"/>
          <p:cNvSpPr/>
          <p:nvPr/>
        </p:nvSpPr>
        <p:spPr>
          <a:xfrm>
            <a:off x="5815584" y="1627632"/>
            <a:ext cx="2999232" cy="475488"/>
          </a:xfrm>
          <a:prstGeom prst="rect">
            <a:avLst/>
          </a:prstGeom>
          <a:noFill/>
          <a:ln/>
        </p:spPr>
        <p:txBody>
          <a:bodyPr wrap="square" lIns="0" tIns="0" rIns="0" bIns="0" rtlCol="0" anchor="t"/>
          <a:lstStyle/>
          <a:p>
            <a:pPr indent="0" marL="0">
              <a:buNone/>
            </a:pPr>
            <a:r>
              <a:rPr lang="en-US" sz="950" dirty="0">
                <a:solidFill>
                  <a:srgbClr val="E2E8F0"/>
                </a:solidFill>
              </a:rPr>
              <a:t>Mid-size communities: complete assembly chains — Tier-2 production → Tier-1 inventory → OEM → specific car models</a:t>
            </a:r>
            <a:endParaRPr lang="en-US" sz="950" dirty="0"/>
          </a:p>
        </p:txBody>
      </p:sp>
      <p:sp>
        <p:nvSpPr>
          <p:cNvPr id="17" name="Shape 15"/>
          <p:cNvSpPr/>
          <p:nvPr/>
        </p:nvSpPr>
        <p:spPr>
          <a:xfrm>
            <a:off x="5632704" y="2231136"/>
            <a:ext cx="118872" cy="118872"/>
          </a:xfrm>
          <a:prstGeom prst="ellipse">
            <a:avLst/>
          </a:prstGeom>
          <a:solidFill>
            <a:srgbClr val="00B894"/>
          </a:solidFill>
          <a:ln w="12700">
            <a:solidFill>
              <a:srgbClr val="00B894"/>
            </a:solidFill>
            <a:prstDash val="solid"/>
          </a:ln>
        </p:spPr>
      </p:sp>
      <p:sp>
        <p:nvSpPr>
          <p:cNvPr id="18" name="Text 16"/>
          <p:cNvSpPr/>
          <p:nvPr/>
        </p:nvSpPr>
        <p:spPr>
          <a:xfrm>
            <a:off x="5815584" y="2157984"/>
            <a:ext cx="2999232" cy="475488"/>
          </a:xfrm>
          <a:prstGeom prst="rect">
            <a:avLst/>
          </a:prstGeom>
          <a:noFill/>
          <a:ln/>
        </p:spPr>
        <p:txBody>
          <a:bodyPr wrap="square" lIns="0" tIns="0" rIns="0" bIns="0" rtlCol="0" anchor="t"/>
          <a:lstStyle/>
          <a:p>
            <a:pPr indent="0" marL="0">
              <a:buNone/>
            </a:pPr>
            <a:r>
              <a:rPr lang="en-US" sz="950" dirty="0">
                <a:solidFill>
                  <a:srgbClr val="E2E8F0"/>
                </a:solidFill>
              </a:rPr>
              <a:t>Small communities: specialised component systems — seat assemblies and battery systems with dedicated supplier networks</a:t>
            </a:r>
            <a:endParaRPr lang="en-US" sz="950" dirty="0"/>
          </a:p>
        </p:txBody>
      </p:sp>
      <p:sp>
        <p:nvSpPr>
          <p:cNvPr id="19" name="Shape 17"/>
          <p:cNvSpPr/>
          <p:nvPr/>
        </p:nvSpPr>
        <p:spPr>
          <a:xfrm>
            <a:off x="5632704" y="2761488"/>
            <a:ext cx="118872" cy="118872"/>
          </a:xfrm>
          <a:prstGeom prst="ellipse">
            <a:avLst/>
          </a:prstGeom>
          <a:solidFill>
            <a:srgbClr val="00B894"/>
          </a:solidFill>
          <a:ln w="12700">
            <a:solidFill>
              <a:srgbClr val="00B894"/>
            </a:solidFill>
            <a:prstDash val="solid"/>
          </a:ln>
        </p:spPr>
      </p:sp>
      <p:sp>
        <p:nvSpPr>
          <p:cNvPr id="20" name="Text 18"/>
          <p:cNvSpPr/>
          <p:nvPr/>
        </p:nvSpPr>
        <p:spPr>
          <a:xfrm>
            <a:off x="5815584" y="2688336"/>
            <a:ext cx="2999232" cy="475488"/>
          </a:xfrm>
          <a:prstGeom prst="rect">
            <a:avLst/>
          </a:prstGeom>
          <a:noFill/>
          <a:ln/>
        </p:spPr>
        <p:txBody>
          <a:bodyPr wrap="square" lIns="0" tIns="0" rIns="0" bIns="0" rtlCol="0" anchor="t"/>
          <a:lstStyle/>
          <a:p>
            <a:pPr indent="0" marL="0">
              <a:buNone/>
            </a:pPr>
            <a:r>
              <a:rPr lang="en-US" sz="950" dirty="0">
                <a:solidFill>
                  <a:srgbClr val="E2E8F0"/>
                </a:solidFill>
              </a:rPr>
              <a:t>Seat and battery communities are structurally isolated — disruption contained within community boundaries</a:t>
            </a:r>
            <a:endParaRPr lang="en-US" sz="950" dirty="0"/>
          </a:p>
        </p:txBody>
      </p:sp>
      <p:sp>
        <p:nvSpPr>
          <p:cNvPr id="21" name="Shape 19"/>
          <p:cNvSpPr/>
          <p:nvPr/>
        </p:nvSpPr>
        <p:spPr>
          <a:xfrm>
            <a:off x="256032" y="4041648"/>
            <a:ext cx="8631936" cy="237744"/>
          </a:xfrm>
          <a:prstGeom prst="rect">
            <a:avLst/>
          </a:prstGeom>
          <a:solidFill>
            <a:srgbClr val="091A10"/>
          </a:solidFill>
          <a:ln w="12700">
            <a:solidFill>
              <a:srgbClr val="00B894"/>
            </a:solidFill>
            <a:prstDash val="solid"/>
          </a:ln>
        </p:spPr>
      </p:sp>
      <p:sp>
        <p:nvSpPr>
          <p:cNvPr id="22" name="Text 20"/>
          <p:cNvSpPr/>
          <p:nvPr/>
        </p:nvSpPr>
        <p:spPr>
          <a:xfrm>
            <a:off x="347472" y="4041648"/>
            <a:ext cx="8412480" cy="237744"/>
          </a:xfrm>
          <a:prstGeom prst="rect">
            <a:avLst/>
          </a:prstGeom>
          <a:noFill/>
          <a:ln/>
        </p:spPr>
        <p:txBody>
          <a:bodyPr wrap="square" lIns="0" tIns="0" rIns="0" bIns="0" rtlCol="0" anchor="ctr"/>
          <a:lstStyle/>
          <a:p>
            <a:pPr indent="0" marL="0">
              <a:buNone/>
            </a:pPr>
            <a:r>
              <a:rPr lang="en-US" sz="900" b="1" dirty="0">
                <a:solidFill>
                  <a:srgbClr val="00B894"/>
                </a:solidFill>
              </a:rPr>
              <a:t>Story insight</a:t>
            </a:r>
            <a:endParaRPr lang="en-US" sz="900" dirty="0"/>
          </a:p>
        </p:txBody>
      </p:sp>
      <p:sp>
        <p:nvSpPr>
          <p:cNvPr id="23" name="Shape 21"/>
          <p:cNvSpPr/>
          <p:nvPr/>
        </p:nvSpPr>
        <p:spPr>
          <a:xfrm>
            <a:off x="256032" y="4279392"/>
            <a:ext cx="8631936" cy="621792"/>
          </a:xfrm>
          <a:prstGeom prst="rect">
            <a:avLst/>
          </a:prstGeom>
          <a:solidFill>
            <a:srgbClr val="060E0A"/>
          </a:solidFill>
          <a:ln w="12700">
            <a:solidFill>
              <a:srgbClr val="060E0A"/>
            </a:solidFill>
            <a:prstDash val="solid"/>
          </a:ln>
        </p:spPr>
      </p:sp>
      <p:sp>
        <p:nvSpPr>
          <p:cNvPr id="24" name="Text 22"/>
          <p:cNvSpPr/>
          <p:nvPr/>
        </p:nvSpPr>
        <p:spPr>
          <a:xfrm>
            <a:off x="347472" y="4297680"/>
            <a:ext cx="8412480" cy="585216"/>
          </a:xfrm>
          <a:prstGeom prst="rect">
            <a:avLst/>
          </a:prstGeom>
          <a:noFill/>
          <a:ln/>
        </p:spPr>
        <p:txBody>
          <a:bodyPr wrap="square" lIns="0" tIns="0" rIns="0" bIns="0" rtlCol="0" anchor="t"/>
          <a:lstStyle/>
          <a:p>
            <a:pPr indent="0" marL="0">
              <a:buNone/>
            </a:pPr>
            <a:r>
              <a:rPr lang="en-US" sz="950" dirty="0">
                <a:solidFill>
                  <a:srgbClr val="E2E8F0"/>
                </a:solidFill>
              </a:rPr>
              <a:t>Community detection reveals that the supply network has natural modular structure. The seat and battery systems form distinct communities with limited cross-connections — meaning disruption in those communities does not easily spill over, but the community itself has no internal redundancy. This validates the risk-adjusted priority ranking from AQ3.</a:t>
            </a:r>
            <a:endParaRPr lang="en-US" sz="950" dirty="0"/>
          </a:p>
        </p:txBody>
      </p:sp>
      <p:sp>
        <p:nvSpPr>
          <p:cNvPr id="25" name="Text 23"/>
          <p:cNvSpPr/>
          <p:nvPr/>
        </p:nvSpPr>
        <p:spPr>
          <a:xfrm>
            <a:off x="0" y="4983480"/>
            <a:ext cx="9144000" cy="164592"/>
          </a:xfrm>
          <a:prstGeom prst="rect">
            <a:avLst/>
          </a:prstGeom>
          <a:noFill/>
          <a:ln/>
        </p:spPr>
        <p:txBody>
          <a:bodyPr wrap="square" lIns="0" tIns="0" rIns="0" bIns="0" rtlCol="0" anchor="ctr"/>
          <a:lstStyle/>
          <a:p>
            <a:pPr algn="ctr" indent="0" marL="0">
              <a:buNone/>
            </a:pPr>
            <a:r>
              <a:rPr lang="en-US" sz="750" dirty="0">
                <a:solidFill>
                  <a:srgbClr val="94A3B8"/>
                </a:solidFill>
              </a:rPr>
              <a:t>Dataset: Moetz et al. (2020)  ·  Neo4j GDS  ·  Spring 2026 Capstone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5F"/>
          </a:solidFill>
          <a:ln w="12700">
            <a:solidFill>
              <a:srgbClr val="1E3A5F"/>
            </a:solidFill>
            <a:prstDash val="solid"/>
          </a:ln>
        </p:spPr>
      </p:sp>
      <p:sp>
        <p:nvSpPr>
          <p:cNvPr id="3" name="Text 1"/>
          <p:cNvSpPr/>
          <p:nvPr/>
        </p:nvSpPr>
        <p:spPr>
          <a:xfrm>
            <a:off x="274320" y="137160"/>
            <a:ext cx="1371600" cy="329184"/>
          </a:xfrm>
          <a:prstGeom prst="rect">
            <a:avLst/>
          </a:prstGeom>
          <a:noFill/>
          <a:ln/>
        </p:spPr>
        <p:txBody>
          <a:bodyPr wrap="square" lIns="0" tIns="0" rIns="0" bIns="0" rtlCol="0" anchor="ctr"/>
          <a:lstStyle/>
          <a:p>
            <a:pPr algn="ctr" indent="0" marL="0">
              <a:buNone/>
            </a:pPr>
            <a:r>
              <a:rPr lang="en-US" sz="900" b="1" dirty="0">
                <a:solidFill>
                  <a:srgbClr val="FFFFFF"/>
                </a:solidFill>
              </a:rPr>
              <a:t>CONCLUSIONS</a:t>
            </a:r>
            <a:endParaRPr lang="en-US" sz="900" dirty="0"/>
          </a:p>
        </p:txBody>
      </p:sp>
      <p:sp>
        <p:nvSpPr>
          <p:cNvPr id="4" name="Text 2"/>
          <p:cNvSpPr/>
          <p:nvPr/>
        </p:nvSpPr>
        <p:spPr>
          <a:xfrm>
            <a:off x="1783080" y="128016"/>
            <a:ext cx="7132320" cy="384048"/>
          </a:xfrm>
          <a:prstGeom prst="rect">
            <a:avLst/>
          </a:prstGeom>
          <a:noFill/>
          <a:ln/>
        </p:spPr>
        <p:txBody>
          <a:bodyPr wrap="square" lIns="0" tIns="0" rIns="0" bIns="0" rtlCol="0" anchor="ctr"/>
          <a:lstStyle/>
          <a:p>
            <a:pPr indent="0" marL="0">
              <a:buNone/>
            </a:pPr>
            <a:r>
              <a:rPr lang="en-US" sz="1600" b="1" dirty="0">
                <a:solidFill>
                  <a:srgbClr val="FFFFFF"/>
                </a:solidFill>
              </a:rPr>
              <a:t>What the Graph Told Us — Complete Picture</a:t>
            </a:r>
            <a:endParaRPr lang="en-US" sz="1600" dirty="0"/>
          </a:p>
        </p:txBody>
      </p:sp>
      <p:sp>
        <p:nvSpPr>
          <p:cNvPr id="5" name="Shape 3"/>
          <p:cNvSpPr/>
          <p:nvPr/>
        </p:nvSpPr>
        <p:spPr>
          <a:xfrm>
            <a:off x="256032" y="786384"/>
            <a:ext cx="4279392" cy="1261872"/>
          </a:xfrm>
          <a:prstGeom prst="rect">
            <a:avLst/>
          </a:prstGeom>
          <a:solidFill>
            <a:srgbClr val="111E30"/>
          </a:solidFill>
          <a:ln w="10160">
            <a:solidFill>
              <a:srgbClr val="5B8DB8"/>
            </a:solidFill>
            <a:prstDash val="solid"/>
          </a:ln>
        </p:spPr>
      </p:sp>
      <p:sp>
        <p:nvSpPr>
          <p:cNvPr id="6" name="Shape 4"/>
          <p:cNvSpPr/>
          <p:nvPr/>
        </p:nvSpPr>
        <p:spPr>
          <a:xfrm>
            <a:off x="256032" y="786384"/>
            <a:ext cx="566928" cy="1261872"/>
          </a:xfrm>
          <a:prstGeom prst="rect">
            <a:avLst/>
          </a:prstGeom>
          <a:solidFill>
            <a:srgbClr val="5B8DB8"/>
          </a:solidFill>
          <a:ln w="12700">
            <a:solidFill>
              <a:srgbClr val="5B8DB8"/>
            </a:solidFill>
            <a:prstDash val="solid"/>
          </a:ln>
        </p:spPr>
      </p:sp>
      <p:sp>
        <p:nvSpPr>
          <p:cNvPr id="7" name="Text 5"/>
          <p:cNvSpPr/>
          <p:nvPr/>
        </p:nvSpPr>
        <p:spPr>
          <a:xfrm>
            <a:off x="256032" y="786384"/>
            <a:ext cx="566928" cy="1261872"/>
          </a:xfrm>
          <a:prstGeom prst="rect">
            <a:avLst/>
          </a:prstGeom>
          <a:noFill/>
          <a:ln/>
        </p:spPr>
        <p:txBody>
          <a:bodyPr wrap="square" lIns="0" tIns="0" rIns="0" bIns="0" rtlCol="0" anchor="ctr"/>
          <a:lstStyle/>
          <a:p>
            <a:pPr algn="ctr" indent="0" marL="0">
              <a:buNone/>
            </a:pPr>
            <a:r>
              <a:rPr lang="en-US" sz="900" b="1" dirty="0">
                <a:solidFill>
                  <a:srgbClr val="FFFFFF"/>
                </a:solidFill>
              </a:rPr>
              <a:t>Ch.5</a:t>
            </a:r>
            <a:endParaRPr lang="en-US" sz="900" dirty="0"/>
          </a:p>
        </p:txBody>
      </p:sp>
      <p:sp>
        <p:nvSpPr>
          <p:cNvPr id="8" name="Text 6"/>
          <p:cNvSpPr/>
          <p:nvPr/>
        </p:nvSpPr>
        <p:spPr>
          <a:xfrm>
            <a:off x="896112" y="859536"/>
            <a:ext cx="3566160" cy="1115568"/>
          </a:xfrm>
          <a:prstGeom prst="rect">
            <a:avLst/>
          </a:prstGeom>
          <a:noFill/>
          <a:ln/>
        </p:spPr>
        <p:txBody>
          <a:bodyPr wrap="square" lIns="0" tIns="0" rIns="0" bIns="0" rtlCol="0" anchor="t"/>
          <a:lstStyle/>
          <a:p>
            <a:pPr indent="0" marL="0">
              <a:buNone/>
            </a:pPr>
            <a:r>
              <a:rPr lang="en-US" sz="850" dirty="0">
                <a:solidFill>
                  <a:srgbClr val="E2E8F0"/>
                </a:solidFill>
              </a:rPr>
              <a:t>Buffer Zone: Battery route capped at 294 units/week. ZP7 holds most opening stock. Seat and battery pipeline (56,000 + 35,860 units) locked in before week 1 — weeks 1–4 on autopilot.</a:t>
            </a:r>
            <a:endParaRPr lang="en-US" sz="850" dirty="0"/>
          </a:p>
        </p:txBody>
      </p:sp>
      <p:sp>
        <p:nvSpPr>
          <p:cNvPr id="9" name="Shape 7"/>
          <p:cNvSpPr/>
          <p:nvPr/>
        </p:nvSpPr>
        <p:spPr>
          <a:xfrm>
            <a:off x="256032" y="2121408"/>
            <a:ext cx="4279392" cy="1261872"/>
          </a:xfrm>
          <a:prstGeom prst="rect">
            <a:avLst/>
          </a:prstGeom>
          <a:solidFill>
            <a:srgbClr val="111E30"/>
          </a:solidFill>
          <a:ln w="10160">
            <a:solidFill>
              <a:srgbClr val="C0392B"/>
            </a:solidFill>
            <a:prstDash val="solid"/>
          </a:ln>
        </p:spPr>
      </p:sp>
      <p:sp>
        <p:nvSpPr>
          <p:cNvPr id="10" name="Shape 8"/>
          <p:cNvSpPr/>
          <p:nvPr/>
        </p:nvSpPr>
        <p:spPr>
          <a:xfrm>
            <a:off x="256032" y="2121408"/>
            <a:ext cx="566928" cy="1261872"/>
          </a:xfrm>
          <a:prstGeom prst="rect">
            <a:avLst/>
          </a:prstGeom>
          <a:solidFill>
            <a:srgbClr val="C0392B"/>
          </a:solidFill>
          <a:ln w="12700">
            <a:solidFill>
              <a:srgbClr val="C0392B"/>
            </a:solidFill>
            <a:prstDash val="solid"/>
          </a:ln>
        </p:spPr>
      </p:sp>
      <p:sp>
        <p:nvSpPr>
          <p:cNvPr id="11" name="Text 9"/>
          <p:cNvSpPr/>
          <p:nvPr/>
        </p:nvSpPr>
        <p:spPr>
          <a:xfrm>
            <a:off x="256032" y="2121408"/>
            <a:ext cx="566928" cy="1261872"/>
          </a:xfrm>
          <a:prstGeom prst="rect">
            <a:avLst/>
          </a:prstGeom>
          <a:noFill/>
          <a:ln/>
        </p:spPr>
        <p:txBody>
          <a:bodyPr wrap="square" lIns="0" tIns="0" rIns="0" bIns="0" rtlCol="0" anchor="ctr"/>
          <a:lstStyle/>
          <a:p>
            <a:pPr algn="ctr" indent="0" marL="0">
              <a:buNone/>
            </a:pPr>
            <a:r>
              <a:rPr lang="en-US" sz="900" b="1" dirty="0">
                <a:solidFill>
                  <a:srgbClr val="FFFFFF"/>
                </a:solidFill>
              </a:rPr>
              <a:t>Ch.6</a:t>
            </a:r>
            <a:endParaRPr lang="en-US" sz="900" dirty="0"/>
          </a:p>
        </p:txBody>
      </p:sp>
      <p:sp>
        <p:nvSpPr>
          <p:cNvPr id="12" name="Text 10"/>
          <p:cNvSpPr/>
          <p:nvPr/>
        </p:nvSpPr>
        <p:spPr>
          <a:xfrm>
            <a:off x="896112" y="2194560"/>
            <a:ext cx="3566160" cy="1115568"/>
          </a:xfrm>
          <a:prstGeom prst="rect">
            <a:avLst/>
          </a:prstGeom>
          <a:noFill/>
          <a:ln/>
        </p:spPr>
        <p:txBody>
          <a:bodyPr wrap="square" lIns="0" tIns="0" rIns="0" bIns="0" rtlCol="0" anchor="t"/>
          <a:lstStyle/>
          <a:p>
            <a:pPr indent="0" marL="0">
              <a:buNone/>
            </a:pPr>
            <a:r>
              <a:rPr lang="en-US" sz="850" dirty="0">
                <a:solidFill>
                  <a:srgbClr val="E2E8F0"/>
                </a:solidFill>
              </a:rPr>
              <a:t>Blast Radius: Seat sub-components affect 42.99% of fleet per component. Engine, gear and seat together affect 100% of all 28,000 car SKUs — fleet-wide existential risk.</a:t>
            </a:r>
            <a:endParaRPr lang="en-US" sz="850" dirty="0"/>
          </a:p>
        </p:txBody>
      </p:sp>
      <p:sp>
        <p:nvSpPr>
          <p:cNvPr id="13" name="Shape 11"/>
          <p:cNvSpPr/>
          <p:nvPr/>
        </p:nvSpPr>
        <p:spPr>
          <a:xfrm>
            <a:off x="256032" y="3456432"/>
            <a:ext cx="4279392" cy="1261872"/>
          </a:xfrm>
          <a:prstGeom prst="rect">
            <a:avLst/>
          </a:prstGeom>
          <a:solidFill>
            <a:srgbClr val="111E30"/>
          </a:solidFill>
          <a:ln w="10160">
            <a:solidFill>
              <a:srgbClr val="6C5CE7"/>
            </a:solidFill>
            <a:prstDash val="solid"/>
          </a:ln>
        </p:spPr>
      </p:sp>
      <p:sp>
        <p:nvSpPr>
          <p:cNvPr id="14" name="Shape 12"/>
          <p:cNvSpPr/>
          <p:nvPr/>
        </p:nvSpPr>
        <p:spPr>
          <a:xfrm>
            <a:off x="256032" y="3456432"/>
            <a:ext cx="566928" cy="1261872"/>
          </a:xfrm>
          <a:prstGeom prst="rect">
            <a:avLst/>
          </a:prstGeom>
          <a:solidFill>
            <a:srgbClr val="6C5CE7"/>
          </a:solidFill>
          <a:ln w="12700">
            <a:solidFill>
              <a:srgbClr val="6C5CE7"/>
            </a:solidFill>
            <a:prstDash val="solid"/>
          </a:ln>
        </p:spPr>
      </p:sp>
      <p:sp>
        <p:nvSpPr>
          <p:cNvPr id="15" name="Text 13"/>
          <p:cNvSpPr/>
          <p:nvPr/>
        </p:nvSpPr>
        <p:spPr>
          <a:xfrm>
            <a:off x="256032" y="3456432"/>
            <a:ext cx="566928" cy="1261872"/>
          </a:xfrm>
          <a:prstGeom prst="rect">
            <a:avLst/>
          </a:prstGeom>
          <a:noFill/>
          <a:ln/>
        </p:spPr>
        <p:txBody>
          <a:bodyPr wrap="square" lIns="0" tIns="0" rIns="0" bIns="0" rtlCol="0" anchor="ctr"/>
          <a:lstStyle/>
          <a:p>
            <a:pPr algn="ctr" indent="0" marL="0">
              <a:buNone/>
            </a:pPr>
            <a:r>
              <a:rPr lang="en-US" sz="900" b="1" dirty="0">
                <a:solidFill>
                  <a:srgbClr val="FFFFFF"/>
                </a:solidFill>
              </a:rPr>
              <a:t>AQ1</a:t>
            </a:r>
            <a:endParaRPr lang="en-US" sz="900" dirty="0"/>
          </a:p>
        </p:txBody>
      </p:sp>
      <p:sp>
        <p:nvSpPr>
          <p:cNvPr id="16" name="Text 14"/>
          <p:cNvSpPr/>
          <p:nvPr/>
        </p:nvSpPr>
        <p:spPr>
          <a:xfrm>
            <a:off x="896112" y="3529584"/>
            <a:ext cx="3566160" cy="1115568"/>
          </a:xfrm>
          <a:prstGeom prst="rect">
            <a:avLst/>
          </a:prstGeom>
          <a:noFill/>
          <a:ln/>
        </p:spPr>
        <p:txBody>
          <a:bodyPr wrap="square" lIns="0" tIns="0" rIns="0" bIns="0" rtlCol="0" anchor="t"/>
          <a:lstStyle/>
          <a:p>
            <a:pPr indent="0" marL="0">
              <a:buNone/>
            </a:pPr>
            <a:r>
              <a:rPr lang="en-US" sz="850" dirty="0">
                <a:solidFill>
                  <a:srgbClr val="E2E8F0"/>
                </a:solidFill>
              </a:rPr>
              <a:t>Component Concentration: seat and seat-component family dominates BOM hub rankings. componment_seat2 has 12,039 upstream products and 48,156 dependency paths — the largest hub.</a:t>
            </a:r>
            <a:endParaRPr lang="en-US" sz="850" dirty="0"/>
          </a:p>
        </p:txBody>
      </p:sp>
      <p:sp>
        <p:nvSpPr>
          <p:cNvPr id="17" name="Shape 15"/>
          <p:cNvSpPr/>
          <p:nvPr/>
        </p:nvSpPr>
        <p:spPr>
          <a:xfrm>
            <a:off x="4700016" y="786384"/>
            <a:ext cx="4279392" cy="1261872"/>
          </a:xfrm>
          <a:prstGeom prst="rect">
            <a:avLst/>
          </a:prstGeom>
          <a:solidFill>
            <a:srgbClr val="111E30"/>
          </a:solidFill>
          <a:ln w="10160">
            <a:solidFill>
              <a:srgbClr val="6C5CE7"/>
            </a:solidFill>
            <a:prstDash val="solid"/>
          </a:ln>
        </p:spPr>
      </p:sp>
      <p:sp>
        <p:nvSpPr>
          <p:cNvPr id="18" name="Shape 16"/>
          <p:cNvSpPr/>
          <p:nvPr/>
        </p:nvSpPr>
        <p:spPr>
          <a:xfrm>
            <a:off x="4700016" y="786384"/>
            <a:ext cx="566928" cy="1261872"/>
          </a:xfrm>
          <a:prstGeom prst="rect">
            <a:avLst/>
          </a:prstGeom>
          <a:solidFill>
            <a:srgbClr val="6C5CE7"/>
          </a:solidFill>
          <a:ln w="12700">
            <a:solidFill>
              <a:srgbClr val="6C5CE7"/>
            </a:solidFill>
            <a:prstDash val="solid"/>
          </a:ln>
        </p:spPr>
      </p:sp>
      <p:sp>
        <p:nvSpPr>
          <p:cNvPr id="19" name="Text 17"/>
          <p:cNvSpPr/>
          <p:nvPr/>
        </p:nvSpPr>
        <p:spPr>
          <a:xfrm>
            <a:off x="4700016" y="786384"/>
            <a:ext cx="566928" cy="1261872"/>
          </a:xfrm>
          <a:prstGeom prst="rect">
            <a:avLst/>
          </a:prstGeom>
          <a:noFill/>
          <a:ln/>
        </p:spPr>
        <p:txBody>
          <a:bodyPr wrap="square" lIns="0" tIns="0" rIns="0" bIns="0" rtlCol="0" anchor="ctr"/>
          <a:lstStyle/>
          <a:p>
            <a:pPr algn="ctr" indent="0" marL="0">
              <a:buNone/>
            </a:pPr>
            <a:r>
              <a:rPr lang="en-US" sz="900" b="1" dirty="0">
                <a:solidFill>
                  <a:srgbClr val="FFFFFF"/>
                </a:solidFill>
              </a:rPr>
              <a:t>AQ2</a:t>
            </a:r>
            <a:endParaRPr lang="en-US" sz="900" dirty="0"/>
          </a:p>
        </p:txBody>
      </p:sp>
      <p:sp>
        <p:nvSpPr>
          <p:cNvPr id="20" name="Text 18"/>
          <p:cNvSpPr/>
          <p:nvPr/>
        </p:nvSpPr>
        <p:spPr>
          <a:xfrm>
            <a:off x="5340096" y="859536"/>
            <a:ext cx="3566160" cy="1115568"/>
          </a:xfrm>
          <a:prstGeom prst="rect">
            <a:avLst/>
          </a:prstGeom>
          <a:noFill/>
          <a:ln/>
        </p:spPr>
        <p:txBody>
          <a:bodyPr wrap="square" lIns="0" tIns="0" rIns="0" bIns="0" rtlCol="0" anchor="t"/>
          <a:lstStyle/>
          <a:p>
            <a:pPr indent="0" marL="0">
              <a:buNone/>
            </a:pPr>
            <a:r>
              <a:rPr lang="en-US" sz="850" dirty="0">
                <a:solidFill>
                  <a:srgbClr val="E2E8F0"/>
                </a:solidFill>
              </a:rPr>
              <a:t>Arc Fragility: seat transit (23-week lead) and battery transit (20-week lead) are the most structurally fragile routes — confirmed by composite fragility score.</a:t>
            </a:r>
            <a:endParaRPr lang="en-US" sz="850" dirty="0"/>
          </a:p>
        </p:txBody>
      </p:sp>
      <p:sp>
        <p:nvSpPr>
          <p:cNvPr id="21" name="Shape 19"/>
          <p:cNvSpPr/>
          <p:nvPr/>
        </p:nvSpPr>
        <p:spPr>
          <a:xfrm>
            <a:off x="4700016" y="2121408"/>
            <a:ext cx="4279392" cy="1261872"/>
          </a:xfrm>
          <a:prstGeom prst="rect">
            <a:avLst/>
          </a:prstGeom>
          <a:solidFill>
            <a:srgbClr val="111E30"/>
          </a:solidFill>
          <a:ln w="10160">
            <a:solidFill>
              <a:srgbClr val="6C5CE7"/>
            </a:solidFill>
            <a:prstDash val="solid"/>
          </a:ln>
        </p:spPr>
      </p:sp>
      <p:sp>
        <p:nvSpPr>
          <p:cNvPr id="22" name="Shape 20"/>
          <p:cNvSpPr/>
          <p:nvPr/>
        </p:nvSpPr>
        <p:spPr>
          <a:xfrm>
            <a:off x="4700016" y="2121408"/>
            <a:ext cx="566928" cy="1261872"/>
          </a:xfrm>
          <a:prstGeom prst="rect">
            <a:avLst/>
          </a:prstGeom>
          <a:solidFill>
            <a:srgbClr val="6C5CE7"/>
          </a:solidFill>
          <a:ln w="12700">
            <a:solidFill>
              <a:srgbClr val="6C5CE7"/>
            </a:solidFill>
            <a:prstDash val="solid"/>
          </a:ln>
        </p:spPr>
      </p:sp>
      <p:sp>
        <p:nvSpPr>
          <p:cNvPr id="23" name="Text 21"/>
          <p:cNvSpPr/>
          <p:nvPr/>
        </p:nvSpPr>
        <p:spPr>
          <a:xfrm>
            <a:off x="4700016" y="2121408"/>
            <a:ext cx="566928" cy="1261872"/>
          </a:xfrm>
          <a:prstGeom prst="rect">
            <a:avLst/>
          </a:prstGeom>
          <a:noFill/>
          <a:ln/>
        </p:spPr>
        <p:txBody>
          <a:bodyPr wrap="square" lIns="0" tIns="0" rIns="0" bIns="0" rtlCol="0" anchor="ctr"/>
          <a:lstStyle/>
          <a:p>
            <a:pPr algn="ctr" indent="0" marL="0">
              <a:buNone/>
            </a:pPr>
            <a:r>
              <a:rPr lang="en-US" sz="900" b="1" dirty="0">
                <a:solidFill>
                  <a:srgbClr val="FFFFFF"/>
                </a:solidFill>
              </a:rPr>
              <a:t>AQ3</a:t>
            </a:r>
            <a:endParaRPr lang="en-US" sz="900" dirty="0"/>
          </a:p>
        </p:txBody>
      </p:sp>
      <p:sp>
        <p:nvSpPr>
          <p:cNvPr id="24" name="Text 22"/>
          <p:cNvSpPr/>
          <p:nvPr/>
        </p:nvSpPr>
        <p:spPr>
          <a:xfrm>
            <a:off x="5340096" y="2194560"/>
            <a:ext cx="3566160" cy="1115568"/>
          </a:xfrm>
          <a:prstGeom prst="rect">
            <a:avLst/>
          </a:prstGeom>
          <a:noFill/>
          <a:ln/>
        </p:spPr>
        <p:txBody>
          <a:bodyPr wrap="square" lIns="0" tIns="0" rIns="0" bIns="0" rtlCol="0" anchor="t"/>
          <a:lstStyle/>
          <a:p>
            <a:pPr indent="0" marL="0">
              <a:buNone/>
            </a:pPr>
            <a:r>
              <a:rPr lang="en-US" sz="850" dirty="0">
                <a:solidFill>
                  <a:srgbClr val="E2E8F0"/>
                </a:solidFill>
              </a:rPr>
              <a:t>Risk Priority: single-sourced seat sub-components + battery's 294-unit ceiling = highest mitigation priority. Supplier redundancy and route capacity must be addressed together.</a:t>
            </a:r>
            <a:endParaRPr lang="en-US" sz="850" dirty="0"/>
          </a:p>
        </p:txBody>
      </p:sp>
      <p:sp>
        <p:nvSpPr>
          <p:cNvPr id="25" name="Shape 23"/>
          <p:cNvSpPr/>
          <p:nvPr/>
        </p:nvSpPr>
        <p:spPr>
          <a:xfrm>
            <a:off x="4700016" y="3456432"/>
            <a:ext cx="4279392" cy="1261872"/>
          </a:xfrm>
          <a:prstGeom prst="rect">
            <a:avLst/>
          </a:prstGeom>
          <a:solidFill>
            <a:srgbClr val="111E30"/>
          </a:solidFill>
          <a:ln w="10160">
            <a:solidFill>
              <a:srgbClr val="00B894"/>
            </a:solidFill>
            <a:prstDash val="solid"/>
          </a:ln>
        </p:spPr>
      </p:sp>
      <p:sp>
        <p:nvSpPr>
          <p:cNvPr id="26" name="Shape 24"/>
          <p:cNvSpPr/>
          <p:nvPr/>
        </p:nvSpPr>
        <p:spPr>
          <a:xfrm>
            <a:off x="4700016" y="3456432"/>
            <a:ext cx="566928" cy="1261872"/>
          </a:xfrm>
          <a:prstGeom prst="rect">
            <a:avLst/>
          </a:prstGeom>
          <a:solidFill>
            <a:srgbClr val="00B894"/>
          </a:solidFill>
          <a:ln w="12700">
            <a:solidFill>
              <a:srgbClr val="00B894"/>
            </a:solidFill>
            <a:prstDash val="solid"/>
          </a:ln>
        </p:spPr>
      </p:sp>
      <p:sp>
        <p:nvSpPr>
          <p:cNvPr id="27" name="Text 25"/>
          <p:cNvSpPr/>
          <p:nvPr/>
        </p:nvSpPr>
        <p:spPr>
          <a:xfrm>
            <a:off x="4700016" y="3456432"/>
            <a:ext cx="566928" cy="1261872"/>
          </a:xfrm>
          <a:prstGeom prst="rect">
            <a:avLst/>
          </a:prstGeom>
          <a:noFill/>
          <a:ln/>
        </p:spPr>
        <p:txBody>
          <a:bodyPr wrap="square" lIns="0" tIns="0" rIns="0" bIns="0" rtlCol="0" anchor="ctr"/>
          <a:lstStyle/>
          <a:p>
            <a:pPr algn="ctr" indent="0" marL="0">
              <a:buNone/>
            </a:pPr>
            <a:r>
              <a:rPr lang="en-US" sz="900" b="1" dirty="0">
                <a:solidFill>
                  <a:srgbClr val="FFFFFF"/>
                </a:solidFill>
              </a:rPr>
              <a:t>GDS</a:t>
            </a:r>
            <a:endParaRPr lang="en-US" sz="900" dirty="0"/>
          </a:p>
        </p:txBody>
      </p:sp>
      <p:sp>
        <p:nvSpPr>
          <p:cNvPr id="28" name="Text 26"/>
          <p:cNvSpPr/>
          <p:nvPr/>
        </p:nvSpPr>
        <p:spPr>
          <a:xfrm>
            <a:off x="5340096" y="3529584"/>
            <a:ext cx="3566160" cy="1115568"/>
          </a:xfrm>
          <a:prstGeom prst="rect">
            <a:avLst/>
          </a:prstGeom>
          <a:noFill/>
          <a:ln/>
        </p:spPr>
        <p:txBody>
          <a:bodyPr wrap="square" lIns="0" tIns="0" rIns="0" bIns="0" rtlCol="0" anchor="t"/>
          <a:lstStyle/>
          <a:p>
            <a:pPr indent="0" marL="0">
              <a:buNone/>
            </a:pPr>
            <a:r>
              <a:rPr lang="en-US" sz="850" dirty="0">
                <a:solidFill>
                  <a:srgbClr val="E2E8F0"/>
                </a:solidFill>
              </a:rPr>
              <a:t>PageRank: engine-supplier_inv and gear-supplier_inv are the highest-influence nodes. Louvain: seat and battery form isolated communities — no internal redundancy, contained but fragile.</a:t>
            </a:r>
            <a:endParaRPr lang="en-US" sz="850" dirty="0"/>
          </a:p>
        </p:txBody>
      </p:sp>
      <p:sp>
        <p:nvSpPr>
          <p:cNvPr id="29" name="Shape 27"/>
          <p:cNvSpPr/>
          <p:nvPr/>
        </p:nvSpPr>
        <p:spPr>
          <a:xfrm>
            <a:off x="256032" y="4773168"/>
            <a:ext cx="8631936" cy="164592"/>
          </a:xfrm>
          <a:prstGeom prst="rect">
            <a:avLst/>
          </a:prstGeom>
          <a:solidFill>
            <a:srgbClr val="0D1B2A"/>
          </a:solidFill>
          <a:ln w="6350">
            <a:solidFill>
              <a:srgbClr val="F6AD55"/>
            </a:solidFill>
            <a:prstDash val="solid"/>
          </a:ln>
        </p:spPr>
      </p:sp>
      <p:sp>
        <p:nvSpPr>
          <p:cNvPr id="30" name="Text 28"/>
          <p:cNvSpPr/>
          <p:nvPr/>
        </p:nvSpPr>
        <p:spPr>
          <a:xfrm>
            <a:off x="347472" y="4773168"/>
            <a:ext cx="8412480" cy="164592"/>
          </a:xfrm>
          <a:prstGeom prst="rect">
            <a:avLst/>
          </a:prstGeom>
          <a:noFill/>
          <a:ln/>
        </p:spPr>
        <p:txBody>
          <a:bodyPr wrap="square" lIns="0" tIns="0" rIns="0" bIns="0" rtlCol="0" anchor="ctr"/>
          <a:lstStyle/>
          <a:p>
            <a:pPr indent="0" marL="0">
              <a:buNone/>
            </a:pPr>
            <a:r>
              <a:rPr lang="en-US" sz="750" i="1" dirty="0">
                <a:solidFill>
                  <a:srgbClr val="F6AD55"/>
                </a:solidFill>
              </a:rPr>
              <a:t>Next steps: Real-time disruption simulation · Supplier dual-sourcing modelling · Dynamic buffer optimisation</a:t>
            </a:r>
            <a:endParaRPr lang="en-US" sz="750" dirty="0"/>
          </a:p>
        </p:txBody>
      </p:sp>
      <p:sp>
        <p:nvSpPr>
          <p:cNvPr id="31" name="Text 29"/>
          <p:cNvSpPr/>
          <p:nvPr/>
        </p:nvSpPr>
        <p:spPr>
          <a:xfrm>
            <a:off x="0" y="4974336"/>
            <a:ext cx="9144000" cy="164592"/>
          </a:xfrm>
          <a:prstGeom prst="rect">
            <a:avLst/>
          </a:prstGeom>
          <a:noFill/>
          <a:ln/>
        </p:spPr>
        <p:txBody>
          <a:bodyPr wrap="square" lIns="0" tIns="0" rIns="0" bIns="0" rtlCol="0" anchor="ctr"/>
          <a:lstStyle/>
          <a:p>
            <a:pPr algn="ctr" indent="0" marL="0">
              <a:buNone/>
            </a:pPr>
            <a:r>
              <a:rPr lang="en-US" sz="700" dirty="0">
                <a:solidFill>
                  <a:srgbClr val="94A3B8"/>
                </a:solidFill>
              </a:rPr>
              <a:t>Dataset: Moetz et al. (2020)  ·  Neo4j GDS  ·  Spring 2026 Capstone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2026-04-22T18:37:50Z</dcterms:created>
  <dcterms:modified xsi:type="dcterms:W3CDTF">2026-04-22T18:37:50Z</dcterms:modified>
</cp:coreProperties>
</file>