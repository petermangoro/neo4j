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3" r:id="rId9"/>
    <p:sldId id="267" r:id="rId18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56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2648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2376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2104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9224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2376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8952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2104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9224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2376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8952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5528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2104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6072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9224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2376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58952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95528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2104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68680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7772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Supply Chain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365760" y="1536192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365760" y="2487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 modelling? What problem are we solving? How did we design the relationships?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5760" y="313182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7576" y="30723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Capstone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40508" y="3118104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40508" y="31028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Analysis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70468" y="311150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70468" y="31028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GDS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98225" y="3133344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12280" y="31318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Moetz et al. 2020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Motivation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435608"/>
            <a:ext cx="219456" cy="21945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" y="1389888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supply chains span dozens of tiers, thousands of SKUs, and hundreds of interdependent routes — managed today with spreadsheets that cannot capture these relationships.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19456" cy="21945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103120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exposed catastrophic blind spots: invisible bottlenecks and 20+ period lead times that couldn't be traced until assembly lines halted.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62072"/>
            <a:ext cx="219456" cy="21945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" y="2816352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table-based tools (Excel, SQL) answer "what" — but cannot answer "why did this break, how far did disruption travel, which path recovers fastest?"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219456" cy="21945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575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3529584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knowledge graph technology to answer those structural questions on a real 2020 automotive production network dataset.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0" y="868680"/>
            <a:ext cx="301752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97880" y="969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at a Glance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70448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28,049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70448" y="1847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SKUs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33488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87,059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33488" y="1847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rows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0448" y="24505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70448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nodes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33488" y="24505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33488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arcs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7044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870448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records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348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33488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periods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 We Are Solving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critical questions that spreadsheets cannot answer — but a graph can.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7764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4864" cy="16276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3350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7739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Nodes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1031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factories, warehouses, and distribution centres would, if disrupted, cascade failure across the entire network?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397764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54864" cy="16276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3350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19472" y="17739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Chain Depth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21031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finished vehicles depend on the deepest nested bill-of-materials chains, amplifying upstream supply risk?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397764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54864" cy="16276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1455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" y="3584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Logistics Arcs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" y="39136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routes combine critically high lead times (20–23 periods) with dangerously tight throughput capacity (294 units)?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72384"/>
            <a:ext cx="397764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072384"/>
            <a:ext cx="54864" cy="16276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31455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9472" y="3584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Propagation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39136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product demand at the end customer (ZP8) propagate backward through assembly and all supplier tiers?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Node Dependency Chain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supplier chains flow through transit → production → inventory, converging at ZP7 assembly then ZP8 distributor.</a:t>
            </a:r>
            <a:endParaRPr lang="en-US" sz="1150" dirty="0"/>
          </a:p>
        </p:txBody>
      </p:sp>
      <p:pic>
        <p:nvPicPr>
          <p:cNvPr id="4" name="Image 0" descr="/home/claude/supply_chain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60120"/>
            <a:ext cx="8631936" cy="3858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4663440"/>
            <a:ext cx="8631936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4690872"/>
            <a:ext cx="8321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streams must arrive at ZP7 simultaneously — if any one fails, assembly halts. These dependencies are invisible in a spreadsheet but become queryable graph relationships.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Choose Graph Modelling?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inherently relational — the data alone is not enough.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41648" cy="3547872"/>
          </a:xfrm>
          <a:prstGeom prst="rect">
            <a:avLst/>
          </a:prstGeom>
          <a:solidFill>
            <a:srgbClr val="1E3A5F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41648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88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Flat Tables (Excel / SQL)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647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53E3E"/>
                </a:solidFill>
              </a:rPr>
              <a:t>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176479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COUNT products and nodes — but not TRAVERSE them across tiers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44144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53E3E"/>
                </a:solidFill>
              </a:rPr>
              <a:t>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44144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with 87,059 rows needs 5+ JOINs to answer any depth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11810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53E3E"/>
                </a:solidFill>
              </a:rPr>
              <a:t>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3118104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and capacity live in separate sheets — combined risk is invisible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794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53E3E"/>
                </a:solidFill>
              </a:rPr>
              <a:t>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379476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questions (which cars break if battery-trans fails?) require custom code every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1728" y="1188720"/>
            <a:ext cx="4041648" cy="3547872"/>
          </a:xfrm>
          <a:prstGeom prst="rect">
            <a:avLst/>
          </a:prstGeom>
          <a:solidFill>
            <a:srgbClr val="1E3A5F"/>
          </a:solidFill>
          <a:ln w="1905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81728" y="1188720"/>
            <a:ext cx="4041648" cy="43891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91456" y="1188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Property Graph (Neo4j)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17647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A169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176479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edges make BOM depth a single variable-length path query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244144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A169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0" y="244144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SHIPS_TO carries leadTime — one traversal reveals end-to-end schedule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1456" y="311810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A169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3118104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CAPACITY_AT sits parallel to SHIPS_TO — bottleneck detection is native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3794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A169"/>
                </a:solidFill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20640" y="379476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disruption can be simulated by removing a node/edge and re-querying reachability in seconds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relationships ARE the analysis — without them, 12 nodes and 11 arcs are just a list.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 — Relationship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type maps directly to a business question we needed to answer.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24128"/>
          <a:ext cx="8375904" cy="3858768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 Answered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→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depth &amp; disruption blast-radius — which cars break if one component fails?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SHIPS_TO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logistics arc — carries leadTime to model end-to-end schedule delay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each facility to the SKUs it can output — enables capacity assignment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inventory per node/product/period — stockout risk detection before planning starts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Per-period arc throughput limit — bottleneck identification via utilisation ratios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PLANNED_FLOW_TO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volume vs capacity — detects which lanes are near saturation each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INITIAL_FLOW_TO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Pre-horizon pipeline stock (periods 39–60) — explains how demand is met early in the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HAS_DEMAND / AT_NODE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DemandFact 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market demand at ZP8 backwards through the graph to root exposure causes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Analytical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tools — same data, maximum insight.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41648" cy="3730752"/>
          </a:xfrm>
          <a:prstGeom prst="rect">
            <a:avLst/>
          </a:prstGeom>
          <a:solidFill>
            <a:srgbClr val="1E3A5F"/>
          </a:solidFill>
          <a:ln w="1905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41648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8872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NetworkX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264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on Raw Spreadsheet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" y="1792224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76479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12 Excel sheets into Pandas DataFrames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" y="2286000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25856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 degree &amp; betweenness centrality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" y="2779776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75234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BOM depth via variable-length traversal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" y="3273552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24612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lead times × capacity stress per arc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" y="3767328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73989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cross-table referential integrity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" y="4370832"/>
            <a:ext cx="3749040" cy="384048"/>
          </a:xfrm>
          <a:prstGeom prst="rect">
            <a:avLst/>
          </a:prstGeom>
          <a:solidFill>
            <a:srgbClr val="2C5282">
              <a:alpha val="30000"/>
            </a:srgbClr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437083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hypothesis generation before graph ingest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81728" y="1188720"/>
            <a:ext cx="4041648" cy="3730752"/>
          </a:xfrm>
          <a:prstGeom prst="rect">
            <a:avLst/>
          </a:prstGeom>
          <a:solidFill>
            <a:srgbClr val="1E3A5F"/>
          </a:solidFill>
          <a:ln w="1905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81728" y="1188720"/>
            <a:ext cx="4041648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91456" y="118872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Graph Data Science (GDS)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91456" y="14264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at Scale with Cypher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9744" y="1792224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65776" y="176479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CSV: nodes, products, BOM, arcs, demands (87K+ rows)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9744" y="2286000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65776" y="225856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analysis: graph coverage, integrity checks, BOM width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9744" y="2779776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65776" y="275234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Cypher: BOM depth ranking &amp; arc criticality scoring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9744" y="3273552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65776" y="324612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betweenness on SHIPS_TO topology projection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9744" y="3767328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65776" y="373989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score: demand × connectivity / inventory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9744" y="4370832"/>
            <a:ext cx="3749040" cy="384048"/>
          </a:xfrm>
          <a:prstGeom prst="rect">
            <a:avLst/>
          </a:prstGeom>
          <a:solidFill>
            <a:srgbClr val="38A169">
              <a:alpha val="30000"/>
            </a:srgbClr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82896" y="437083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repeatable, auditable graph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0000"/>
            <a:ext cx="822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</a:rPr>
              <a:t>System Architecture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70000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EE3F8"/>
                </a:solidFill>
                <a:latin typeface="Calibri" pitchFamily="34" charset="0"/>
              </a:rPr>
              <a:t>End-to-end data pipeline: raw spreadsheet to graph-powered intelligence</a:t>
            </a:r>
          </a:p>
        </p:txBody>
      </p:sp>
      <p:sp>
        <p:nvSpPr>
          <p:cNvPr id="10" name="S1Box"/>
          <p:cNvSpPr/>
          <p:nvPr/>
        </p:nvSpPr>
        <p:spPr>
          <a:xfrm>
            <a:off x="310000" y="1080000"/>
            <a:ext cx="1800000" cy="36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2C52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1Hdr"/>
          <p:cNvSpPr/>
          <p:nvPr/>
        </p:nvSpPr>
        <p:spPr>
          <a:xfrm>
            <a:off x="310000" y="1080000"/>
            <a:ext cx="1800000" cy="4000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1HdrTxt"/>
          <p:cNvSpPr/>
          <p:nvPr/>
        </p:nvSpPr>
        <p:spPr>
          <a:xfrm>
            <a:off x="320000" y="1085000"/>
            <a:ext cx="1780000" cy="390000"/>
          </a:xfrm>
          <a:prstGeom prst="rect">
            <a:avLst/>
          </a:prstGeom>
          <a:noFill/>
          <a:ln/>
        </p:spPr>
        <p:txBody>
          <a:bodyPr wrap="square" lIns="60960" tIns="0" rIns="6096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Raw Data</a:t>
            </a:r>
          </a:p>
        </p:txBody>
      </p:sp>
      <p:sp>
        <p:nvSpPr>
          <p:cNvPr id="13" name="S1Body"/>
          <p:cNvSpPr/>
          <p:nvPr/>
        </p:nvSpPr>
        <p:spPr>
          <a:xfrm>
            <a:off x="360000" y="1530000"/>
            <a:ext cx="1700000" cy="300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AC775"/>
                </a:solidFill>
                <a:latin typeface="Calibri" pitchFamily="34" charset="0"/>
              </a:rPr>
              <a:t>Moetz et al. 2020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.xlsb workbook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12 sheets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28K products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87K BOM rows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28K demand records</a:t>
            </a:r>
          </a:p>
        </p:txBody>
      </p:sp>
      <p:sp>
        <p:nvSpPr>
          <p:cNvPr id="20" name="Arr1"/>
          <p:cNvSpPr/>
          <p:nvPr/>
        </p:nvSpPr>
        <p:spPr>
          <a:xfrm>
            <a:off x="2160000" y="2580000"/>
            <a:ext cx="380000" cy="320000"/>
          </a:xfrm>
          <a:prstGeom prst="rightArrow">
            <a:avLst/>
          </a:prstGeom>
          <a:solidFill>
            <a:srgbClr val="4A90D9"/>
          </a:solidFill>
          <a:ln w="12700">
            <a:solidFill>
              <a:srgbClr val="4A90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S2Box"/>
          <p:cNvSpPr/>
          <p:nvPr/>
        </p:nvSpPr>
        <p:spPr>
          <a:xfrm>
            <a:off x="2590000" y="1080000"/>
            <a:ext cx="1800000" cy="36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2C52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2Hdr"/>
          <p:cNvSpPr/>
          <p:nvPr/>
        </p:nvSpPr>
        <p:spPr>
          <a:xfrm>
            <a:off x="2590000" y="1080000"/>
            <a:ext cx="1800000" cy="4000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S2HdrTxt"/>
          <p:cNvSpPr/>
          <p:nvPr/>
        </p:nvSpPr>
        <p:spPr>
          <a:xfrm>
            <a:off x="2600000" y="1085000"/>
            <a:ext cx="1780000" cy="390000"/>
          </a:xfrm>
          <a:prstGeom prst="rect">
            <a:avLst/>
          </a:prstGeom>
          <a:noFill/>
          <a:ln/>
        </p:spPr>
        <p:txBody>
          <a:bodyPr wrap="square" lIns="60960" tIns="0" rIns="6096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Python / Pandas</a:t>
            </a:r>
          </a:p>
        </p:txBody>
      </p:sp>
      <p:sp>
        <p:nvSpPr>
          <p:cNvPr id="33" name="S2Body"/>
          <p:cNvSpPr/>
          <p:nvPr/>
        </p:nvSpPr>
        <p:spPr>
          <a:xfrm>
            <a:off x="2640000" y="1530000"/>
            <a:ext cx="1700000" cy="300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AC775"/>
                </a:solidFill>
                <a:latin typeface="Calibri" pitchFamily="34" charset="0"/>
              </a:rPr>
              <a:t>Analysis Layer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pyxlsb + pandas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NetworkX digraph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BOM depth traversal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Centrality metrics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Arc stress scoring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Seaborn visualisation</a:t>
            </a:r>
          </a:p>
        </p:txBody>
      </p:sp>
      <p:sp>
        <p:nvSpPr>
          <p:cNvPr id="40" name="Arr2"/>
          <p:cNvSpPr/>
          <p:nvPr/>
        </p:nvSpPr>
        <p:spPr>
          <a:xfrm>
            <a:off x="4440000" y="2580000"/>
            <a:ext cx="380000" cy="320000"/>
          </a:xfrm>
          <a:prstGeom prst="rightArrow">
            <a:avLst/>
          </a:prstGeom>
          <a:solidFill>
            <a:srgbClr val="38A169"/>
          </a:solidFill>
          <a:ln w="12700">
            <a:solidFill>
              <a:srgbClr val="38A16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S3Box"/>
          <p:cNvSpPr/>
          <p:nvPr/>
        </p:nvSpPr>
        <p:spPr>
          <a:xfrm>
            <a:off x="4870000" y="1080000"/>
            <a:ext cx="1800000" cy="3600000"/>
          </a:xfrm>
          <a:prstGeom prst="rect">
            <a:avLst/>
          </a:prstGeom>
          <a:solidFill>
            <a:srgbClr val="1A3A28"/>
          </a:solidFill>
          <a:ln w="19050">
            <a:solidFill>
              <a:srgbClr val="38A16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S3Hdr"/>
          <p:cNvSpPr/>
          <p:nvPr/>
        </p:nvSpPr>
        <p:spPr>
          <a:xfrm>
            <a:off x="4870000" y="1080000"/>
            <a:ext cx="1800000" cy="4000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S3HdrTxt"/>
          <p:cNvSpPr/>
          <p:nvPr/>
        </p:nvSpPr>
        <p:spPr>
          <a:xfrm>
            <a:off x="4880000" y="1085000"/>
            <a:ext cx="1780000" cy="390000"/>
          </a:xfrm>
          <a:prstGeom prst="rect">
            <a:avLst/>
          </a:prstGeom>
          <a:noFill/>
          <a:ln/>
        </p:spPr>
        <p:txBody>
          <a:bodyPr wrap="square" lIns="60960" tIns="0" rIns="6096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Neo4j Graph DB</a:t>
            </a:r>
          </a:p>
        </p:txBody>
      </p:sp>
      <p:sp>
        <p:nvSpPr>
          <p:cNvPr id="53" name="S3Body"/>
          <p:cNvSpPr/>
          <p:nvPr/>
        </p:nvSpPr>
        <p:spPr>
          <a:xfrm>
            <a:off x="4920000" y="1530000"/>
            <a:ext cx="1700000" cy="300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AC775"/>
                </a:solidFill>
                <a:latin typeface="Calibri" pitchFamily="34" charset="0"/>
              </a:rPr>
              <a:t>Property Graph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LOAD CSV ingest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Cypher queries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8 relationship types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Bolt / local Desktop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BOM + logistics graph</a:t>
            </a:r>
          </a:p>
        </p:txBody>
      </p:sp>
      <p:sp>
        <p:nvSpPr>
          <p:cNvPr id="60" name="Arr3"/>
          <p:cNvSpPr/>
          <p:nvPr/>
        </p:nvSpPr>
        <p:spPr>
          <a:xfrm>
            <a:off x="6720000" y="2580000"/>
            <a:ext cx="380000" cy="320000"/>
          </a:xfrm>
          <a:prstGeom prst="rightArrow">
            <a:avLst/>
          </a:prstGeom>
          <a:solidFill>
            <a:srgbClr val="E6A817"/>
          </a:solidFill>
          <a:ln w="12700">
            <a:solidFill>
              <a:srgbClr val="E6A81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S4Box"/>
          <p:cNvSpPr/>
          <p:nvPr/>
        </p:nvSpPr>
        <p:spPr>
          <a:xfrm>
            <a:off x="7150000" y="1080000"/>
            <a:ext cx="1700000" cy="3600000"/>
          </a:xfrm>
          <a:prstGeom prst="rect">
            <a:avLst/>
          </a:prstGeom>
          <a:solidFill>
            <a:srgbClr val="3A2A0A"/>
          </a:solidFill>
          <a:ln w="19050">
            <a:solidFill>
              <a:srgbClr val="E6A81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S4Hdr"/>
          <p:cNvSpPr/>
          <p:nvPr/>
        </p:nvSpPr>
        <p:spPr>
          <a:xfrm>
            <a:off x="7150000" y="1080000"/>
            <a:ext cx="1700000" cy="4000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S4HdrTxt"/>
          <p:cNvSpPr/>
          <p:nvPr/>
        </p:nvSpPr>
        <p:spPr>
          <a:xfrm>
            <a:off x="7160000" y="1085000"/>
            <a:ext cx="1680000" cy="390000"/>
          </a:xfrm>
          <a:prstGeom prst="rect">
            <a:avLst/>
          </a:prstGeom>
          <a:noFill/>
          <a:ln/>
        </p:spPr>
        <p:txBody>
          <a:bodyPr wrap="square" lIns="60960" tIns="0" rIns="6096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</a:rPr>
              <a:t>GDS Output</a:t>
            </a:r>
          </a:p>
        </p:txBody>
      </p:sp>
      <p:sp>
        <p:nvSpPr>
          <p:cNvPr id="73" name="S4Body"/>
          <p:cNvSpPr/>
          <p:nvPr/>
        </p:nvSpPr>
        <p:spPr>
          <a:xfrm>
            <a:off x="7200000" y="1530000"/>
            <a:ext cx="1600000" cy="300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AC775"/>
                </a:solidFill>
                <a:latin typeface="Calibri" pitchFamily="34" charset="0"/>
              </a:rPr>
              <a:t>Insights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Betweenness scores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Bottleneck ranking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BOM depth scores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Arc risk scores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Demand propagation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EE3F8"/>
                </a:solidFill>
                <a:latin typeface="Calibri" pitchFamily="34" charset="0"/>
              </a:rPr>
              <a:t>Disruption simulation</a:t>
            </a:r>
          </a:p>
        </p:txBody>
      </p:sp>
      <p:sp>
        <p:nvSpPr>
          <p:cNvPr id="80" name="Footnote"/>
          <p:cNvSpPr/>
          <p:nvPr/>
        </p:nvSpPr>
        <p:spPr>
          <a:xfrm>
            <a:off x="310000" y="4780000"/>
            <a:ext cx="8524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</a:rPr>
              <a:t>Dataset: Moetz et al. (2020) · DOI 10.17632/pr3sdy5vp3.1  ·  Python / NetworkX / Neo4j GDS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0000"/>
            <a:ext cx="822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</a:rPr>
              <a:t>Assumptions &amp; Scope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70000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EE3F8"/>
                </a:solidFill>
                <a:latin typeface="Calibri" pitchFamily="34" charset="0"/>
              </a:rPr>
              <a:t>What this project includes, what it intentionally excludes, and why.</a:t>
            </a:r>
          </a:p>
        </p:txBody>
      </p:sp>
      <p:sp>
        <p:nvSpPr>
          <p:cNvPr id="10" name="ScopeBox"/>
          <p:cNvSpPr/>
          <p:nvPr/>
        </p:nvSpPr>
        <p:spPr>
          <a:xfrm>
            <a:off x="365760" y="1130000"/>
            <a:ext cx="3840000" cy="37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2C52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copeHdr"/>
          <p:cNvSpPr/>
          <p:nvPr/>
        </p:nvSpPr>
        <p:spPr>
          <a:xfrm>
            <a:off x="365760" y="1130000"/>
            <a:ext cx="3840000" cy="4000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copeHdrTxt"/>
          <p:cNvSpPr/>
          <p:nvPr/>
        </p:nvSpPr>
        <p:spPr>
          <a:xfrm>
            <a:off x="375760" y="1135000"/>
            <a:ext cx="3820000" cy="39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What is in scope</a:t>
            </a:r>
          </a:p>
        </p:txBody>
      </p:sp>
      <p:sp>
        <p:nvSpPr>
          <p:cNvPr id="13" name="ScopeBody"/>
          <p:cNvSpPr/>
          <p:nvPr/>
        </p:nvSpPr>
        <p:spPr>
          <a:xfrm>
            <a:off x="415760" y="1590000"/>
            <a:ext cx="3750000" cy="318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AE6B4"/>
                </a:solidFill>
                <a:latin typeface="Calibri" pitchFamily="34" charset="0"/>
              </a:rPr>
              <a:t>✓  Single OEM production network (Moetz et al. 2020)</a:t>
            </a:r>
          </a:p>
          <a:p>
            <a:endParaRPr lang="en-US" sz="1050"/>
          </a:p>
          <a:p>
            <a:pPr marL="0" indent="0">
              <a:buNone/>
            </a:pPr>
            <a:r>
              <a:rPr lang="en-US" sz="1050" dirty="0">
                <a:solidFill>
                  <a:srgbClr val="9AE6B4"/>
                </a:solidFill>
                <a:latin typeface="Calibri" pitchFamily="34" charset="0"/>
              </a:rPr>
              <a:t>✓  4 supplier chains, 12 nodes, 11 logistics arcs</a:t>
            </a:r>
          </a:p>
          <a:p>
            <a:endParaRPr lang="en-US" sz="1050"/>
          </a:p>
          <a:p>
            <a:pPr marL="0" indent="0">
              <a:buNone/>
            </a:pPr>
            <a:r>
              <a:rPr lang="en-US" sz="1050" dirty="0">
                <a:solidFill>
                  <a:srgbClr val="9AE6B4"/>
                </a:solidFill>
                <a:latin typeface="Calibri" pitchFamily="34" charset="0"/>
              </a:rPr>
              <a:t>✓  14 planning periods (structural analysis only)</a:t>
            </a:r>
          </a:p>
          <a:p>
            <a:endParaRPr lang="en-US" sz="1050"/>
          </a:p>
          <a:p>
            <a:pPr marL="0" indent="0">
              <a:buNone/>
            </a:pPr>
            <a:r>
              <a:rPr lang="en-US" sz="1050" dirty="0">
                <a:solidFill>
                  <a:srgbClr val="9AE6B4"/>
                </a:solidFill>
                <a:latin typeface="Calibri" pitchFamily="34" charset="0"/>
              </a:rPr>
              <a:t>✓  Graph structure, BOM depth, centrality, arc risk</a:t>
            </a:r>
          </a:p>
          <a:p>
            <a:endParaRPr lang="en-US" sz="1050"/>
          </a:p>
          <a:p>
            <a:pPr marL="0" indent="0">
              <a:buNone/>
            </a:pPr>
            <a:r>
              <a:rPr lang="en-US" sz="1050" dirty="0">
                <a:solidFill>
                  <a:srgbClr val="9AE6B4"/>
                </a:solidFill>
                <a:latin typeface="Calibri" pitchFamily="34" charset="0"/>
              </a:rPr>
              <a:t>✓  Python + Neo4j GDS dual-tool pipeline</a:t>
            </a:r>
          </a:p>
        </p:txBody>
      </p:sp>
      <p:sp>
        <p:nvSpPr>
          <p:cNvPr id="20" name="OutBox"/>
          <p:cNvSpPr/>
          <p:nvPr/>
        </p:nvSpPr>
        <p:spPr>
          <a:xfrm>
            <a:off x="4497840" y="1130000"/>
            <a:ext cx="3840000" cy="3700000"/>
          </a:xfrm>
          <a:prstGeom prst="rect">
            <a:avLst/>
          </a:prstGeom>
          <a:solidFill>
            <a:srgbClr val="2D1B1B"/>
          </a:solidFill>
          <a:ln w="19050">
            <a:solidFill>
              <a:srgbClr val="C5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OutHdr"/>
          <p:cNvSpPr/>
          <p:nvPr/>
        </p:nvSpPr>
        <p:spPr>
          <a:xfrm>
            <a:off x="4497840" y="1130000"/>
            <a:ext cx="3840000" cy="4000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OutHdrTxt"/>
          <p:cNvSpPr/>
          <p:nvPr/>
        </p:nvSpPr>
        <p:spPr>
          <a:xfrm>
            <a:off x="4507840" y="1135000"/>
            <a:ext cx="3820000" cy="39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What is out of scope</a:t>
            </a:r>
          </a:p>
        </p:txBody>
      </p:sp>
      <p:sp>
        <p:nvSpPr>
          <p:cNvPr id="23" name="OutBody"/>
          <p:cNvSpPr/>
          <p:nvPr/>
        </p:nvSpPr>
        <p:spPr>
          <a:xfrm>
            <a:off x="4547840" y="1590000"/>
            <a:ext cx="3750000" cy="318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EB2B2"/>
                </a:solidFill>
                <a:latin typeface="Calibri" pitchFamily="34" charset="0"/>
              </a:rPr>
              <a:t>✗  Cost data — no pricing or financial optimisation</a:t>
            </a:r>
          </a:p>
          <a:p>
            <a:endParaRPr lang="en-US" sz="1050"/>
          </a:p>
          <a:p>
            <a:pPr marL="0" indent="0">
              <a:buNone/>
            </a:pPr>
            <a:r>
              <a:rPr lang="en-US" sz="1050" dirty="0">
                <a:solidFill>
                  <a:srgbClr val="FEB2B2"/>
                </a:solidFill>
                <a:latin typeface="Calibri" pitchFamily="34" charset="0"/>
              </a:rPr>
              <a:t>✗  Supplier selection — one supplier per part type</a:t>
            </a:r>
          </a:p>
          <a:p>
            <a:endParaRPr lang="en-US" sz="1050"/>
          </a:p>
          <a:p>
            <a:pPr marL="0" indent="0">
              <a:buNone/>
            </a:pPr>
            <a:r>
              <a:rPr lang="en-US" sz="1050" dirty="0">
                <a:solidFill>
                  <a:srgbClr val="FEB2B2"/>
                </a:solidFill>
                <a:latin typeface="Calibri" pitchFamily="34" charset="0"/>
              </a:rPr>
              <a:t>✗  Alternate routing — no multi-plant delivery network</a:t>
            </a:r>
          </a:p>
          <a:p>
            <a:endParaRPr lang="en-US" sz="1050"/>
          </a:p>
          <a:p>
            <a:pPr marL="0" indent="0">
              <a:buNone/>
            </a:pPr>
            <a:r>
              <a:rPr lang="en-US" sz="1050" dirty="0">
                <a:solidFill>
                  <a:srgbClr val="FEB2B2"/>
                </a:solidFill>
                <a:latin typeface="Calibri" pitchFamily="34" charset="0"/>
              </a:rPr>
              <a:t>✗  Real-time data — static 2020 snapshot only</a:t>
            </a:r>
          </a:p>
          <a:p>
            <a:endParaRPr lang="en-US" sz="1050"/>
          </a:p>
          <a:p>
            <a:pPr marL="0" indent="0">
              <a:buNone/>
            </a:pPr>
            <a:r>
              <a:rPr lang="en-US" sz="1050" dirty="0">
                <a:solidFill>
                  <a:srgbClr val="FEB2B2"/>
                </a:solidFill>
                <a:latin typeface="Calibri" pitchFamily="34" charset="0"/>
              </a:rPr>
              <a:t>✗  Full mathematical optimisation solver</a:t>
            </a:r>
          </a:p>
        </p:txBody>
      </p:sp>
      <p:sp>
        <p:nvSpPr>
          <p:cNvPr id="30" name="Footnote"/>
          <p:cNvSpPr/>
          <p:nvPr/>
        </p:nvSpPr>
        <p:spPr>
          <a:xfrm>
            <a:off x="457200" y="4900000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</a:rPr>
              <a:t>Dataset: Moetz et al. (2020) · DOI 10.17632/pr3sdy5vp3.1  ·  Python / NetworkX / Neo4j GDS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4164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" cy="177393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57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Chain is the Hardest Bottleneck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463040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battery-supplier_prod outputs only 294 units/period — 7× lower than all other arcs (2,100). Its 20:1 assembly ratio means upstream demand is amplified 20× by any car demand change.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1728" y="1005840"/>
            <a:ext cx="404164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9B2C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81728" y="1005840"/>
            <a:ext cx="457200" cy="1773936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1005840"/>
            <a:ext cx="457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48656" y="109728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Transit Has the Longest Exposure Window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48656" y="1463040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seat-supplier_trans operates on a 23-period lead time — the longest in the network. Any disruption takes nearly two full planning cycles to correct, making it the most time-exposed node.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404164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6AD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457200" cy="1773936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962656"/>
            <a:ext cx="457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305409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ZP7 is a Single Point of Assembly Failure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419856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supplier streams converge at ZP7 (in-degree 4, out-degree 1). GDS betweenness analysis confirms it is the highest-centrality node — any failure here stops all finished-car output.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2962656"/>
            <a:ext cx="404164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81728" y="2962656"/>
            <a:ext cx="457200" cy="177393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81728" y="2962656"/>
            <a:ext cx="457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48656" y="305409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Demand Concentrates at One Node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48656" y="3419856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28,000 demand records flow exclusively to ZP8. Demand-side risk is entirely driven by product mix and timing — making upstream propagation through BOM chains the dominant risk mechanism.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Enables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spreadsheet data to actionable, graph-powered supply chain intelligence.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2984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17739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demand through BOM REQUIRES edges to compute exact component quantities needed per period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07008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55848" y="12984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55848" y="17739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over/under-stocked nodes using HOLDS relationships vs safety-stock thresholds in the graph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07008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36208" y="12984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36208" y="17739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Mitigation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betweenness pinpoints which arcs and nodes need capacity investment before disruption strikes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0906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" y="3566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Calibration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8953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safety stock levels that buffer against the 20–23 period transit delays on battery and seat chains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99232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55848" y="30906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55848" y="3566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Prioritisation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8953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suppliers by BOM dependency breadth — protect those whose failure collapses the most SKUs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99232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6208" y="30906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36208" y="3566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Simulation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8953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node/arc and re-query reachability to simulate and measure the blast radius of any failure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Moetz et al. (2020) · DOI 10.17632/pr3sdy5vp3.1  ·  Python / NetworkX / Neo4j GDS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in 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property graph — every node and relationship from the dataset rendered live.</a:t>
            </a:r>
            <a:endParaRPr lang="en-US" sz="1150" dirty="0"/>
          </a:p>
        </p:txBody>
      </p:sp>
      <p:pic>
        <p:nvPicPr>
          <p:cNvPr id="5" name="Image 0" descr="/home/claude/visuali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005840"/>
            <a:ext cx="28346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F6AD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89320" y="1005840"/>
            <a:ext cx="54864" cy="82296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44768" y="10515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Facilities &amp; Products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4768" y="131673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coloured circle is a real node: facilities (teal), products (pink), demand facts (purple)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89320" y="1965960"/>
            <a:ext cx="28346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89320" y="1965960"/>
            <a:ext cx="54864" cy="8229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44768" y="20116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= Relationships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22768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named relationship: SHIPS_TO, REQUIRES, HOLDS, HAS_DEMAND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926080"/>
            <a:ext cx="28346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89320" y="2926080"/>
            <a:ext cx="54864" cy="8229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44768" y="29718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visible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4768" y="323697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 cluster at centre is ZP7 + ZP8 where every supplier and demand record connects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886200"/>
            <a:ext cx="28346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BE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989320" y="3886200"/>
            <a:ext cx="54864" cy="822960"/>
          </a:xfrm>
          <a:prstGeom prst="rect">
            <a:avLst/>
          </a:prstGeom>
          <a:solidFill>
            <a:srgbClr val="BEE3F8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44768" y="3931920"/>
            <a:ext cx="2578608" cy="256032"/>
          </a:xfrm>
          <a:prstGeom prst="rect">
            <a:avLst/>
          </a:prstGeom>
          <a:noFill/>
          <a:ln>
            <a:solidFill>
              <a:srgbClr val="BEE3F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spreadsheets hide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44768" y="41970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87,059 BOM rows, 28,000 demand records, 12 nodes and 11 arcs — all queryable in one traversal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65760" y="49377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Moetz et al. (2020) · DOI 10.17632/pr3sdy5vp3.1  ·  Python / NetworkX / Neo4j GDS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1275</Words>
  <Application>Microsoft Office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Supply Chain Graph Analysis</dc:title>
  <dc:subject>PptxGenJS Presentation</dc:subject>
  <dc:creator>PptxGenJS</dc:creator>
  <cp:lastModifiedBy>Masheia Dzimba [student]</cp:lastModifiedBy>
  <cp:revision>2</cp:revision>
  <dcterms:created xsi:type="dcterms:W3CDTF">2026-04-16T10:19:21Z</dcterms:created>
  <dcterms:modified xsi:type="dcterms:W3CDTF">2026-04-16T10:34:33Z</dcterms:modified>
</cp:coreProperties>
</file>