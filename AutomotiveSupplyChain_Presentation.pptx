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648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3566160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895344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0" y="4224528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86800" y="4553712"/>
            <a:ext cx="50292" cy="50292"/>
          </a:xfrm>
          <a:prstGeom prst="ellipse">
            <a:avLst/>
          </a:prstGeom>
          <a:solidFill>
            <a:srgbClr val="BEE3F8">
              <a:alpha val="28000"/>
            </a:srgbClr>
          </a:solidFill>
          <a:ln w="12700">
            <a:solidFill>
              <a:srgbClr val="BEE3F8">
                <a:alpha val="2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7772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Supply Chain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365760" y="1536192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Analysis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365760" y="2487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graph modelling? What problem are we solving? How did we design the relationships?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65760" y="324612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246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Capstone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14600" y="324612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14600" y="3246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Analysis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324612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246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+ GDS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12280" y="324612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12280" y="3246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Moetz et al. 2020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·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Motivation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435608"/>
            <a:ext cx="219456" cy="219456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35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" y="1389888"/>
            <a:ext cx="4352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supply chains span dozens of tiers, thousands of SKUs, and hundreds of interdependent routes — managed today with spreadsheets that cannot capture these relationships.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19456" cy="219456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2103120"/>
            <a:ext cx="4352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exposed catastrophic blind spots: invisible bottlenecks and 20+ period lead times that couldn't be traced until assembly lines halted.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862072"/>
            <a:ext cx="219456" cy="219456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620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" y="2816352"/>
            <a:ext cx="4352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table-based tools (Excel, SQL) answer "what" — but cannot answer "why did this break, how far did disruption travel, which path recovers fastest?"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575304"/>
            <a:ext cx="219456" cy="219456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75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" y="3529584"/>
            <a:ext cx="4352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knowledge graph technology to answer those structural questions on a real 2020 automotive production network dataset.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60720" y="868680"/>
            <a:ext cx="3017520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97880" y="969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at a Glance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70448" y="1444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28,049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870448" y="1847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/ SKUs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33488" y="1444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87,059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33488" y="1847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rows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70448" y="24505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870448" y="2852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nodes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33488" y="24505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33488" y="2852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arcs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70448" y="3456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870448" y="3858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records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33488" y="3456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33488" y="3858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periods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 We Are Solving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critical questions that spreadsheets cannot answer — but a graph can.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977640" cy="1627632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61872"/>
            <a:ext cx="54864" cy="162763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350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17739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Nodes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1031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factories, warehouses, and distribution centres would, if disrupted, cascade failure across the entire network?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61872"/>
            <a:ext cx="3977640" cy="1627632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61872"/>
            <a:ext cx="54864" cy="162763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3350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19472" y="17739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Chain Depth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21031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finished vehicles depend on the deepest nested bill-of-materials chains, amplifying upstream supply risk?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3977640" cy="1627632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72384"/>
            <a:ext cx="54864" cy="162763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14553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" y="3584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Logistics Arcs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" y="39136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routes combine critically high lead times (20–23 periods) with dangerously tight throughput capacity (294 units)?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72384"/>
            <a:ext cx="3977640" cy="1627632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72384"/>
            <a:ext cx="54864" cy="162763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14553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19472" y="3584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Propagation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9472" y="39136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product demand at the end customer (ZP8) propagate backward through assembly and all supplier tiers?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Network Is Structured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reality drove every relationship we modelled.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106424"/>
            <a:ext cx="2011680" cy="256032"/>
          </a:xfrm>
          <a:prstGeom prst="rect">
            <a:avLst/>
          </a:prstGeom>
          <a:solidFill>
            <a:srgbClr val="EBF4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106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TIER 1  Raw / Transit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84048" y="2139696"/>
            <a:ext cx="2011680" cy="256032"/>
          </a:xfrm>
          <a:prstGeom prst="rect">
            <a:avLst/>
          </a:prstGeom>
          <a:solidFill>
            <a:srgbClr val="EBF4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1396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TIER 2  Production &amp; Inventory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3182112"/>
            <a:ext cx="2011680" cy="256032"/>
          </a:xfrm>
          <a:prstGeom prst="rect">
            <a:avLst/>
          </a:prstGeom>
          <a:solidFill>
            <a:srgbClr val="EBF4FF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</a:rPr>
              <a:t>TIER 3  Assembly &amp; Distribution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078992"/>
            <a:ext cx="1207008" cy="49377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078992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Battery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Transit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06040" y="159105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Lead 20p ⚠️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069080" y="1078992"/>
            <a:ext cx="1207008" cy="493776"/>
          </a:xfrm>
          <a:prstGeom prst="rect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69080" y="1078992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Transit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69080" y="159105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Lead 23p ⚠️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606040" y="2121408"/>
            <a:ext cx="1207008" cy="493776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6040" y="212140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Engine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Prod+Inv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06040" y="263347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Cap 2,100/p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069080" y="2121408"/>
            <a:ext cx="1207008" cy="493776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69080" y="212140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Prod+Inv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69080" y="263347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Cap 2,100/p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532120" y="2121408"/>
            <a:ext cx="1207008" cy="49377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32120" y="212140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Battery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Prod+Inv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32120" y="263347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Cap 294/p ⚠️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995160" y="2121408"/>
            <a:ext cx="1207008" cy="493776"/>
          </a:xfrm>
          <a:prstGeom prst="rect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5160" y="212140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Prod+Inv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95160" y="263347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Cap 14,700/p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297680" y="3163824"/>
            <a:ext cx="1207008" cy="493776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97680" y="3163824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ZP7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Assembly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297680" y="367588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Converge point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675120" y="3163824"/>
            <a:ext cx="1207008" cy="493776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75120" y="3163824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ZP8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Distributor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675120" y="367588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All 28K demand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9544" y="1572768"/>
            <a:ext cx="0" cy="548640"/>
          </a:xfrm>
          <a:prstGeom prst="line">
            <a:avLst/>
          </a:prstGeom>
          <a:noFill/>
          <a:ln w="15240">
            <a:solidFill>
              <a:srgbClr val="718096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4672584" y="1572768"/>
            <a:ext cx="1463040" cy="548640"/>
          </a:xfrm>
          <a:prstGeom prst="line">
            <a:avLst/>
          </a:prstGeom>
          <a:noFill/>
          <a:ln w="15240">
            <a:solidFill>
              <a:srgbClr val="718096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3209544" y="2615184"/>
            <a:ext cx="1691640" cy="548640"/>
          </a:xfrm>
          <a:prstGeom prst="line">
            <a:avLst/>
          </a:prstGeom>
          <a:noFill/>
          <a:ln w="15240">
            <a:solidFill>
              <a:srgbClr val="718096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4672584" y="2615184"/>
            <a:ext cx="356616" cy="548640"/>
          </a:xfrm>
          <a:prstGeom prst="line">
            <a:avLst/>
          </a:prstGeom>
          <a:noFill/>
          <a:ln w="15240">
            <a:solidFill>
              <a:srgbClr val="718096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6135624" y="2615184"/>
            <a:ext cx="-905256" cy="548640"/>
          </a:xfrm>
          <a:prstGeom prst="line">
            <a:avLst/>
          </a:prstGeom>
          <a:noFill/>
          <a:ln w="15240">
            <a:solidFill>
              <a:srgbClr val="718096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7598664" y="2615184"/>
            <a:ext cx="-2093976" cy="548640"/>
          </a:xfrm>
          <a:prstGeom prst="line">
            <a:avLst/>
          </a:prstGeom>
          <a:noFill/>
          <a:ln w="15240">
            <a:solidFill>
              <a:srgbClr val="718096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5504688" y="3410712"/>
            <a:ext cx="1170432" cy="0"/>
          </a:xfrm>
          <a:prstGeom prst="line">
            <a:avLst/>
          </a:prstGeom>
          <a:noFill/>
          <a:ln w="15240">
            <a:solidFill>
              <a:srgbClr val="718096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384048" y="4114800"/>
            <a:ext cx="8375904" cy="7863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169664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supplier streams must arrive at ZP7 simultaneously. If any one stream fails, assembly halts completely. These dependencies are invisible in a spreadsheet — they only become queryable as graph relationships.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We Choose Graph Modelling?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inherently relational — the data alone is not enough.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41648" cy="3547872"/>
          </a:xfrm>
          <a:prstGeom prst="rect">
            <a:avLst/>
          </a:prstGeom>
          <a:solidFill>
            <a:srgbClr val="1E3A5F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41648" cy="43891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88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Flat Tables (Excel / SQL)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76479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E3E"/>
                </a:solidFill>
              </a:rPr>
              <a:t>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1764792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COUNT products and nodes — but not TRAVERSE them across tiers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44144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E3E"/>
                </a:solidFill>
              </a:rPr>
              <a:t>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441448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with 87,059 rows needs 5+ JOINs to answer any depth question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11810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E3E"/>
                </a:solidFill>
              </a:rPr>
              <a:t>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" y="3118104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and capacity live in separate sheets — combined risk is invisible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7947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E3E"/>
                </a:solidFill>
              </a:rPr>
              <a:t>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" y="3794760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questions (which cars break if battery-trans fails?) require custom code every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81728" y="1188720"/>
            <a:ext cx="4041648" cy="3547872"/>
          </a:xfrm>
          <a:prstGeom prst="rect">
            <a:avLst/>
          </a:prstGeom>
          <a:solidFill>
            <a:srgbClr val="1E3A5F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1728" y="1188720"/>
            <a:ext cx="4041648" cy="43891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188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Property Graph (Neo4j)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1456" y="176479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A169"/>
                </a:solidFill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20640" y="1764792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edges make BOM depth a single variable-length path query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91456" y="2441448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A169"/>
                </a:solidFill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20640" y="2441448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SHIPS_TO carries leadTime — one traversal reveals end-to-end schedule risk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91456" y="3118104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A169"/>
                </a:solidFill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20640" y="3118104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CAPACITY_AT sits parallel to SHIPS_TO — bottleneck detection is native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91456" y="37947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A169"/>
                </a:solidFill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20640" y="3794760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disruption can be simulated by removing a node/edge and re-querying reachability in seconds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188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relationships ARE the analysis — without them, 12 nodes and 11 arcs are just a list.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 — Relationship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relationship type maps directly to a business question we needed to answer.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24128"/>
          <a:ext cx="8375904" cy="3858768"/>
        </p:xfrm>
        <a:graphic>
          <a:graphicData uri="http://schemas.openxmlformats.org/drawingml/2006/table">
            <a:tbl>
              <a:tblPr/>
              <a:tblGrid>
                <a:gridCol w="1874520"/>
                <a:gridCol w="1600200"/>
                <a:gridCol w="4901184"/>
              </a:tblGrid>
              <a:tr h="428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 Answered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28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→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depth &amp; disruption blast-radius — which cars break if one component fails?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28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SHIPS_TO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→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logistics arc — carries leadTime to model end-to-end schedule delay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8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→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each facility to the SKUs it can output — enables capacity assignment queries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28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→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inventory per node/product/period — stockout risk detection before planning starts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8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CAPACITY_AT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→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Per-period arc throughput limit — bottleneck identification via utilisation ratios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28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PLANNED_FLOW_TO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→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volume vs capacity — detects which lanes are near saturation each period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8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INITIAL_FLOW_TO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→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Pre-horizon pipeline stock (periods 39–60) — explains how demand is met early in the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28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HAS_DEMAND / AT_NODE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DemandFact 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market demand at ZP8 backwards through the graph to root exposure causes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Analytical Approach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tools — same data, maximum insight.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41648" cy="3730752"/>
          </a:xfrm>
          <a:prstGeom prst="rect">
            <a:avLst/>
          </a:prstGeom>
          <a:solidFill>
            <a:srgbClr val="1E3A5F"/>
          </a:solidFill>
          <a:ln w="19050">
            <a:solidFill>
              <a:srgbClr val="2C52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41648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8872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NetworkX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42646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on Raw Spreadsheet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3776" y="1792224"/>
            <a:ext cx="182880" cy="18288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6479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12 Excel sheets into Pandas DataFrames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" y="2286000"/>
            <a:ext cx="182880" cy="18288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25856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node degree &amp; betweenness centrality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" y="2779776"/>
            <a:ext cx="182880" cy="18288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75234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BOM depth via variable-length traversal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" y="3273552"/>
            <a:ext cx="182880" cy="18288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24612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lead times × capacity stress per arc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" y="3767328"/>
            <a:ext cx="182880" cy="182880"/>
          </a:xfrm>
          <a:prstGeom prst="ellipse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73989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cross-table referential integrity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3776" y="4370832"/>
            <a:ext cx="3749040" cy="384048"/>
          </a:xfrm>
          <a:prstGeom prst="rect">
            <a:avLst/>
          </a:prstGeom>
          <a:solidFill>
            <a:srgbClr val="2C5282">
              <a:alpha val="30000"/>
            </a:srgbClr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37083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hypothesis generation before graph ingest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81728" y="1188720"/>
            <a:ext cx="4041648" cy="3730752"/>
          </a:xfrm>
          <a:prstGeom prst="rect">
            <a:avLst/>
          </a:prstGeom>
          <a:solidFill>
            <a:srgbClr val="1E3A5F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1188720"/>
            <a:ext cx="4041648" cy="4572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118872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+ Graph Data Science (GDS)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91456" y="1426464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Graph at Scale with Cypher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9744" y="1792224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65776" y="176479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CSV: nodes, products, BOM, arcs, demands (87K+ rows)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9744" y="2286000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65776" y="225856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analysis: graph coverage, integrity checks, BOM width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9744" y="2779776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275234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Cypher: BOM depth ranking &amp; arc criticality scoring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9744" y="3273552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65776" y="324612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betweenness on SHIPS_TO topology projection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9744" y="3767328"/>
            <a:ext cx="182880" cy="1828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65776" y="373989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score: demand × connectivity / inventory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9744" y="4370832"/>
            <a:ext cx="3749040" cy="384048"/>
          </a:xfrm>
          <a:prstGeom prst="rect">
            <a:avLst/>
          </a:prstGeom>
          <a:solidFill>
            <a:srgbClr val="38A169">
              <a:alpha val="30000"/>
            </a:srgbClr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82896" y="437083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repeatable, auditable graph intelligence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Analysis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4164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457200" cy="177393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572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1097280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Chain is the Hardest Bottleneck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463040"/>
            <a:ext cx="3346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battery-supplier_prod outputs only 294 units/period — 7× lower than all other arcs (2,100). Its 20:1 assembly ratio means upstream demand is amplified 20× by any car demand change.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81728" y="1005840"/>
            <a:ext cx="404164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9B2C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1728" y="1005840"/>
            <a:ext cx="457200" cy="1773936"/>
          </a:xfrm>
          <a:prstGeom prst="rect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005840"/>
            <a:ext cx="4572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48656" y="1097280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Transit Has the Longest Exposure Window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48656" y="1463040"/>
            <a:ext cx="3346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seat-supplier_trans operates on a 23-period lead time — the longest in the network. Any disruption takes nearly two full planning cycles to correct, making it the most time-exposed node.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62656"/>
            <a:ext cx="404164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F6AD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62656"/>
            <a:ext cx="457200" cy="1773936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62656"/>
            <a:ext cx="4572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2688" y="305409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ZP7 is a Single Point of Assembly Failure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419856"/>
            <a:ext cx="3346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supplier streams converge at ZP7 (in-degree 4, out-degree 1). GDS betweenness analysis confirms it is the highest-centrality node — any failure here stops all finished-car output.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81728" y="2962656"/>
            <a:ext cx="404164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2962656"/>
            <a:ext cx="457200" cy="1773936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2962656"/>
            <a:ext cx="4572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48656" y="305409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Demand Concentrates at One Node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48656" y="3419856"/>
            <a:ext cx="3346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28,000 demand records flow exclusively to ZP8. Demand-side risk is entirely driven by product mix and timing — making upstream propagation through BOM chains the dominant risk mechanism.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Enables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spreadsheet data to actionable, graph-powered supply chain intelligence.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2697480" cy="1609344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29844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" y="17739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2103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demand through BOM REQUIRES edges to compute exact component quantities needed per period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207008"/>
            <a:ext cx="2697480" cy="1609344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129844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55848" y="17739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2103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over/under-stocked nodes using HOLDS relationships vs safety-stock thresholds in the graph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07008"/>
            <a:ext cx="2697480" cy="1609344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6208" y="129844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36208" y="17739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Mitigation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6208" y="2103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betweenness pinpoints which arcs and nodes need capacity investment before disruption strikes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2697480" cy="1609344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09067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" y="35661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Calibration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89534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safety stock levels that buffer against the 20–23 period transit delays on battery and seat chains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999232"/>
            <a:ext cx="2697480" cy="1609344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55848" y="309067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55848" y="35661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Prioritisation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5848" y="389534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suppliers by BOM dependency breadth — protect those whose failure collapses the most SKUs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99232"/>
            <a:ext cx="2697480" cy="1609344"/>
          </a:xfrm>
          <a:prstGeom prst="rect">
            <a:avLst/>
          </a:prstGeom>
          <a:solidFill>
            <a:srgbClr val="1E3A5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36208" y="309067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36208" y="35661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Simulation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36208" y="389534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any node/arc and re-query reachability to simulate and measure the blast radius of any failure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Moetz et al. (2020) · DOI 10.17632/pr3sdy5vp3.1  ·  Python / NetworkX / Neo4j GDS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Supply Chain Graph Analysis</dc:title>
  <dc:subject>PptxGenJS Presentation</dc:subject>
  <dc:creator>PptxGenJS</dc:creator>
  <cp:lastModifiedBy>PptxGenJS</cp:lastModifiedBy>
  <cp:revision>1</cp:revision>
  <dcterms:created xsi:type="dcterms:W3CDTF">2026-04-16T01:09:46Z</dcterms:created>
  <dcterms:modified xsi:type="dcterms:W3CDTF">2026-04-16T01:09:46Z</dcterms:modified>
</cp:coreProperties>
</file>